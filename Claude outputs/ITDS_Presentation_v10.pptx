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302" r:id="rId3"/>
    <p:sldId id="258" r:id="rId4"/>
    <p:sldId id="259" r:id="rId5"/>
    <p:sldId id="260" r:id="rId6"/>
    <p:sldId id="261" r:id="rId7"/>
    <p:sldId id="263" r:id="rId8"/>
    <p:sldId id="264" r:id="rId9"/>
    <p:sldId id="268" r:id="rId15"/>
    <p:sldId id="269" r:id="rId16"/>
    <p:sldId id="272" r:id="rId17"/>
    <p:sldId id="293" r:id="rId18"/>
    <p:sldId id="303" r:id="rId19"/>
    <p:sldId id="275" r:id="rId20"/>
    <p:sldId id="277" r:id="rId21"/>
    <p:sldId id="300" r:id="rId22"/>
    <p:sldId id="301" r:id="rId23"/>
    <p:sldId id="279" r:id="rId24"/>
    <p:sldId id="281" r:id="rId25"/>
    <p:sldId id="284" r:id="rId26"/>
    <p:sldId id="283" r:id="rId27"/>
    <p:sldId id="285" r:id="rId28"/>
    <p:sldId id="286" r:id="rId29"/>
    <p:sldId id="288" r:id="rId30"/>
    <p:sldId id="289" r:id="rId31"/>
    <p:sldId id="290" r:id="rId32"/>
    <p:sldId id="291" r:id="rId33"/>
    <p:sldId id="292" r:id="rId34"/>
    <p:sldId id="304" r:id="rId40"/>
    <p:sldId id="298" r:id="rId10"/>
    <p:sldId id="299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  <Relationship Id="rId40" Type="http://schemas.openxmlformats.org/officeDocument/2006/relationships/slide" Target="slides/slide3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53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F9A8-C18E-D810-E172-76014306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A72F5-51FA-3DA0-BFC8-EB2EBDE32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5CF89-98D3-4905-BE8D-551182A52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A2A13-0C5F-95AE-545D-848085452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651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B5BBE-4854-DF04-3E12-A010A01DD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EAE2F-8783-36C2-B35C-EFA9636A6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95DBD-4307-1CCD-E4BB-393157FC1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F6E56-D842-E71C-74A3-CA185930E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300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C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400" b="1" kern="0" spc="300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สหกิจศึกษา </a:t>
            </a:r>
            <a:r>
              <a:rPr lang="th-TH" b="1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• </a:t>
            </a:r>
            <a:r>
              <a:rPr lang="en-US" b="1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ENGINEERING CO-OP Project</a:t>
            </a:r>
            <a:endParaRPr lang="en-US" sz="1400" b="1" dirty="0">
              <a:solidFill>
                <a:srgbClr val="F2A93B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 err="1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ระบบสร้างข้อมูลทดสอบอัจฉริยะสำหรับงานพัฒนาและทดสอบซอฟต์แวร์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1750">
            <a:solidFill>
              <a:srgbClr val="1F8A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บริษัท ไทยสมุทรประกันชีวิต จำกัด (มหาชน)</a:t>
            </a:r>
            <a:endParaRPr lang="en-US" sz="1300" dirty="0">
              <a:solidFill>
                <a:schemeClr val="bg1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E676712-F51D-99E0-F157-E0785DFD3BA1}"/>
              </a:ext>
            </a:extLst>
          </p:cNvPr>
          <p:cNvSpPr txBox="1"/>
          <p:nvPr/>
        </p:nvSpPr>
        <p:spPr>
          <a:xfrm>
            <a:off x="777240" y="6044565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พนักงานที่ปรึกษา </a:t>
            </a:r>
            <a:r>
              <a:rPr lang="en-US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:</a:t>
            </a:r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 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อนุสรา ภูเขียว ตำแหน่ง เจ้าหน้าที่อาวุโส (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Senior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 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Officer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)</a:t>
            </a:r>
            <a:endParaRPr lang="en-US" sz="1400" dirty="0">
              <a:solidFill>
                <a:schemeClr val="bg1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EA01E57-74BE-4AA1-250D-9454E5584A96}"/>
              </a:ext>
            </a:extLst>
          </p:cNvPr>
          <p:cNvSpPr txBox="1"/>
          <p:nvPr/>
        </p:nvSpPr>
        <p:spPr>
          <a:xfrm>
            <a:off x="671945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อาจารย์ที่ปรึกษา</a:t>
            </a:r>
            <a:r>
              <a:rPr lang="en-US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 : 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ผู้ช่วยศาสตราจารย์ ดร.ยุทธนา เจ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วจิน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ดา</a:t>
            </a:r>
            <a:endParaRPr lang="en-US" sz="1300" dirty="0">
              <a:solidFill>
                <a:schemeClr val="bg1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B648753-8073-16B2-4B28-AC6AC4A30654}"/>
              </a:ext>
            </a:extLst>
          </p:cNvPr>
          <p:cNvSpPr txBox="1"/>
          <p:nvPr/>
        </p:nvSpPr>
        <p:spPr>
          <a:xfrm>
            <a:off x="864523" y="491966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Software Tester (QA)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PROJECT TIMELINE</a:t>
            </a:r>
            <a:endParaRPr lang="en-US" sz="9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ภาพรวมแผนการดำเนินงาน (14 สัปดาห์)</a:t>
            </a:r>
            <a:endParaRPr lang="en-US" sz="900" dirty="0"/>
          </a:p>
        </p:txBody>
      </p:sp>
      <p:sp>
        <p:nvSpPr>
          <p:cNvPr id="4" name="Shape 4"/>
          <p:cNvSpPr/>
          <p:nvPr/>
        </p:nvSpPr>
        <p:spPr>
          <a:xfrm>
            <a:off x="548640" y="202996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548640" y="303580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548640" y="404164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548640" y="504748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02336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9"/>
          <p:cNvSpPr txBox="1"/>
          <p:nvPr/>
        </p:nvSpPr>
        <p:spPr>
          <a:xfrm>
            <a:off x="454587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10"/>
          <p:cNvSpPr txBox="1"/>
          <p:nvPr/>
        </p:nvSpPr>
        <p:spPr>
          <a:xfrm>
            <a:off x="506838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11"/>
          <p:cNvSpPr txBox="1"/>
          <p:nvPr/>
        </p:nvSpPr>
        <p:spPr>
          <a:xfrm>
            <a:off x="559090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12"/>
          <p:cNvSpPr txBox="1"/>
          <p:nvPr/>
        </p:nvSpPr>
        <p:spPr>
          <a:xfrm>
            <a:off x="6113416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Text 13"/>
          <p:cNvSpPr txBox="1"/>
          <p:nvPr/>
        </p:nvSpPr>
        <p:spPr>
          <a:xfrm>
            <a:off x="663593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900" dirty="0"/>
          </a:p>
        </p:txBody>
      </p:sp>
      <p:sp>
        <p:nvSpPr>
          <p:cNvPr id="14" name="Text 14"/>
          <p:cNvSpPr txBox="1"/>
          <p:nvPr/>
        </p:nvSpPr>
        <p:spPr>
          <a:xfrm>
            <a:off x="715844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900" dirty="0"/>
          </a:p>
        </p:txBody>
      </p:sp>
      <p:sp>
        <p:nvSpPr>
          <p:cNvPr id="15" name="Text 15"/>
          <p:cNvSpPr txBox="1"/>
          <p:nvPr/>
        </p:nvSpPr>
        <p:spPr>
          <a:xfrm>
            <a:off x="768095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Text 16"/>
          <p:cNvSpPr txBox="1"/>
          <p:nvPr/>
        </p:nvSpPr>
        <p:spPr>
          <a:xfrm>
            <a:off x="820347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900" dirty="0"/>
          </a:p>
        </p:txBody>
      </p:sp>
      <p:sp>
        <p:nvSpPr>
          <p:cNvPr id="17" name="Text 17"/>
          <p:cNvSpPr txBox="1"/>
          <p:nvPr/>
        </p:nvSpPr>
        <p:spPr>
          <a:xfrm>
            <a:off x="8725986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ext 18"/>
          <p:cNvSpPr txBox="1"/>
          <p:nvPr/>
        </p:nvSpPr>
        <p:spPr>
          <a:xfrm>
            <a:off x="924850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900" dirty="0"/>
          </a:p>
        </p:txBody>
      </p:sp>
      <p:sp>
        <p:nvSpPr>
          <p:cNvPr id="19" name="Text 19"/>
          <p:cNvSpPr txBox="1"/>
          <p:nvPr/>
        </p:nvSpPr>
        <p:spPr>
          <a:xfrm>
            <a:off x="977101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Text 20"/>
          <p:cNvSpPr txBox="1"/>
          <p:nvPr/>
        </p:nvSpPr>
        <p:spPr>
          <a:xfrm>
            <a:off x="1029352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900" dirty="0"/>
          </a:p>
        </p:txBody>
      </p:sp>
      <p:sp>
        <p:nvSpPr>
          <p:cNvPr id="21" name="Text 21"/>
          <p:cNvSpPr txBox="1"/>
          <p:nvPr/>
        </p:nvSpPr>
        <p:spPr>
          <a:xfrm>
            <a:off x="1081604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900" dirty="0"/>
          </a:p>
        </p:txBody>
      </p:sp>
      <p:sp>
        <p:nvSpPr>
          <p:cNvPr id="22" name="Text 22"/>
          <p:cNvSpPr txBox="1"/>
          <p:nvPr/>
        </p:nvSpPr>
        <p:spPr>
          <a:xfrm>
            <a:off x="54864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สัปดาห์ที่</a:t>
            </a:r>
            <a:endParaRPr lang="en-US" sz="900" dirty="0"/>
          </a:p>
        </p:txBody>
      </p:sp>
      <p:sp>
        <p:nvSpPr>
          <p:cNvPr id="23" name="Text 23"/>
          <p:cNvSpPr txBox="1"/>
          <p:nvPr/>
        </p:nvSpPr>
        <p:spPr>
          <a:xfrm>
            <a:off x="548640" y="20299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ศึกษาระบบงานและวิเคราะห์ปัญหา</a:t>
            </a:r>
            <a:endParaRPr lang="en-US" sz="900" dirty="0"/>
          </a:p>
        </p:txBody>
      </p:sp>
      <p:sp>
        <p:nvSpPr>
          <p:cNvPr id="24" name="Shape 24"/>
          <p:cNvSpPr/>
          <p:nvPr/>
        </p:nvSpPr>
        <p:spPr>
          <a:xfrm>
            <a:off x="4046220" y="214426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48640" y="25328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ศึกษาเทคโนโลยีและออกแบบระบบ</a:t>
            </a:r>
            <a:endParaRPr lang="en-US" sz="900" dirty="0"/>
          </a:p>
        </p:txBody>
      </p:sp>
      <p:sp>
        <p:nvSpPr>
          <p:cNvPr id="26" name="Shape 26"/>
          <p:cNvSpPr/>
          <p:nvPr/>
        </p:nvSpPr>
        <p:spPr>
          <a:xfrm>
            <a:off x="4568734" y="264718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48640" y="30358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พัฒนาระบบต้นแบบ (Prototype)</a:t>
            </a:r>
            <a:endParaRPr lang="en-US" sz="900" dirty="0"/>
          </a:p>
        </p:txBody>
      </p:sp>
      <p:sp>
        <p:nvSpPr>
          <p:cNvPr id="28" name="Shape 28"/>
          <p:cNvSpPr/>
          <p:nvPr/>
        </p:nvSpPr>
        <p:spPr>
          <a:xfrm>
            <a:off x="5091248" y="3150108"/>
            <a:ext cx="1521822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548640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พัฒนาฟีเจอร์หลักและเชื่อมต่อ Backend</a:t>
            </a:r>
            <a:endParaRPr lang="en-US" sz="900" dirty="0"/>
          </a:p>
        </p:txBody>
      </p:sp>
      <p:sp>
        <p:nvSpPr>
          <p:cNvPr id="30" name="Shape 30"/>
          <p:cNvSpPr/>
          <p:nvPr/>
        </p:nvSpPr>
        <p:spPr>
          <a:xfrm>
            <a:off x="6136276" y="3653028"/>
            <a:ext cx="1521822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548640" y="4041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ทดสอบระบบและแก้ไขข้อบกพร่อง</a:t>
            </a:r>
            <a:endParaRPr lang="en-US" sz="900" dirty="0"/>
          </a:p>
        </p:txBody>
      </p:sp>
      <p:sp>
        <p:nvSpPr>
          <p:cNvPr id="32" name="Shape 32"/>
          <p:cNvSpPr/>
          <p:nvPr/>
        </p:nvSpPr>
        <p:spPr>
          <a:xfrm>
            <a:off x="7181304" y="4155948"/>
            <a:ext cx="3089364" cy="228600"/>
          </a:xfrm>
          <a:prstGeom prst="roundRect">
            <a:avLst>
              <a:gd name="adj" fmla="val 40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548640" y="4544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 Rule-Based Mode (เพิ่มเติม)</a:t>
            </a:r>
            <a:endParaRPr lang="en-US" sz="900" dirty="0"/>
          </a:p>
        </p:txBody>
      </p:sp>
      <p:sp>
        <p:nvSpPr>
          <p:cNvPr id="34" name="Shape 34"/>
          <p:cNvSpPr/>
          <p:nvPr/>
        </p:nvSpPr>
        <p:spPr>
          <a:xfrm>
            <a:off x="9793874" y="465886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548640" y="50474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จัดทำเอกสารและเตรียมนำเสนอ</a:t>
            </a:r>
            <a:endParaRPr lang="en-US" sz="900" dirty="0"/>
          </a:p>
        </p:txBody>
      </p:sp>
      <p:sp>
        <p:nvSpPr>
          <p:cNvPr id="36" name="Shape 36"/>
          <p:cNvSpPr/>
          <p:nvPr/>
        </p:nvSpPr>
        <p:spPr>
          <a:xfrm>
            <a:off x="10316388" y="516178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54864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80010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ศึกษาและออกแบบ</a:t>
            </a:r>
            <a:endParaRPr lang="en-US" sz="900" dirty="0"/>
          </a:p>
        </p:txBody>
      </p:sp>
      <p:sp>
        <p:nvSpPr>
          <p:cNvPr id="39" name="Shape 39"/>
          <p:cNvSpPr/>
          <p:nvPr/>
        </p:nvSpPr>
        <p:spPr>
          <a:xfrm>
            <a:off x="301752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326898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</a:t>
            </a:r>
            <a:endParaRPr lang="en-US" sz="900" dirty="0"/>
          </a:p>
        </p:txBody>
      </p:sp>
      <p:sp>
        <p:nvSpPr>
          <p:cNvPr id="41" name="Shape 41"/>
          <p:cNvSpPr/>
          <p:nvPr/>
        </p:nvSpPr>
        <p:spPr>
          <a:xfrm>
            <a:off x="548640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573786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ทดสอบและแก้ไข</a:t>
            </a:r>
            <a:endParaRPr lang="en-US" sz="900" dirty="0"/>
          </a:p>
        </p:txBody>
      </p:sp>
      <p:sp>
        <p:nvSpPr>
          <p:cNvPr id="43" name="Text 43"/>
          <p:cNvSpPr txBox="1"/>
          <p:nvPr/>
        </p:nvSpPr>
        <p:spPr>
          <a:xfrm>
            <a:off x="548640" y="6007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ระยะเวลาปฏิบัติงานสหกิจศึกษา 14 สัปดาห์ (มิถุนายน – กันยายน 2569) พัฒนาแบบ Iterative — ทดสอบและแก้ไขควบคู่ไปกับการพัฒนาในแต่ละรอบ</a:t>
            </a:r>
            <a:endParaRPr lang="en-US" sz="900" dirty="0"/>
          </a:p>
        </p:txBody>
      </p:sp>
      <p:sp>
        <p:nvSpPr>
          <p:cNvPr id="44" name="Text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900" dirty="0"/>
          </a:p>
        </p:txBody>
      </p:sp>
      <p:sp>
        <p:nvSpPr>
          <p:cNvPr id="45" name="Text 4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spc="200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หัวข้อการนำเสนอ</a:t>
            </a:r>
            <a:endParaRPr lang="en-US" sz="1000" dirty="0"/>
          </a:p>
        </p:txBody>
      </p:sp>
      <p:sp>
        <p:nvSpPr>
          <p:cNvPr id="4" name="Card 4"/>
          <p:cNvSpPr/>
          <p:nvPr/>
        </p:nvSpPr>
        <p:spPr>
          <a:xfrm>
            <a:off x="548640" y="178308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822960" y="178308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6"/>
          <p:cNvSpPr txBox="1"/>
          <p:nvPr/>
        </p:nvSpPr>
        <p:spPr>
          <a:xfrm>
            <a:off x="164592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บทนำ</a:t>
            </a:r>
            <a:endParaRPr lang="en-US" sz="1000" dirty="0"/>
          </a:p>
        </p:txBody>
      </p:sp>
      <p:sp>
        <p:nvSpPr>
          <p:cNvPr id="7" name="Text 7"/>
          <p:cNvSpPr txBox="1"/>
          <p:nvPr/>
        </p:nvSpPr>
        <p:spPr>
          <a:xfrm>
            <a:off x="164592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 วัตถุประสงค์ และขอบเขตของโครงงาน</a:t>
            </a:r>
            <a:endParaRPr lang="en-US" sz="1000" dirty="0"/>
          </a:p>
        </p:txBody>
      </p:sp>
      <p:sp>
        <p:nvSpPr>
          <p:cNvPr id="8" name="Card 8"/>
          <p:cNvSpPr/>
          <p:nvPr/>
        </p:nvSpPr>
        <p:spPr>
          <a:xfrm>
            <a:off x="6172200" y="178308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6446520" y="178308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726948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ระบบและเทคโนโลยี</a:t>
            </a:r>
            <a:endParaRPr lang="en-US" sz="1000" dirty="0"/>
          </a:p>
        </p:txBody>
      </p:sp>
      <p:sp>
        <p:nvSpPr>
          <p:cNvPr id="11" name="Text 11"/>
          <p:cNvSpPr txBox="1"/>
          <p:nvPr/>
        </p:nvSpPr>
        <p:spPr>
          <a:xfrm>
            <a:off x="726948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เทคโนโลยีที่ใช้ และสถาปัตยกรรมการทำงานของระบบ</a:t>
            </a:r>
            <a:endParaRPr lang="en-US" sz="1000" dirty="0"/>
          </a:p>
        </p:txBody>
      </p:sp>
      <p:sp>
        <p:nvSpPr>
          <p:cNvPr id="12" name="Card 12"/>
          <p:cNvSpPr/>
          <p:nvPr/>
        </p:nvSpPr>
        <p:spPr>
          <a:xfrm>
            <a:off x="548640" y="332232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22960" y="332232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645920" y="35966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ฟีเจอร์และกลไกการทำงาน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645920" y="40538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 บทบาทของ AI และการตรวจคุณภาพข้อมูล</a:t>
            </a:r>
            <a:endParaRPr lang="en-US" sz="1000" dirty="0"/>
          </a:p>
        </p:txBody>
      </p:sp>
      <p:sp>
        <p:nvSpPr>
          <p:cNvPr id="16" name="Card 16"/>
          <p:cNvSpPr/>
          <p:nvPr/>
        </p:nvSpPr>
        <p:spPr>
          <a:xfrm>
            <a:off x="6172200" y="332232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6446520" y="332232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7269480" y="35966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</a:t>
            </a:r>
            <a:endParaRPr lang="en-US" sz="1000" dirty="0"/>
          </a:p>
        </p:txBody>
      </p:sp>
      <p:sp>
        <p:nvSpPr>
          <p:cNvPr id="19" name="Text 19"/>
          <p:cNvSpPr txBox="1"/>
          <p:nvPr/>
        </p:nvSpPr>
        <p:spPr>
          <a:xfrm>
            <a:off x="7269480" y="40538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เดินผ่านหน้าจอการใช้งานจริงและผลการตรวจสอบ</a:t>
            </a:r>
            <a:endParaRPr lang="en-US" sz="1000" dirty="0"/>
          </a:p>
        </p:txBody>
      </p:sp>
      <p:sp>
        <p:nvSpPr>
          <p:cNvPr id="20" name="Card 20"/>
          <p:cNvSpPr/>
          <p:nvPr/>
        </p:nvSpPr>
        <p:spPr>
          <a:xfrm>
            <a:off x="548640" y="486156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2960" y="486156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1645920" y="5135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การพัฒนาและทดสอบ</a:t>
            </a:r>
            <a:endParaRPr lang="en-US" sz="1000" dirty="0"/>
          </a:p>
        </p:txBody>
      </p:sp>
      <p:sp>
        <p:nvSpPr>
          <p:cNvPr id="23" name="Text 23"/>
          <p:cNvSpPr txBox="1"/>
          <p:nvPr/>
        </p:nvSpPr>
        <p:spPr>
          <a:xfrm>
            <a:off x="1645920" y="5593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ระเบียบวิธี การแก้ไขปัญหา และสิ่งที่ได้เรียนรู้</a:t>
            </a:r>
            <a:endParaRPr lang="en-US" sz="1000" dirty="0"/>
          </a:p>
        </p:txBody>
      </p:sp>
      <p:sp>
        <p:nvSpPr>
          <p:cNvPr id="24" name="Card 24"/>
          <p:cNvSpPr/>
          <p:nvPr/>
        </p:nvSpPr>
        <p:spPr>
          <a:xfrm>
            <a:off x="6172200" y="486156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6446520" y="486156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7269480" y="5135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ผลลัพธ์และสรุป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7269480" y="5593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ผลการประเมิน ข้อจำกัด แนวทางพัฒนาต่อ และถาม-ตอบ</a:t>
            </a:r>
            <a:endParaRPr lang="en-US" sz="1000" dirty="0"/>
          </a:p>
        </p:txBody>
      </p:sp>
      <p:sp>
        <p:nvSpPr>
          <p:cNvPr id="28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1000" dirty="0"/>
          </a:p>
        </p:txBody>
      </p:sp>
      <p:sp>
        <p:nvSpPr>
          <p:cNvPr id="29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ที่มาและความสำคัญของปัญหา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งานทดสอบต้องการข้อมูลจำนวนมาก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การทดสอบระบบซอฟต์แวร์และฐานข้อมูลจำเป็นต้องใช้ข้อมูลทดสอบ (Test Data) ในปริมาณมากและหลากหลายรูปแบบ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36332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การสร้างข้อมูลด้วยมือใช้เวลานาน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ต้องเสียเวลาพิมพ์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สุ่ม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ข้อมูลเอง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ทำให้ล่าช้าและไม่คุ้มค่ากับเวลาที่มี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ข้อมูลมักไม่ครอบคลุมทุกเงื่อนไข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ข้อมูลที่สร้างด้วยมือ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ไม่สมจริงและไม่ครบตามเงื่อนไขทางธุรกิจที่ต้องการทดสอบ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เนื่องจาก 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Human Error 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จากการที่สร้างข้อมูลมากเกินไป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32928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ต้องรักษาความสัมพันธ์ของข้อมูล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ข้อมูลในหลายตารางต้องอ้างอิงกันได้จริง (เช่น รหัสพนักงาน) ซึ่งทำได้ยากเมื่อสร้างด้วยมือ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ที่มาและความสำคัญของปัญหา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วัตถุประสงค์ของโครงงาน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922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พัฒนาเว็บแอปพลิเคชันที่ใช้ปัญญาประดิษฐ์ (AI) สร้างข้อมูลทดสอบตามเงื่อนไขที่ผู้ใช้กำหนดได้โดยอัตโนมัติ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3216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066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ออกแบบโครงสร้างข้อมูล</a:t>
            </a: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ให้ตรงตาม</a:t>
            </a:r>
            <a:r>
              <a:rPr lang="th-TH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ความต้องการของ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</a:t>
            </a: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ไม่ปล่อยให้ AI ตัดสินใจเองทั้งหมด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581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6210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พัฒนาระบบอ้างอิงข้อมูลจริงจากชุดข้อมูลที่เคยบันทึกไว้ก่อนหน้า 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เพื่อรักษาความสัมพันธ์</a:t>
            </a:r>
            <a:r>
              <a:rPr lang="th-TH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หรือความต่อเนื่อง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ของข้อมูลระหว่างตาราง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354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สร้างระบบตรวจสอบคุณภาพข้อมูลอัตโนมัติ ก่อนนำข้อมูลไปใช้งานจริง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498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ออกแบบระบบให้รองรับผู้ใช้งานหลายระดับสิทธิ์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วัตถุประสงค์ของโครงงาน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SCOPE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ขอบเขตของโครงงาน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สิ่งที่โครงงานครอบคลุม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สิ่งที่อยู่นอกขอบเขต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128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พัฒนาเป็นเว็บแอปพลิเคชัน ใช้งานผ่านเบราว์เซอร์โดยไม่ต้องติดตั้งโปรแกรมเพิ่มเติม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081528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Google Sheets เป็นฐานข้อมูลหลักในการจัดเก็บผู้ใช้งาน ข้อมูลที่สร้าง และประวัติการทำงาน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794760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639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Gemini API เป็นเครื่องมือหลักในการประมวลผลและสร้างข้อมูล (Generative AI)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507992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3525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รองรับการสร้างข้อมูลได้หลากหลายประเภท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ตามเงื่อนไขที่ผู้ใช้ระบุ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221224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657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ส่งออกผลลัพธ์เป็นคำสั่ง SQL เพื่อนำไปใช้งานต่อได้ทันที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2368296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2128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ไม่เชื่อมต่อหรือเขียนข้อมูลลงฐานข้อมูลจริงของผู้ใช้งานโดยตรง (ส่งออกเป็นไฟล์/คำสั่ง SQL แทน)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3081528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ไม่ครอบคลุมการจัดการโครงสร้าง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ขนาดใหญ่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(Enterprise-scale Infrastructure)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3794760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3639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ใช่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การพัฒนาโมเดล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ขึ้นเอง (ใช้บริการ Gemini API)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1783080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ขอบเขตของโครงงาน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เทคโนโลยีที่ใช้ในการพัฒนา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5085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517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51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525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ส่วนหน้าเว็บ (Frontend)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673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HTML5, CSS3 (Tailwind CSS), JavaScript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5085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2517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251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6525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ส่วนหลังบ้าน (Backend)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7673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Apps Script — Web App แบบ Serverless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5085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2517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9251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56525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ฐานข้อมูล (Database)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7673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Sheets ใช้เป็นระบบจัดเก็บข้อมูลหลัก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5397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02829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0282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66837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7985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API (โมเดล Gemini 3.6 Flash)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5397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02829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0282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66837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การเผยแพร่ (Hosting)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07985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GitHub Pages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75397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402829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21040" y="40282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43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66837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ควบคุมเวอร์ชัน (Version Control)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07985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Git และ GitHub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เทคโนโลยีที่ใช้ในการพัฒนา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6"/>
          <p:cNvSpPr txBox="1"/>
          <p:nvPr/>
        </p:nvSpPr>
        <p:spPr>
          <a:xfrm>
            <a:off x="548640" y="572755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5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ทั้งระบบใช้ภาษาเดียวคือ JavaScript ตั้งแต่ Frontend ถึง Backend (Google Apps Script บน JS V8) — ไม่มีขั้นตอน Build และเชื่อมต่อ Google Account, Sheets และ Gemini ได้โดยตรง เหมาะกับการพัฒนา Prototype ของนักศึกษาที่มีเวลาและทรัพยากรจำกัด</a:t>
            </a:r>
            <a:endParaRPr lang="en-US" sz="115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สถาปัตยกรรมระบบ</a:t>
            </a:r>
            <a:endParaRPr lang="en-US" sz="1000" dirty="0"/>
          </a:p>
        </p:txBody>
      </p:sp>
      <p:sp>
        <p:nvSpPr>
          <p:cNvPr id="5" name="Box 5"/>
          <p:cNvSpPr/>
          <p:nvPr/>
        </p:nvSpPr>
        <p:spPr>
          <a:xfrm>
            <a:off x="548640" y="258318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77240" y="28117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</a:t>
            </a:r>
            <a:endParaRPr lang="en-US" sz="1000" dirty="0"/>
          </a:p>
        </p:txBody>
      </p:sp>
      <p:sp>
        <p:nvSpPr>
          <p:cNvPr id="7" name="Text 7"/>
          <p:cNvSpPr txBox="1"/>
          <p:nvPr/>
        </p:nvSpPr>
        <p:spPr>
          <a:xfrm>
            <a:off x="731520" y="32232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เปิดเว็บแอปผ่านเบราว์เซอร์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โฮสต์บน GitHub Pages</a:t>
            </a:r>
            <a:endParaRPr lang="en-US" sz="1000" dirty="0"/>
          </a:p>
        </p:txBody>
      </p:sp>
      <p:sp>
        <p:nvSpPr>
          <p:cNvPr id="8" name="Box 8"/>
          <p:cNvSpPr/>
          <p:nvPr/>
        </p:nvSpPr>
        <p:spPr>
          <a:xfrm>
            <a:off x="3840480" y="2286000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40690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4023360" y="3154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E4F3F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รับคำขอ ประมวลผล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E4F3F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และตรวจสอบคุณภาพข้อมูล</a:t>
            </a:r>
            <a:endParaRPr lang="en-US" sz="1000" dirty="0"/>
          </a:p>
        </p:txBody>
      </p:sp>
      <p:sp>
        <p:nvSpPr>
          <p:cNvPr id="11" name="Box 11"/>
          <p:cNvSpPr/>
          <p:nvPr/>
        </p:nvSpPr>
        <p:spPr>
          <a:xfrm>
            <a:off x="7955280" y="237744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1838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0C1D3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8138160" y="2926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950" dirty="0">
                <a:solidFill>
                  <a:srgbClr val="5A43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สร้างข้อมูลตามเงื่อนไข</a:t>
            </a:r>
            <a:endParaRPr lang="en-US" sz="1000" dirty="0"/>
          </a:p>
        </p:txBody>
      </p:sp>
      <p:sp>
        <p:nvSpPr>
          <p:cNvPr id="14" name="Box 14"/>
          <p:cNvSpPr/>
          <p:nvPr/>
        </p:nvSpPr>
        <p:spPr>
          <a:xfrm>
            <a:off x="7955280" y="347472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0C1D38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18388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Sheets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813816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95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ฐานข้อมูล: ผู้ใช้งาน ชุดข้อมูล ประวัติ</a:t>
            </a:r>
            <a:endParaRPr lang="en-US" sz="1000" dirty="0"/>
          </a:p>
        </p:txBody>
      </p:sp>
      <p:cxnSp>
        <p:nvCxnSpPr>
          <p:cNvPr id="17" name="Arrow 17"/>
          <p:cNvCxnSpPr/>
          <p:nvPr/>
        </p:nvCxnSpPr>
        <p:spPr>
          <a:xfrm>
            <a:off x="3154680" y="3291840"/>
            <a:ext cx="64008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18" name="Text 18"/>
          <p:cNvSpPr txBox="1"/>
          <p:nvPr/>
        </p:nvSpPr>
        <p:spPr>
          <a:xfrm>
            <a:off x="310896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00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① ส่งคำขอ</a:t>
            </a:r>
            <a:endParaRPr lang="en-US" sz="1000" dirty="0"/>
          </a:p>
        </p:txBody>
      </p:sp>
      <p:cxnSp>
        <p:nvCxnSpPr>
          <p:cNvPr id="19" name="Arrow 19"/>
          <p:cNvCxnSpPr/>
          <p:nvPr/>
        </p:nvCxnSpPr>
        <p:spPr>
          <a:xfrm>
            <a:off x="6629400" y="265176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0" name="Text 20"/>
          <p:cNvSpPr txBox="1"/>
          <p:nvPr/>
        </p:nvSpPr>
        <p:spPr>
          <a:xfrm>
            <a:off x="658368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② ให้ AI สร้างข้อมูล</a:t>
            </a:r>
            <a:endParaRPr lang="en-US" sz="1000" dirty="0"/>
          </a:p>
        </p:txBody>
      </p:sp>
      <p:cxnSp>
        <p:nvCxnSpPr>
          <p:cNvPr id="21" name="Arrow 21"/>
          <p:cNvCxnSpPr/>
          <p:nvPr/>
        </p:nvCxnSpPr>
        <p:spPr>
          <a:xfrm flipH="1">
            <a:off x="6629400" y="301752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2" name="Text 22"/>
          <p:cNvSpPr txBox="1"/>
          <p:nvPr/>
        </p:nvSpPr>
        <p:spPr>
          <a:xfrm>
            <a:off x="658368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③ ส่งกลับมาตรวจสอบ</a:t>
            </a:r>
            <a:endParaRPr lang="en-US" sz="1000" dirty="0"/>
          </a:p>
        </p:txBody>
      </p:sp>
      <p:cxnSp>
        <p:nvCxnSpPr>
          <p:cNvPr id="23" name="Arrow 23"/>
          <p:cNvCxnSpPr/>
          <p:nvPr/>
        </p:nvCxnSpPr>
        <p:spPr>
          <a:xfrm>
            <a:off x="6629400" y="393192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4" name="Text 24"/>
          <p:cNvSpPr txBox="1"/>
          <p:nvPr/>
        </p:nvSpPr>
        <p:spPr>
          <a:xfrm>
            <a:off x="658368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④ อ่าน / บันทึกข้อมูล</a:t>
            </a:r>
            <a:endParaRPr lang="en-US" sz="1000" dirty="0"/>
          </a:p>
        </p:txBody>
      </p:sp>
      <p:cxnSp>
        <p:nvCxnSpPr>
          <p:cNvPr id="25" name="Arrow 25"/>
          <p:cNvCxnSpPr/>
          <p:nvPr/>
        </p:nvCxnSpPr>
        <p:spPr>
          <a:xfrm>
            <a:off x="5212080" y="4297680"/>
            <a:ext cx="0" cy="82296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26" name="Arrow 26"/>
          <p:cNvCxnSpPr/>
          <p:nvPr/>
        </p:nvCxnSpPr>
        <p:spPr>
          <a:xfrm flipH="1">
            <a:off x="1828800" y="5120640"/>
            <a:ext cx="3383280" cy="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27" name="Arrow 27"/>
          <p:cNvCxnSpPr/>
          <p:nvPr/>
        </p:nvCxnSpPr>
        <p:spPr>
          <a:xfrm flipV="1">
            <a:off x="1828800" y="4046220"/>
            <a:ext cx="0" cy="107442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8" name="Text 28"/>
          <p:cNvSpPr txBox="1"/>
          <p:nvPr/>
        </p:nvSpPr>
        <p:spPr>
          <a:xfrm>
            <a:off x="548640" y="52349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00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⑤ ส่งข้อมูลที่ผ่านการตรวจสอบแล้วกลับไปแสดงผลบนหน้าเว็บ</a:t>
            </a:r>
            <a:endParaRPr lang="en-US" sz="1000" dirty="0"/>
          </a:p>
        </p:txBody>
      </p:sp>
      <p:sp>
        <p:nvSpPr>
          <p:cNvPr id="29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สถาปัตยกรรมระบบ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ARCHITECTURE — DETAIL</a:t>
            </a:r>
            <a:endParaRPr lang="en-US" sz="10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ขั้นตอนการทำงานเมื่อผู้ใช้งานกดสร้างข้อมูล</a:t>
            </a:r>
            <a:endParaRPr lang="en-US" sz="1000" dirty="0"/>
          </a:p>
        </p:txBody>
      </p:sp>
      <p:sp>
        <p:nvSpPr>
          <p:cNvPr id="5" name="Oval 5"/>
          <p:cNvSpPr/>
          <p:nvPr/>
        </p:nvSpPr>
        <p:spPr>
          <a:xfrm>
            <a:off x="548640" y="1554480"/>
            <a:ext cx="182880" cy="18288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80010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ฝั่งผู้ใช้งาน</a:t>
            </a:r>
            <a:endParaRPr lang="en-US" sz="1000" dirty="0"/>
          </a:p>
        </p:txBody>
      </p:sp>
      <p:sp>
        <p:nvSpPr>
          <p:cNvPr id="7" name="Oval 7"/>
          <p:cNvSpPr/>
          <p:nvPr/>
        </p:nvSpPr>
        <p:spPr>
          <a:xfrm>
            <a:off x="2743200" y="1554480"/>
            <a:ext cx="182880" cy="18288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299466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</a:t>
            </a:r>
            <a:endParaRPr lang="en-US" sz="1000" dirty="0"/>
          </a:p>
        </p:txBody>
      </p:sp>
      <p:sp>
        <p:nvSpPr>
          <p:cNvPr id="9" name="Oval 9"/>
          <p:cNvSpPr/>
          <p:nvPr/>
        </p:nvSpPr>
        <p:spPr>
          <a:xfrm>
            <a:off x="4937760" y="1554480"/>
            <a:ext cx="182880" cy="1828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18922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บริการภายนอก</a:t>
            </a:r>
            <a:endParaRPr lang="en-US" sz="1000" dirty="0"/>
          </a:p>
        </p:txBody>
      </p:sp>
      <p:sp>
        <p:nvSpPr>
          <p:cNvPr id="11" name="Box 11"/>
          <p:cNvSpPr/>
          <p:nvPr/>
        </p:nvSpPr>
        <p:spPr>
          <a:xfrm>
            <a:off x="54864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2" name="Oval 12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82296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เปิดหน้าเว็บ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82296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ผู้ใช้งานเปิดเว็บแอปผ่านเบราว์เซอร์ได้ทันที ไม่ต้องติดตั้งโปรแกรมเพิ่ม</a:t>
            </a:r>
            <a:endParaRPr lang="en-US" sz="1000" dirty="0"/>
          </a:p>
        </p:txBody>
      </p:sp>
      <p:cxnSp>
        <p:nvCxnSpPr>
          <p:cNvPr id="16" name="Arrow 16"/>
          <p:cNvCxnSpPr/>
          <p:nvPr/>
        </p:nvCxnSpPr>
        <p:spPr>
          <a:xfrm>
            <a:off x="3970020" y="283464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17" name="Box 17"/>
          <p:cNvSpPr/>
          <p:nvPr/>
        </p:nvSpPr>
        <p:spPr>
          <a:xfrm>
            <a:off x="426720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8" name="Oval 18"/>
          <p:cNvSpPr/>
          <p:nvPr/>
        </p:nvSpPr>
        <p:spPr>
          <a:xfrm>
            <a:off x="4541520" y="214884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45415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20"/>
          <p:cNvSpPr txBox="1"/>
          <p:nvPr/>
        </p:nvSpPr>
        <p:spPr>
          <a:xfrm>
            <a:off x="454152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กรอกเงื่อนไขแล้วกดสร้าง</a:t>
            </a:r>
            <a:endParaRPr lang="en-US" sz="1000" dirty="0"/>
          </a:p>
        </p:txBody>
      </p:sp>
      <p:sp>
        <p:nvSpPr>
          <p:cNvPr id="21" name="Text 21"/>
          <p:cNvSpPr txBox="1"/>
          <p:nvPr/>
        </p:nvSpPr>
        <p:spPr>
          <a:xfrm>
            <a:off x="454152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ระบุประเภทข้อมูล จำนวนแถว และแนบโครงสร้างตาราง แล้วส่งคำขอแบบเข้ารหัส</a:t>
            </a:r>
            <a:endParaRPr lang="en-US" sz="1000" dirty="0"/>
          </a:p>
        </p:txBody>
      </p:sp>
      <p:cxnSp>
        <p:nvCxnSpPr>
          <p:cNvPr id="22" name="Arrow 22"/>
          <p:cNvCxnSpPr/>
          <p:nvPr/>
        </p:nvCxnSpPr>
        <p:spPr>
          <a:xfrm>
            <a:off x="7688580" y="283464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3" name="Box 23"/>
          <p:cNvSpPr/>
          <p:nvPr/>
        </p:nvSpPr>
        <p:spPr>
          <a:xfrm>
            <a:off x="798576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4" name="Oval 24"/>
          <p:cNvSpPr/>
          <p:nvPr/>
        </p:nvSpPr>
        <p:spPr>
          <a:xfrm>
            <a:off x="8260080" y="214884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260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826008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ระบบหลังบ้านรับคำขอ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826008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ระบบหลังบ้านทำงานบนบริการสำเร็จรูปของ Google จึงไม่ต้องเช่าหรือดูแลเซิร์ฟเวอร์เอง</a:t>
            </a:r>
            <a:endParaRPr lang="en-US" sz="1000" dirty="0"/>
          </a:p>
        </p:txBody>
      </p:sp>
      <p:sp>
        <p:nvSpPr>
          <p:cNvPr id="28" name="Box 28"/>
          <p:cNvSpPr/>
          <p:nvPr/>
        </p:nvSpPr>
        <p:spPr>
          <a:xfrm>
            <a:off x="54864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9" name="Oval 29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31"/>
          <p:cNvSpPr txBox="1"/>
          <p:nvPr/>
        </p:nvSpPr>
        <p:spPr>
          <a:xfrm>
            <a:off x="82296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แยกประเภทของงาน</a:t>
            </a:r>
            <a:endParaRPr lang="en-US" sz="1000" dirty="0"/>
          </a:p>
        </p:txBody>
      </p:sp>
      <p:sp>
        <p:nvSpPr>
          <p:cNvPr id="32" name="Text 32"/>
          <p:cNvSpPr txBox="1"/>
          <p:nvPr/>
        </p:nvSpPr>
        <p:spPr>
          <a:xfrm>
            <a:off x="82296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ระบบตรวจว่าคำขอนี้เป็นงานอะไร แล้วส่งต่อให้ส่วนที่รับผิดชอบงานนั้นโดยเฉพาะ</a:t>
            </a:r>
            <a:endParaRPr lang="en-US" sz="1000" dirty="0"/>
          </a:p>
        </p:txBody>
      </p:sp>
      <p:cxnSp>
        <p:nvCxnSpPr>
          <p:cNvPr id="33" name="Arrow 33"/>
          <p:cNvCxnSpPr/>
          <p:nvPr/>
        </p:nvCxnSpPr>
        <p:spPr>
          <a:xfrm>
            <a:off x="3970020" y="493776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34" name="Box 34"/>
          <p:cNvSpPr/>
          <p:nvPr/>
        </p:nvSpPr>
        <p:spPr>
          <a:xfrm>
            <a:off x="426720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5" name="Oval 35"/>
          <p:cNvSpPr/>
          <p:nvPr/>
        </p:nvSpPr>
        <p:spPr>
          <a:xfrm>
            <a:off x="4541520" y="425196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4541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7"/>
          <p:cNvSpPr txBox="1"/>
          <p:nvPr/>
        </p:nvSpPr>
        <p:spPr>
          <a:xfrm>
            <a:off x="454152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เรียกใช้ AI และฐานข้อมูล</a:t>
            </a:r>
            <a:endParaRPr lang="en-US" sz="1000" dirty="0"/>
          </a:p>
        </p:txBody>
      </p:sp>
      <p:sp>
        <p:nvSpPr>
          <p:cNvPr id="38" name="Text 38"/>
          <p:cNvSpPr txBox="1"/>
          <p:nvPr/>
        </p:nvSpPr>
        <p:spPr>
          <a:xfrm>
            <a:off x="454152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ส่งเงื่อนไขให้ Gemini สร้างข้อมูล และอ่านหรือบันทึกข้อมูลกับ Google Sheets</a:t>
            </a:r>
            <a:endParaRPr lang="en-US" sz="1000" dirty="0"/>
          </a:p>
        </p:txBody>
      </p:sp>
      <p:cxnSp>
        <p:nvCxnSpPr>
          <p:cNvPr id="39" name="Arrow 39"/>
          <p:cNvCxnSpPr/>
          <p:nvPr/>
        </p:nvCxnSpPr>
        <p:spPr>
          <a:xfrm>
            <a:off x="7688580" y="493776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40" name="Box 40"/>
          <p:cNvSpPr/>
          <p:nvPr/>
        </p:nvSpPr>
        <p:spPr>
          <a:xfrm>
            <a:off x="798576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Oval 41"/>
          <p:cNvSpPr/>
          <p:nvPr/>
        </p:nvSpPr>
        <p:spPr>
          <a:xfrm>
            <a:off x="8260080" y="425196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82600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3"/>
          <p:cNvSpPr txBox="1"/>
          <p:nvPr/>
        </p:nvSpPr>
        <p:spPr>
          <a:xfrm>
            <a:off x="826008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แสดงผลให้ผู้ใช้งาน</a:t>
            </a:r>
            <a:endParaRPr lang="en-US" sz="1000" dirty="0"/>
          </a:p>
        </p:txBody>
      </p:sp>
      <p:sp>
        <p:nvSpPr>
          <p:cNvPr id="44" name="Text 44"/>
          <p:cNvSpPr txBox="1"/>
          <p:nvPr/>
        </p:nvSpPr>
        <p:spPr>
          <a:xfrm>
            <a:off x="826008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ส่งข้อมูลที่ตรวจสอบแล้วกลับไปแสดงเป็นตารางและคำสั่ง SQL บนหน้าเว็บ</a:t>
            </a:r>
            <a:endParaRPr lang="en-US" sz="1000" dirty="0"/>
          </a:p>
        </p:txBody>
      </p:sp>
      <p:cxnSp>
        <p:nvCxnSpPr>
          <p:cNvPr id="45" name="Arrow 45"/>
          <p:cNvCxnSpPr/>
          <p:nvPr/>
        </p:nvCxnSpPr>
        <p:spPr>
          <a:xfrm>
            <a:off x="10881360" y="3749040"/>
            <a:ext cx="0" cy="13716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46" name="Arrow 46"/>
          <p:cNvCxnSpPr/>
          <p:nvPr/>
        </p:nvCxnSpPr>
        <p:spPr>
          <a:xfrm flipH="1">
            <a:off x="1005840" y="3886200"/>
            <a:ext cx="9875520" cy="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47" name="Arrow 47"/>
          <p:cNvCxnSpPr/>
          <p:nvPr/>
        </p:nvCxnSpPr>
        <p:spPr>
          <a:xfrm>
            <a:off x="1005840" y="3886200"/>
            <a:ext cx="0" cy="13716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48" name="Text 48"/>
          <p:cNvSpPr txBox="1"/>
          <p:nvPr/>
        </p:nvSpPr>
        <p:spPr>
          <a:xfrm>
            <a:off x="548640" y="60624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95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รายละเอียดเชิงเทคนิค: callBackend() → doPost / doGet → handleRequest_ → handleGenerate_ / handleSavePrompt_ → UrlFetchApp / SpreadsheetApp</a:t>
            </a:r>
            <a:endParaRPr lang="en-US" sz="1000" dirty="0"/>
          </a:p>
        </p:txBody>
      </p:sp>
      <p:sp>
        <p:nvSpPr>
          <p:cNvPr id="49" name="Text 4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ขั้นตอนการทำงานของระบบ</a:t>
            </a:r>
            <a:endParaRPr lang="en-US" sz="1000" dirty="0"/>
          </a:p>
        </p:txBody>
      </p:sp>
      <p:sp>
        <p:nvSpPr>
          <p:cNvPr id="50" name="Text 5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MODEL SELECTION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ทำไมเลือกใช้ Gemini (3.6 Flash)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34540"/>
            <a:ext cx="11064240" cy="1828800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720340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720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97252"/>
            <a:ext cx="9966960" cy="110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อ่านและเข้าใจภาษาไทยได้แม่นยำกว่าโมเดล AI อื่นที่เปรียบเทียบ ทำให้สร้าง Prompt และตีความเงื่อนไข/โครงสร้างข้อมูลภาษาไทยได้ถูกต้องกว่า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046220"/>
            <a:ext cx="11064240" cy="18288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4732020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732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408932"/>
            <a:ext cx="9966960" cy="110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 API Key ให้ใช้งานได้ฟรีภายในขอบเขต Rate Limit ที่กำหนด ไม่มีค่าใช้จ่ายเพิ่มเติม 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การนำมาสร้างโปรเจคจำลอง 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(Prototype)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ทำไมเลือกใช้ Gemini (3.6 Flash)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ความปลอดภัยและการจัดการข้อมูล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922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เข้ารหัสรหัสผ่านด้วย SHA-256 ร่วมกับ Salt เฉพาะของแต่ละบัญชี ระบบไม่เก็บรหัสผ่านต้นฉบับไว้ที่ใดเลย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066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Session หมดอายุอัตโนมัติเมื่อไม่มีการใช้งานเกิน 10 นาที (Idle Timeout) 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ป้องกันการใช้งานค้างจากเครื่องที่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มีการเปิดค้างไว้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581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6210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ป้องกันการเดารหัสผ่าน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: เข้าสู่ระบบผิดติดต่อกัน 3 ครั้ง ระบบล็อกบัญชีชั่วคราว 60 วินาที พร้อมแจ้งเตือนเจ้าของบัญชีทางอีเมล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354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จำกัดสิทธิ์การใช้งานตามบทบาท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— สิทธิ์ระดับ Super Admin ต้องได้รับอนุมัติจากผู้ดูแลระบบหลักก่อนจึงใช้งานได้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498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จำกัดข้อมูลที่ส่งไปประมวลผลกับ AI ให้ส่งเฉพาะเงื่อนไข/โครงสร้าง/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คอลัมน์ที่จำเป็นเท่านั้น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ความปลอดภัยและการจัดการข้อมูล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บทบาทผู้ใช้งานในระบบ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3355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QA Tester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ผู้ทดสอบระบบ — ใช้งานหลักในการสร้างและตรวจสอบข้อมูลทดสอบสำหรับงาน QA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87952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443984" y="1933556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43984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นักพัฒนา — ใช้ข้อมูลทดสอบประกอบการพัฒนาและดีบักโค้ด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27264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3296" y="193355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83296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55864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Business Analyst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55864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นักวิเคราะห์ธุรกิจ — กำหนดเงื่อนไขข้อมูลให้สอดคล้องกับความต้องการทางธุรกิจ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0028" y="382636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0" name="Shape 18"/>
          <p:cNvSpPr/>
          <p:nvPr/>
        </p:nvSpPr>
        <p:spPr>
          <a:xfrm>
            <a:off x="2766060" y="4082396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66060" y="4082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738628" y="469504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Analyst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738628" y="506080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นักวิเคราะห์ระบบ — ตรวจสอบโครงสร้างข้อมูลให้ตรงกับการออกแบบระบบ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9340" y="382636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5372" y="408239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5372" y="4082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77940" y="469504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Super Admin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77940" y="506080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ผู้ดูแลระบบสูงสุด — จัดการผู้ใช้งาน อนุมัติคำขอสิทธิ์ และดูสถิติภาพรวมทั้งหมด (ต้องได้รับอนุมัติก่อนใช้งานได้)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8376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หมายเหตุ: ตำแหน่งอื่นนอกจาก Super Admin เข้าใช้งานได้ทันทีหลังสมัครสมาชิก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บทบาทผู้ใช้งานในระบบ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KEY FEATURES (เพิ่มเติม)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 — บัญชีผู้ใช้และการสร้างข้อมูล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ระบบบัญชีผู้ใช้งาน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สมัครสมาชิก เข้าสู่ระบบ 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และจัดการสิทธิ์การใช้งานหลายระดับ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36332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สร้างข้อมูลด้วย AI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กำหนดประเภทข้อมูล จำนวนแถว และเงื่อนไขทางธุรกิจ ให้ AI สร้างข้อมูลทดสอบให้อัตโนมัติ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กำหนดโครงสร้างตารา</a:t>
            </a:r>
            <a:r>
              <a:rPr lang="th-TH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แนบ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DDL Script หรือรูปภาพ ER Diagram เพื่อระบุโครงสร้างคอลัมน์ที่ต้องการอย่างชัดเจน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2928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บังคับโครงสร้างระดับโค้ด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ตรวจสอบและตัดคอลัมน์ที่ไม่ตรงตามที่กำหนดทิ้งด้วยโค้ด ไม่พึ่งพาความแม่นยำของ AI เพียงอย่างเดียว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848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Reference Column Lock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อ้างอิงค่าจริงจากชุดข้อมูลที่เคยบันทึกไว้ก่อนหน้า </a:t>
            </a: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เพื่อรักษาความสัมพันธ์</a:t>
            </a:r>
            <a:r>
              <a:rPr lang="th-TH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และความต่อเนื่อง</a:t>
            </a: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ของข้อมูลระหว่างตาราง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392" y="20848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ตรวจสอบคุณภาพข้อมูล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ระบบประเมินคะแนนความตรงตามเงื่อนไขและความน่าเชื่อถือของข้อมูลโดยอัตโนมัติ ก่อนนำไปใช้จริง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23367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Dashboard และประวัติ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สรุปสถิติภาพรวมการใช้งาน พร้อมประวัติการบันทึก (Commit) ข้อมูลย้อนหลัง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65392" y="423367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บันทึกเงื่อนไขไว้ใช้ซ้ำ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บันทึกและเรียกใช้ Prompt/เงื่อนไขที่เคยตั้งค่าไว้ได้ทันที ไม่ต้องกรอกใหม่ทุกครั้ง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ROLE OF AI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บทบาทของ AI ในระบบ — AI ทำอะไร และโค้ดควบคุมอะไร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1F8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 AI (Gemini API) รับผิดชอบ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72491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5420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ตีความเงื่อนไข/บริบทภาษาธรรมชาติที่ผู้ใช้กำหนด </a:t>
            </a:r>
            <a:r>
              <a:rPr lang="en-US" sz="120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แล้วแปลงเป็นข้อมูลที่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ตรงตามความต้องการ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68503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5021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สร้างเนื้อหาข้อมูลให้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ตรงตาม </a:t>
            </a: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Business 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ที่ผู้ใช้ต้องการ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64515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462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ประเมินคุณภาพข้อมูลเบื้องต้นด้วยตนเอง (AI Self-check) 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ซึ่งจะเอาไปใช้ประกอบการตัดสินใจเรื่องคุณภาพคะแนน</a:t>
            </a:r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132A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สิ่งที่ควบคุมด้วย Logic ของระบบเอง (Rule-based)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27249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5420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บังคับโครงสร้างคอลัมน์ให้ตรงตาม DDL Script </a:t>
            </a:r>
            <a:r>
              <a:rPr lang="en-US" sz="1200" dirty="0" err="1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ที่ผู้ใช้ระบุ</a:t>
            </a: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00" dirty="0" err="1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ทุกครั้งหลัง</a:t>
            </a: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ตอบกลับ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3685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35021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เลือกค่าจากข้อมูลอ้างอิงเดิมด้วย Fisher-Yates Shuffle + Round-robin ไม่ให้ AI สุ่มเอง เพื่อไม่ให้ข้อมูลบางค่าถูกเลือกซ้ำเกินสัดส่วน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46451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4462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คำนวณคะแนนคุณภาพขั้นสุดท้ายและตัดสิน Threshold (Condition Match ≥ 70%, Reliability ≥ 90%) รวมถึงจัดเรียงลำดับคอลัมน์ผลลัพธ์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ระบบไม่ปล่อยให้ AI 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ตัดสินใจเ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อง</a:t>
            </a:r>
            <a:r>
              <a:rPr lang="en-US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แต่ใช้ AI 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เป็นส่วนหนึ่งของระบบที่มีโค้ด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คอย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ตรวจสอบผลลัพธ์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อีกชั้น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บทบาทของ AI ในระบบ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ระบบให้คะแนนคุณภาพข้อมูล (Quality Score)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180444"/>
            <a:ext cx="1737360" cy="1737360"/>
          </a:xfrm>
          <a:prstGeom prst="ellipse">
            <a:avLst/>
          </a:prstGeom>
          <a:solidFill>
            <a:srgbClr val="F5F7FA"/>
          </a:solidFill>
          <a:ln w="76200">
            <a:solidFill>
              <a:srgbClr val="1F8A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180444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70%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549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ความตรงตามเงื่อนไข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(Condition Match) ขั้นต่ำ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180444"/>
            <a:ext cx="1737360" cy="1737360"/>
          </a:xfrm>
          <a:prstGeom prst="ellipse">
            <a:avLst/>
          </a:prstGeom>
          <a:solidFill>
            <a:srgbClr val="F5F7FA"/>
          </a:solidFill>
          <a:ln w="762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180444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90%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40549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ความน่าเชื่อถือของข้อมูล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(Reliability) ขั้นต่ำ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77840" y="2180444"/>
            <a:ext cx="0" cy="2651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78648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ต้องผ่านเกณฑ์ทั้งสองค่าพร้อมกัน ระบบจึงจะถือว่าข้อมูลชุดนี้ "ผ่าน" และอนุญาตให้นำเข้า Dashboard ได้ — ถ้าค่าใดค่าหนึ่งต่ำกว่าเกณฑ์ ระบบจะแจ้งเตือนให้ตรวจสอบก่อนตัดสินใจ Commit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1804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วิธีคำนวณคะแนน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683364"/>
            <a:ext cx="365760" cy="36576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0" y="26833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102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ตรวจสอบเชิงโครงสร้าง: จำนวนแถวตรงตามที่ขอหรือไม่ มีคอลัมน์ขาด/เกินหรือไม่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มีค่าว่างหรือไม่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597764"/>
            <a:ext cx="365760" cy="36576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35977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04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5246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 Gemini ประเมินตัวเองอีกชั้น (Self-check) เทียบข้อมูลที่สร้างกับเงื่อนไขที่ผู้ใช้ตั้งไว้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4512164"/>
            <a:ext cx="365760" cy="36576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0" y="45121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4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4390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รวมคะแนนทั้งสองส่วนเข้าด้วยกัน </a:t>
            </a:r>
            <a:r>
              <a:rPr lang="en-US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-</a:t>
            </a:r>
            <a:r>
              <a:rPr lang="th-TH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 โดยมีผลตรวจโครงสร้างเป็นตัวคอยควบคุม ถ้าโครงสร้างมีปัญหา คะแนนรวมจะไม่ผ่านทันที เพื่อกันไม่ให้คะแนนออกมาหลอกสูงเกินจริง</a:t>
            </a:r>
            <a:endParaRPr lang="en-US" sz="1100" dirty="0"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กลไกการทำงานเชิงลึก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Rule-Based Mode: Protocol การทำงาน 2 เฟส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69844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1F8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527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เฟสที่ 1 — Compile Rules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6420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เพียงครั้งเดียวต่อการสร้างข้อมูล 1 ชุด </a:t>
            </a:r>
            <a:r>
              <a:rPr lang="en-US" sz="115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เพื่อแปลเงื่อนไข</a:t>
            </a:r>
            <a:r>
              <a:rPr lang="th-TH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ที่ได้รับ</a:t>
            </a:r>
            <a:r>
              <a:rPr lang="en-US" sz="115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และโครงสร้าง</a:t>
            </a:r>
            <a:r>
              <a:rPr lang="en-US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DDL ที่ผู้ใช้กำหนด ให้เป็นกฎการสร้างข้อมูล (Generator Rules) รูปแบบ JSON สำหรับแต่ละคอลัมน์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3059732"/>
            <a:ext cx="329184" cy="27432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61484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132A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5443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เฟสที่ 2 — Generate Rows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5584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2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สร้างข้อมูลทุกแถวด้วยโค้ดล้วน ตามกฎที่ได้จาก</a:t>
            </a:r>
            <a:r>
              <a:rPr lang="th-TH" sz="1200" dirty="0" err="1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เฟส</a:t>
            </a:r>
            <a:r>
              <a:rPr lang="th-TH" sz="12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ที่ 1 — ไม่เรียก AI เพิ่มอีกเลย</a:t>
            </a:r>
            <a:endParaRPr lang="en-US" sz="1200" dirty="0">
              <a:solidFill>
                <a:schemeClr val="bg1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86800" y="1669844"/>
            <a:ext cx="2926080" cy="3063240"/>
          </a:xfrm>
          <a:prstGeom prst="roundRect">
            <a:avLst>
              <a:gd name="adj" fmla="val 2500"/>
            </a:avLst>
          </a:prstGeom>
          <a:solidFill>
            <a:srgbClr val="E4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8915400" y="1898444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15400" y="18984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4928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ทำไมต้องแยก 2 เฟส?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904284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เพราะ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ตัดสินใจทุกแถวจะกินโควตา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Gemini API 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จนหมด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เมื่อขอข้อมูลจำนวนมาก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การแยกให้ AI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ทำงานแค่ครั้งเดียว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แล้วให้โค้ดที่มี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โครงสร้างข้อมูลตามที่กำหนดแน่นอน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สร้างข้อมูลทั้งหมด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โดยยัง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ควบคุมคุณภาพผลลัพธ์ได้แม่นยำ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กลไกการทำงานเชิงลึก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1000" dirty="0"/>
          </a:p>
        </p:txBody>
      </p:sp>
      <p:sp>
        <p:nvSpPr>
          <p:cNvPr id="18" name="Shape 18"/>
          <p:cNvSpPr/>
          <p:nvPr/>
        </p:nvSpPr>
        <p:spPr>
          <a:xfrm>
            <a:off x="548640" y="4861484"/>
            <a:ext cx="5280660" cy="135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548640" y="4861484"/>
            <a:ext cx="5280660" cy="1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200" b="1" dirty="0">
                <a:solidFill>
                  <a:srgbClr val="3741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Legacy Mode (โหมดปัจจุบัน)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th-TH" sz="1050" dirty="0">
                <a:solidFill>
                  <a:srgbClr val="4B556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ให้ AI ตัดสินใจทุกแถว — ตัวอย่าง 100 แถว ต้องพึ่งการตัดสินใจของ AI ทั้งหมด ใช้ Token มาก และผลลัพธ์อาจไม่สม่ำเสมอ</a:t>
            </a:r>
            <a:endParaRPr lang="en-US" sz="1000" dirty="0"/>
          </a:p>
        </p:txBody>
      </p:sp>
      <p:sp>
        <p:nvSpPr>
          <p:cNvPr id="20" name="Shape 20"/>
          <p:cNvSpPr/>
          <p:nvPr/>
        </p:nvSpPr>
        <p:spPr>
          <a:xfrm>
            <a:off x="6057900" y="4861484"/>
            <a:ext cx="5280660" cy="1350000"/>
          </a:xfrm>
          <a:prstGeom prst="roundRect">
            <a:avLst>
              <a:gd name="adj" fmla="val 4000"/>
            </a:avLst>
          </a:prstGeom>
          <a:solidFill>
            <a:srgbClr val="E4F3F3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057900" y="4861484"/>
            <a:ext cx="5280660" cy="1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Rule-Based </a:t>
            </a:r>
            <a:r>
              <a:rPr lang="th-TH" sz="1200" b="1" dirty="0" err="1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Mode</a:t>
            </a: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(Beta</a:t>
            </a: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th-TH" sz="1050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เพียงครั้งเดียวเพื่อ Compile กฎ แล้วสร้างข้อมูลทั้งหมดด้วยโค้ดล้วน — ประหยัด Token ได้มาก และให้ผลลัพธ์ที่สม่ำเสมอกว่า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solidFill>
            <a:srgbClr val="0C1D38"/>
          </a:solidFill>
          <a:ln>
            <a:noFill/>
          </a:ln>
        </p:spPr>
      </p:sp>
      <p:sp>
        <p:nvSpPr>
          <p:cNvPr id="3" name="Oval 3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4" name="Oval 4"/>
          <p:cNvSpPr/>
          <p:nvPr/>
        </p:nvSpPr>
        <p:spPr>
          <a:xfrm>
            <a:off x="5638800" y="2011680"/>
            <a:ext cx="914400" cy="91440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388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2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▶</a:t>
            </a:r>
            <a:endParaRPr lang="en-US" sz="1000" dirty="0"/>
          </a:p>
        </p:txBody>
      </p:sp>
      <p:sp>
        <p:nvSpPr>
          <p:cNvPr id="6" name="Text 6"/>
          <p:cNvSpPr txBox="1"/>
          <p:nvPr/>
        </p:nvSpPr>
        <p:spPr>
          <a:xfrm>
            <a:off x="1371600" y="3200400"/>
            <a:ext cx="944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3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ตัวอย่างการใช้งานจริง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730240" y="4114800"/>
            <a:ext cx="731520" cy="27432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371600" y="4297680"/>
            <a:ext cx="944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300" b="1" spc="300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— INTELLIGENT TEST DATA SIMULATOR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1000" dirty="0"/>
          </a:p>
        </p:txBody>
      </p:sp>
      <p:sp>
        <p:nvSpPr>
          <p:cNvPr id="11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1000" dirty="0"/>
          </a:p>
        </p:txBody>
      </p:sp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DEMONSTRATION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1/6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 และกำหนดเงื่อนไข/แนบ DDL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92" y="1645920"/>
            <a:ext cx="4704255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เข้าสู่ระบบตามสิทธิ์การใช้งาน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รหัสผ่านจัดเก็บแบบ SHA-256 + Salt ล็อกบัญชีชั่วคราวเมื่อกรอกผิดติดต่อกัน 3 ครั้ง และกำหนดสิทธิ์ตามบทบาท QA Tester, Developer, Business Analyst, System Analyst และ Super Admin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592" y="1645920"/>
            <a:ext cx="3771576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ระบุเงื่อนไขและแนบโครงสร้างตาราง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เลือกประเภทข้อมูล จำนวนแถวที่ต้องการ (สูงสุด 300 แถวต่อครั้ง) แนบ DDL Script และเปิด Reference Column Lock เมื่อต้องการอ้างอิงค่าจริงจากชุดข้อมูลเดิม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2/6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ผลลัพธ์ข้อมูลและคำสั่ง SQL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98" y="1645920"/>
            <a:ext cx="4775243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ตารางข้อมูลที่ระบบสร้าง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โครงสร้างและลำดับคอลัมน์ตรงตาม DDL ที่แนบไว้ทุกคอลัมน์ และผู้ใช้งานแก้ไขค่าในตารางได้ก่อนบันทึกจริง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910" y="1645920"/>
            <a:ext cx="459294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คำสั่ง SQL ที่พร้อมใช้งาน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ระบบสร้างคำสั่ง INSERT ให้อัตโนมัติจากข้อมูลชุดเดียวกัน คัดลอกไปใช้กับฐานข้อมูลจริงได้ทันที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3/6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ตรวจคะแนนคุณภาพก่อน Commit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390" y="1737360"/>
            <a:ext cx="4108420" cy="42062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5437490" y="2880360"/>
            <a:ext cx="1603390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5391770" y="283464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7040880" y="192024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26948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ตรวจสอบสองชั้น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ระบบตรวจเชิงโครงสร้างก่อน (จำนวนแถว คอลัมน์ขาด/เกิน ค่าว่าง) แล้วให้ Gemini ประเมินความตรงตามเงื่อนไขอีกชั้นหนึ่ง</a:t>
            </a:r>
            <a:endParaRPr lang="en-US" sz="1000" dirty="0"/>
          </a:p>
        </p:txBody>
      </p:sp>
      <p:cxnSp>
        <p:nvCxnSpPr>
          <p:cNvPr id="9" name="Leader 9"/>
          <p:cNvCxnSpPr/>
          <p:nvPr/>
        </p:nvCxnSpPr>
        <p:spPr>
          <a:xfrm>
            <a:off x="5437490" y="5074920"/>
            <a:ext cx="1603390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0" name="Dot 10"/>
          <p:cNvSpPr/>
          <p:nvPr/>
        </p:nvSpPr>
        <p:spPr>
          <a:xfrm>
            <a:off x="5391770" y="502920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" name="Callout 11"/>
          <p:cNvSpPr/>
          <p:nvPr/>
        </p:nvSpPr>
        <p:spPr>
          <a:xfrm>
            <a:off x="7040880" y="411480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269480" y="4343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เกณฑ์ผ่านขั้นต่ำ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Condition Match ≥ 70% และ Reliability ≥ 90% ต้องผ่านทั้งสองค่าพร้อมกัน ระบบจึงอนุญาตให้บันทึกข้อมูลเข้าสู่ระบบ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4/6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บันทึกข้อมูล (Commit) และ Activity Log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17" y="1645920"/>
            <a:ext cx="4550206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บันทึกและส่งออกข้อมูล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 Commit ชุดข้อมูลที่ผ่านเกณฑ์คุณภาพเข้าสู่ระบบ พร้อมส่งออกเป็นไฟล์ .sql, .csv หรือ .json ได้ทันที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555" y="1645920"/>
            <a:ext cx="452765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บันทึกการทำงานของระบบ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ทุกการสร้างและบันทึกข้อมูลถูกบันทึกลง Activity Log พร้อมเวลาและผู้ใช้งาน ตรวจสอบย้อนหลังได้จริง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5/6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Dashboard สรุปสถิติการใช้งาน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2710"/>
            <a:ext cx="6217919" cy="33955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6492239" y="2880360"/>
            <a:ext cx="548641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6446519" y="283464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7040880" y="192024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26948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เริ่มงานได้จากหน้าเดียว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ผู้ใช้งานเริ่มสร้างข้อมูลชุดใหม่ได้ทันทีจากหน้าแรก โดยไม่ต้องเข้าเมนูย่อยหลายชั้น</a:t>
            </a:r>
            <a:endParaRPr lang="en-US" sz="1000" dirty="0"/>
          </a:p>
        </p:txBody>
      </p:sp>
      <p:cxnSp>
        <p:nvCxnSpPr>
          <p:cNvPr id="9" name="Leader 9"/>
          <p:cNvCxnSpPr/>
          <p:nvPr/>
        </p:nvCxnSpPr>
        <p:spPr>
          <a:xfrm>
            <a:off x="6492239" y="5074920"/>
            <a:ext cx="548641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0" name="Dot 10"/>
          <p:cNvSpPr/>
          <p:nvPr/>
        </p:nvSpPr>
        <p:spPr>
          <a:xfrm>
            <a:off x="6446519" y="502920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" name="Callout 11"/>
          <p:cNvSpPr/>
          <p:nvPr/>
        </p:nvSpPr>
        <p:spPr>
          <a:xfrm>
            <a:off x="7040880" y="411480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269480" y="4343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สถิติภาพรวมการใช้งาน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แสดงจำนวนชุดข้อมูลที่สร้างและคะแนนคุณภาพเฉลี่ย ช่วยให้ติดตามผลการใช้งานโดยรวมได้ในหน้าเดียว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6/6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ประวัติการบันทึกและเงื่อนไขที่ใช้ซ้ำ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420" y="1645920"/>
            <a:ext cx="4004799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เรียกใช้เงื่อนไขที่บันทึกไว้ซ้ำ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เลือกเงื่อนไขที่เคยตั้งค่าไว้มาใช้สร้างข้อมูลชุดใหม่ได้ทันที ไม่ต้องกรอกรายละเอียดเดิมซ้ำทุกครั้ง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835" y="1645920"/>
            <a:ext cx="484909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จัดเก็บใน Google Sheets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ชุดข้อมูล เงื่อนไข และประวัติการทำงานถูกบันทึกแยกแผ่นงานใน Google Sheets ตรวจสอบย้อนหลังได้จริง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VALIDATION EXAMPLE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ตัวอย่างผลการตรวจสอบ — คาดหวัง เทียบกับ ผลลัพธ์จริง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56416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834640" y="287081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43795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สิ่งที่กำหนด (DDL Script + เงื่อนไข)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956416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412480" y="287081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43795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ข้อมูลที่ระบบสร้างจริง (ผลลัพธ์)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15584" y="3245720"/>
            <a:ext cx="256032" cy="256032"/>
          </a:xfrm>
          <a:prstGeom prst="rightArrow">
            <a:avLst/>
          </a:prstGeom>
          <a:solidFill>
            <a:srgbClr val="1F8A93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506537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010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จำนวนคอลัมน์และชื่อคอลัมน์ตรงตาม DDL ครบทุกรายการ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56829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5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5134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ลำดับคอลัมน์ในผลลัพธ์ตรงตามที่ระบุ ไม่สลับตำแหน่ง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506537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50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010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ค่าข้อมูลตรงตามเงื่อนไข/บริบทที่ผู้ใช้กำหนด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556829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55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5134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ค่าที่อ้างอิงจากชุดข้อมูลเดิม (Reference Lock) ถูกต้องและครบถ้วน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ตัวอย่างผลการตรวจสอบ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</a:t>
            </a:r>
            <a:endParaRPr lang="en-US" sz="1000" dirty="0"/>
          </a:p>
        </p:txBody>
      </p:sp>
      <p:pic>
        <p:nvPicPr>
          <p:cNvPr id="30" name="รูปภาพ 29">
            <a:extLst>
              <a:ext uri="{FF2B5EF4-FFF2-40B4-BE49-F238E27FC236}">
                <a16:creationId xmlns:a16="http://schemas.microsoft.com/office/drawing/2014/main" id="{18567991-CCB4-9373-5F5F-05E86333CB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8338" y="2093576"/>
            <a:ext cx="3432684" cy="2194560"/>
          </a:xfrm>
          <a:prstGeom prst="rect">
            <a:avLst/>
          </a:prstGeom>
        </p:spPr>
      </p:pic>
      <p:pic>
        <p:nvPicPr>
          <p:cNvPr id="32" name="รูปภาพ 31">
            <a:extLst>
              <a:ext uri="{FF2B5EF4-FFF2-40B4-BE49-F238E27FC236}">
                <a16:creationId xmlns:a16="http://schemas.microsoft.com/office/drawing/2014/main" id="{B4E44923-ABA2-5BFA-2F66-F26A80A2B4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3488" y="2093576"/>
            <a:ext cx="4098064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DEMO VIDEO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คลิปวิดีโอสาธิตการทำงานจริง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920240" y="1783080"/>
            <a:ext cx="8321040" cy="4206240"/>
          </a:xfrm>
          <a:prstGeom prst="roundRect">
            <a:avLst>
              <a:gd name="adj" fmla="val 2174"/>
            </a:avLst>
          </a:prstGeom>
          <a:solidFill>
            <a:srgbClr val="0C1D38"/>
          </a:solidFill>
          <a:ln w="19050">
            <a:solidFill>
              <a:srgbClr val="1F8A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623560" y="3154680"/>
            <a:ext cx="914400" cy="9144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5934456" y="3410712"/>
            <a:ext cx="310896" cy="40233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21</a:t>
            </a:r>
            <a:endParaRPr lang="en-US" sz="1000" dirty="0"/>
          </a:p>
        </p:txBody>
      </p:sp>
      <p:pic>
        <p:nvPicPr>
          <p:cNvPr id="13" name="การบันทึกหน้าจอ 2026-09-13 170248">
            <a:hlinkClick r:id="" action="ppaction://media"/>
            <a:extLst>
              <a:ext uri="{FF2B5EF4-FFF2-40B4-BE49-F238E27FC236}">
                <a16:creationId xmlns:a16="http://schemas.microsoft.com/office/drawing/2014/main" id="{80DFFAB3-4E47-2654-5981-11B877DC6C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27756" y="1965960"/>
            <a:ext cx="7306007" cy="38632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833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วิธีการพัฒนาและทดสอบระบบ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ใช้แนวทาง Iterative Development — พัฒนาทีละฟีเจอร์ แล้วทดสอบบนระบบจริงทันทีก่อนขึ้นเวอร์ชันถัดไป แทนการออกแบบทั้งหมดล่วงหน้าแล้วทดสอบทีเดียวตอนท้ายแบบ Waterfall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60320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ทดสอบการสร้างข้อมูล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ครอบคลุมประเภทข้อมูล จำนวนแถว และ Database Dialect ที่หลากหลาย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 Reference Column Lock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ตรวจสอบว่าข้อมูลอ้างอิงถูกใช้งานครบทุกรายการ ไม่มีตกหล่น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11296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69417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ทดสอบการใช้งานพร้อมกันหลายคน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9684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</a:t>
            </a:r>
            <a:r>
              <a:rPr lang="th-TH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</a:t>
            </a: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Lock Service กันข้อมูลชนกันเมื่อมีผู้ใช้งานพร้อมกัน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511296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369417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ทดสอบเส้นทางข้อผิดพลาด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39684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จำลองกรณี Gemini API ไม่ตอบสนองหรือเชื่อมต่อขัดข้อง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0" y="4645152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3703320" y="48280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7033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343400" y="4745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ทดสอบความปลอดภัย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343400" y="51023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ตรวจสอบการยืนยันตัวตน การล็อกบัญชี และสิทธิ์การเข้าถึงตามบทบาท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เกณฑ์ก่อนขึ้นเวอร์ชันจริง: ตรวจ Syntax → เทียบผลก่อน-หลังแก้ (Diff) → ทดสอบระบบจริง → ยืนยันผลจากการใช้งานจริงก่อนปิดงาน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ระเบียบวิธีการพัฒนาและทดสอบระบบ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DEVELOPMENT PROCESS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กระบวนการพัฒนาและแก้ไขปัญหา — </a:t>
            </a: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ที่พบ</a:t>
            </a: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จากการใช้</a:t>
            </a: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</a:t>
            </a: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จริง</a:t>
            </a:r>
            <a:endParaRPr lang="en-US" sz="3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107696"/>
              </p:ext>
            </p:extLst>
          </p:nvPr>
        </p:nvGraphicFramePr>
        <p:xfrm>
          <a:off x="548640" y="2431904"/>
          <a:ext cx="11064240" cy="30175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ปัญหาที่พบ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สาเหตุ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แนวทางแก้ไข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Gemini API ไม่ตอบสนอง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(HTTP 503)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เรียกใช้โมเดล AI เวอร์ชันที่ยังไม่เสถียรและมีผู้ใช้งานหนาแน่น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ปรับกลไก Retry และกำหนดเวอร์ชันโมเดลที่เสถียรแทน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ข้อมูลอ้างอิงบางรายการ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ไม่ถูกใช้งานครบ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วิธีสุ่มเลือกข้อมูลแบบมีโอกาสข้ามบางรายการไปได้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ปรับอัลกอริทึมเป็นการวนลำดับ (Round-robin) </a:t>
                      </a:r>
                      <a:r>
                        <a:rPr lang="th-TH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เพื่อใช้การวนแบบสุ่มจากข้อมูลที่มี</a:t>
                      </a:r>
                      <a:r>
                        <a:rPr lang="th-TH" sz="1100" dirty="0" err="1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อยู๋แ</a:t>
                      </a:r>
                      <a:r>
                        <a:rPr lang="th-TH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ทนการสุ่มขึ้นมาใหม่ของ 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AI 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กระบวนการพัฒนาและแก้ไขปัญหา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LESSONS LEARNED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สิ่งที่ได้เรียนรู้จากโครงงาน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7188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ระบบที่พึ่งพา AI </a:t>
            </a:r>
            <a:r>
              <a:rPr lang="en-US" sz="135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ต้องมี</a:t>
            </a:r>
            <a:r>
              <a:rPr lang="th-TH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</a:t>
            </a:r>
            <a:r>
              <a:rPr lang="en-US" sz="135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ควบคุมเสมอ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ไม่ควรเชื่อผลลัพธ์จาก AI ทั้งหมดโดยไม่มีชั้นตรวจสอบด้วยโค้ด 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เพราะความแม่นยำของโครงสร้างข้อมูล</a:t>
            </a: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มีความ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สำคัญ</a:t>
            </a: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ต่อการนำไปใช้จริง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08900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36332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7188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ความสอดคล้องของคีย์ข้อมูลระหว่าง Frontend-Backend สำคัญมาก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5768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บั๊กสำคัญหลายจุดเกิดจากชื่อคีย์ไม่ตรงกัน (เช่น structureScript กับ ddlScript) 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แม้ตรรกะการทำงานจะถูกต้อง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3784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การตรวจสอบ Log การทำงานจริงช่วยระบุจุดบกพร่องได้แม่นยำกว่า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การไล่อ่านโค้ดเพียงอย่างเดียวอาจมองข้ามจุดที่เกิดปัญหาจริงในการใช้งาน ควรใช้ Log ประกอบการวิเคราะห์เสมอ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05496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32928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3784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การจัดการ Edge Case ต้องคิดล่วงหน้าตั้งแต่ขั้นออกแบบ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2364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เช่น การสุ่มเลือกข้อมูลอ้างอิงต้องออกแบบให้ไม่ลำเอียงและไม่ซ้ำเกินตั้งแต่แรก ไม่ใช่แก้ไขภายหลัง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สิ่งที่ได้เรียนรู้จากโครงงาน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3190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1478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14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3190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ระบบสามารถสร้างข้อมูลที่มีโครงสร้างตรงตาม DDL Script ที่ผู้ใช้กำหนดได้อย่างแม่นยำ ครบทุกคอลัมน์และเรียงลำดับถูกต้องตามที่ระบุ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83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66634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66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6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8346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ระบบสามารถอ้างอิงข้อมูลจริงจากชุดข้อมูลเดิมได้ครบถ้วนทุกรายการ ไม่มีข้อมูลตกหล่นจากการสุ่มเลือก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350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71790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7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6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53502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รวจสอบคุณภาพข้อมูลอัตโนมัติ</a:t>
            </a: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ช่วยลดความเสี่ยงจากข้อมูลที่ไม่สมเหตุสมผลก่อนนำไปใช้งานจริง รวมถึง Rule-Based Mode 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ช่วย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</a:t>
            </a: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AI 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แต่ต้องคง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คุณภาพข้อมูลได้ตามเกณฑ์เดิม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ผลลัพธ์และการประเมินระบบ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LIMITATIONS &amp; FUTURE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ข้อจำกัดและแนวทางพัฒนาต่อ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ข้อจำกัดปัจจุบัน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542032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77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Google Sheets เป็นฐานข้อมูล ซึ่งมีข้อจำกัดด้านขนาดและความเร็วเมื่อข้อมูลมีปริมาณมาก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26440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การทำงานขึ้นอยู่กับ Gemini API ซึ่งมีข้อจำกัดด้านโควตา (Retry สูงสุด 6 ครั้ง) — Rule-Based Mode ช่วยลดผลกระทบนี้ได้บางส่วน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315968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1513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จำกัดจำนวนแถวสูงสุดต่อคำขอไว้ที่ 300 แถว เพื่อป้องกันคำตอบ AI </a:t>
            </a:r>
            <a:r>
              <a:rPr lang="en-US" sz="11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ถูกตัดก่อนครบ</a:t>
            </a: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</a:t>
            </a:r>
            <a:r>
              <a:rPr lang="th-TH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 </a:t>
            </a: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API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5202936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50383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ยังไม่มีชุดทดสอบอัตโนมัติ (Automated Test Suite) ครอบคลุมทั้งระบบ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132A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แนวทางพัฒนาต่อ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2377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เชื่อมต่อกับฐานข้อมูลเชิงสัมพันธ์จริง เช่น MySQL หรือ PostgreSQL เพื่อรองรับข้อมูลปริมาณมาก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342900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326440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เพิ่มการรองรับ AI Model อื่นเป็นทางเลือกสำรอง กรณี Gemini API ไม่พร้อมใช้งาน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43159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41513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เพิ่มความยืดหยุ่นของจำนวนแถวต่อคำขอ ด้วยการแบ่งคำขอเป็นชุดย่อยอัตโนมัติ (Batching)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520293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50383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พัฒนาชุดทดสอบอัตโนมัติ เพื่อความมั่นใจในคุณภาพของระบบในระยะยาว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ข้อจำกัดและแนวทางพัฒนาต่อ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สรุปโครงงาน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 </a:t>
            </a:r>
            <a:r>
              <a:rPr lang="en-US" sz="15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เป็นเว็บแอปพลิเคชันที่นำปัญญาประดิษฐ์</a:t>
            </a: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(AI) </a:t>
            </a:r>
            <a:r>
              <a:rPr lang="en-US" sz="15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มาช่วยแก้ปัญหาการเตรียมข้อมูลทดสอบ</a:t>
            </a: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ซึ่งเดิมต้องใช้เวลาและแรงงานมากหากทำด้วยมือ โดยระบบสามารถสร้างข้อมูลตามโครงสร้างและเงื่อนไขที่ผู้ใช้กำหนดได้อย่างแม่นยำ พร้อมตรวจสอบคุณภาพข้อมูลและรักษาความสัมพันธ์ของข้อมูลระหว่างตารางโดยอัตโนมัติ รวมถึง Rule-Based Mode ที่ช่วยประหยัดการใช้ Token AI (Gemini API)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338328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สร้างข้อมูลด้วย AI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3383280"/>
            <a:ext cx="402336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60520" y="3383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บังคับโครงสร้างตาม DDL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81980" y="3383280"/>
            <a:ext cx="333090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1980" y="3383280"/>
            <a:ext cx="3330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 Token (Rule-Based)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44140" y="4069080"/>
            <a:ext cx="322326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44140" y="4069080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อ้างอิงข้อมูลจริง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6000" y="4069080"/>
            <a:ext cx="354330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96000" y="4069080"/>
            <a:ext cx="354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ตรวจคุณภาพอัตโนมัติ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โครงงานนี้สะท้อนกระบวนการพัฒนาซอฟต์แวร์แบบครบวงจร ตั้งแต่การออกแบบ พัฒนา ทดสอบ จนถึงการตรวจสอบและแก้ไขปัญหา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อย่างเป็นระบบ ด้วยหลักฐานการทำงานจริงตลอดกระบวนการพัฒนา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สรุปโครงงาน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C1D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คำถามและข้อเสนอแนะ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90008" y="3977640"/>
            <a:ext cx="2011680" cy="0"/>
          </a:xfrm>
          <a:prstGeom prst="line">
            <a:avLst/>
          </a:prstGeom>
          <a:noFill/>
          <a:ln w="31750">
            <a:solidFill>
              <a:srgbClr val="1F8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  |  Jirapat  |  markqzza123@gmail.com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solidFill>
            <a:srgbClr val="0C1D38"/>
          </a:solidFill>
          <a:ln>
            <a:noFill/>
          </a:ln>
        </p:spPr>
      </p:sp>
      <p:sp>
        <p:nvSpPr>
          <p:cNvPr id="3" name="Oval 3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4" name="Oval 4"/>
          <p:cNvSpPr/>
          <p:nvPr/>
        </p:nvSpPr>
        <p:spPr>
          <a:xfrm>
            <a:off x="5638800" y="2011680"/>
            <a:ext cx="914400" cy="91440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388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2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?</a:t>
            </a:r>
            <a:endParaRPr lang="en-US" sz="1000" dirty="0"/>
          </a:p>
        </p:txBody>
      </p:sp>
      <p:sp>
        <p:nvSpPr>
          <p:cNvPr id="6" name="Text 6"/>
          <p:cNvSpPr txBox="1"/>
          <p:nvPr/>
        </p:nvSpPr>
        <p:spPr>
          <a:xfrm>
            <a:off x="1371600" y="3200400"/>
            <a:ext cx="944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3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ภาคผนวก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730240" y="4114800"/>
            <a:ext cx="731520" cy="27432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371600" y="4297680"/>
            <a:ext cx="944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300" b="1" spc="300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APPENDIX — ข้อมูลประกอบสำหรับการถาม-ตอบ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1000" dirty="0"/>
          </a:p>
        </p:txBody>
      </p:sp>
      <p:sp>
        <p:nvSpPr>
          <p:cNvPr id="11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29</a:t>
            </a:r>
            <a:endParaRPr lang="en-US" sz="1000" dirty="0"/>
          </a:p>
        </p:txBody>
      </p:sp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SUPPLEMENTARY MATERIAL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1858</TotalTime>
  <Words>3546</Words>
  <Application>Microsoft Office PowerPoint</Application>
  <PresentationFormat>แบบจอกว้าง</PresentationFormat>
  <Paragraphs>511</Paragraphs>
  <Slides>33</Slides>
  <Notes>28</Notes>
  <HiddenSlides>0</HiddenSlides>
  <MMClips>1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33</vt:i4>
      </vt:variant>
    </vt:vector>
  </HeadingPairs>
  <TitlesOfParts>
    <vt:vector size="37" baseType="lpstr">
      <vt:lpstr>Arial</vt:lpstr>
      <vt:lpstr>Leelawadee</vt:lpstr>
      <vt:lpstr>Leelawadee UI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Jirapat Jiramonthon</cp:lastModifiedBy>
  <cp:revision>6</cp:revision>
  <dcterms:created xsi:type="dcterms:W3CDTF">2026-08-31T13:54:53Z</dcterms:created>
  <dcterms:modified xsi:type="dcterms:W3CDTF">2026-09-13T15:22:08Z</dcterms:modified>
</cp:coreProperties>
</file>