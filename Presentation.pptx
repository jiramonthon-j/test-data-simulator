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2"/>
  </p:notesMasterIdLst>
  <p:sldIdLst>
    <p:sldId id="256" r:id="rId2"/>
    <p:sldId id="302" r:id="rId3"/>
    <p:sldId id="258" r:id="rId4"/>
    <p:sldId id="259" r:id="rId5"/>
    <p:sldId id="260" r:id="rId6"/>
    <p:sldId id="261" r:id="rId7"/>
    <p:sldId id="264" r:id="rId8"/>
    <p:sldId id="298" r:id="rId9"/>
    <p:sldId id="265" r:id="rId10"/>
    <p:sldId id="266" r:id="rId11"/>
    <p:sldId id="267" r:id="rId12"/>
    <p:sldId id="268" r:id="rId13"/>
    <p:sldId id="269" r:id="rId14"/>
    <p:sldId id="272" r:id="rId15"/>
    <p:sldId id="293" r:id="rId16"/>
    <p:sldId id="303" r:id="rId17"/>
    <p:sldId id="275" r:id="rId18"/>
    <p:sldId id="277" r:id="rId19"/>
    <p:sldId id="300" r:id="rId20"/>
    <p:sldId id="301" r:id="rId21"/>
    <p:sldId id="279" r:id="rId22"/>
    <p:sldId id="281" r:id="rId23"/>
    <p:sldId id="284" r:id="rId24"/>
    <p:sldId id="285" r:id="rId25"/>
    <p:sldId id="286" r:id="rId26"/>
    <p:sldId id="288" r:id="rId27"/>
    <p:sldId id="289" r:id="rId28"/>
    <p:sldId id="290" r:id="rId29"/>
    <p:sldId id="291" r:id="rId30"/>
    <p:sldId id="292" r:id="rId31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2A93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86" d="100"/>
          <a:sy n="86" d="100"/>
        </p:scale>
        <p:origin x="288" y="39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heme" Target="theme/theme1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4953427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63F9A8-C18E-D810-E172-76014306D7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A4A72F5-51FA-3DA0-BFC8-EB2EBDE3227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E75CF89-98D3-4905-BE8D-551182A522D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ECA2A13-0C5F-95AE-545D-84808545293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4865163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0B5BBE-4854-DF04-3E12-A010A01DD9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13EAE2F-8783-36C2-B35C-EFA9636A63E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5F95DBD-4307-1CCD-E4BB-393157FC136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45F6E56-D842-E71C-74A3-CA185930E58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1630017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1.png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32A4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2011680"/>
            <a:ext cx="5486400" cy="5486400"/>
          </a:xfrm>
          <a:prstGeom prst="ellipse">
            <a:avLst/>
          </a:prstGeom>
          <a:solidFill>
            <a:srgbClr val="0C1D38"/>
          </a:solidFill>
          <a:ln/>
        </p:spPr>
      </p:sp>
      <p:sp>
        <p:nvSpPr>
          <p:cNvPr id="3" name="Shape 1"/>
          <p:cNvSpPr/>
          <p:nvPr/>
        </p:nvSpPr>
        <p:spPr>
          <a:xfrm>
            <a:off x="10332720" y="4206240"/>
            <a:ext cx="3291840" cy="3291840"/>
          </a:xfrm>
          <a:prstGeom prst="ellipse">
            <a:avLst/>
          </a:prstGeom>
          <a:solidFill>
            <a:srgbClr val="1F8A93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822960" y="13716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th-TH" sz="1400" b="1" kern="0" spc="300" dirty="0">
                <a:solidFill>
                  <a:srgbClr val="F2A93B"/>
                </a:solidFill>
                <a:latin typeface="Leelawadee" panose="020B0502040204020203" pitchFamily="34" charset="-34"/>
                <a:cs typeface="Leelawadee" panose="020B0502040204020203" pitchFamily="34" charset="-34"/>
              </a:rPr>
              <a:t>สหกิจศึกษา </a:t>
            </a:r>
            <a:r>
              <a:rPr lang="th-TH" b="1" dirty="0">
                <a:solidFill>
                  <a:srgbClr val="F2A93B"/>
                </a:solidFill>
                <a:latin typeface="Leelawadee" panose="020B0502040204020203" pitchFamily="34" charset="-34"/>
                <a:cs typeface="Leelawadee" panose="020B0502040204020203" pitchFamily="34" charset="-34"/>
              </a:rPr>
              <a:t>• </a:t>
            </a:r>
            <a:r>
              <a:rPr lang="en-US" b="1" dirty="0">
                <a:solidFill>
                  <a:srgbClr val="F2A93B"/>
                </a:solidFill>
                <a:latin typeface="Leelawadee" panose="020B0502040204020203" pitchFamily="34" charset="-34"/>
                <a:cs typeface="Leelawadee" panose="020B0502040204020203" pitchFamily="34" charset="-34"/>
              </a:rPr>
              <a:t>ENGINEERING CO-OP Project</a:t>
            </a:r>
            <a:endParaRPr lang="en-US" sz="1400" b="1" dirty="0">
              <a:solidFill>
                <a:srgbClr val="F2A93B"/>
              </a:solidFill>
              <a:latin typeface="Leelawadee" panose="020B0502040204020203" pitchFamily="34" charset="-34"/>
              <a:cs typeface="Leelawadee" panose="020B0502040204020203" pitchFamily="34" charset="-34"/>
            </a:endParaRPr>
          </a:p>
        </p:txBody>
      </p:sp>
      <p:sp>
        <p:nvSpPr>
          <p:cNvPr id="5" name="Text 3"/>
          <p:cNvSpPr txBox="1"/>
          <p:nvPr/>
        </p:nvSpPr>
        <p:spPr>
          <a:xfrm>
            <a:off x="777240" y="1828800"/>
            <a:ext cx="96012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Intelligent Test Data Simulator</a:t>
            </a:r>
            <a:endParaRPr lang="en-US" sz="44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3154680"/>
            <a:ext cx="8686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800" dirty="0" err="1">
                <a:solidFill>
                  <a:srgbClr val="C9D6E8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ระบบสร้างข้อมูลทดสอบอัจฉริยะสำหรับงานพัฒนาและทดสอบซอฟต์แวร์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822960" y="4343400"/>
            <a:ext cx="2011680" cy="0"/>
          </a:xfrm>
          <a:prstGeom prst="line">
            <a:avLst/>
          </a:prstGeom>
          <a:noFill/>
          <a:ln w="31750">
            <a:solidFill>
              <a:srgbClr val="1F8A93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822960" y="452628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th-TH" sz="1300" dirty="0">
                <a:solidFill>
                  <a:schemeClr val="bg1"/>
                </a:solidFill>
                <a:latin typeface="Leelawadee UI" panose="020B0502040204020203" pitchFamily="34" charset="-34"/>
                <a:cs typeface="Leelawadee UI" panose="020B0502040204020203" pitchFamily="34" charset="-34"/>
              </a:rPr>
              <a:t>บริษัท ไทยสมุทรประกันชีวิต จำกัด (มหาชน)</a:t>
            </a:r>
            <a:endParaRPr lang="en-US" sz="1300" dirty="0">
              <a:solidFill>
                <a:schemeClr val="bg1"/>
              </a:solidFill>
              <a:latin typeface="Leelawadee UI" panose="020B0502040204020203" pitchFamily="34" charset="-34"/>
              <a:cs typeface="Leelawadee UI" panose="020B0502040204020203" pitchFamily="34" charset="-34"/>
            </a:endParaRPr>
          </a:p>
        </p:txBody>
      </p:sp>
      <p:sp>
        <p:nvSpPr>
          <p:cNvPr id="12" name="Text 6">
            <a:extLst>
              <a:ext uri="{FF2B5EF4-FFF2-40B4-BE49-F238E27FC236}">
                <a16:creationId xmlns:a16="http://schemas.microsoft.com/office/drawing/2014/main" id="{AE676712-F51D-99E0-F157-E0785DFD3BA1}"/>
              </a:ext>
            </a:extLst>
          </p:cNvPr>
          <p:cNvSpPr txBox="1"/>
          <p:nvPr/>
        </p:nvSpPr>
        <p:spPr>
          <a:xfrm>
            <a:off x="777240" y="6044565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th-TH" sz="1300" b="1" dirty="0">
                <a:solidFill>
                  <a:srgbClr val="F2A93B"/>
                </a:solidFill>
                <a:latin typeface="Leelawadee" panose="020B0502040204020203" pitchFamily="34" charset="-34"/>
                <a:ea typeface="Leelawadee UI" pitchFamily="34" charset="-122"/>
                <a:cs typeface="Leelawadee" panose="020B0502040204020203" pitchFamily="34" charset="-34"/>
              </a:rPr>
              <a:t>พนักงานที่ปรึกษา </a:t>
            </a:r>
            <a:r>
              <a:rPr lang="en-US" sz="1300" b="1" dirty="0">
                <a:solidFill>
                  <a:srgbClr val="F2A93B"/>
                </a:solidFill>
                <a:latin typeface="Leelawadee" panose="020B0502040204020203" pitchFamily="34" charset="-34"/>
                <a:ea typeface="Leelawadee UI" pitchFamily="34" charset="-122"/>
                <a:cs typeface="Leelawadee" panose="020B0502040204020203" pitchFamily="34" charset="-34"/>
              </a:rPr>
              <a:t>:</a:t>
            </a:r>
            <a:r>
              <a:rPr lang="th-TH" sz="1300" b="1" dirty="0">
                <a:solidFill>
                  <a:srgbClr val="F2A93B"/>
                </a:solidFill>
                <a:latin typeface="Leelawadee" panose="020B0502040204020203" pitchFamily="34" charset="-34"/>
                <a:ea typeface="Leelawadee UI" pitchFamily="34" charset="-122"/>
                <a:cs typeface="Leelawadee" panose="020B0502040204020203" pitchFamily="34" charset="-34"/>
              </a:rPr>
              <a:t> </a:t>
            </a:r>
            <a:r>
              <a:rPr lang="th-TH" sz="1400" dirty="0">
                <a:solidFill>
                  <a:schemeClr val="bg1"/>
                </a:solidFill>
                <a:latin typeface="Leelawadee" panose="020B0502040204020203" pitchFamily="34" charset="-34"/>
                <a:cs typeface="Leelawadee" panose="020B0502040204020203" pitchFamily="34" charset="-34"/>
              </a:rPr>
              <a:t>อนุสรา ภูเขียว ตำแหน่ง เจ้าหน้าที่อาวุโส (</a:t>
            </a:r>
            <a:r>
              <a:rPr lang="th-TH" sz="1400" dirty="0" err="1">
                <a:solidFill>
                  <a:schemeClr val="bg1"/>
                </a:solidFill>
                <a:latin typeface="Leelawadee" panose="020B0502040204020203" pitchFamily="34" charset="-34"/>
                <a:cs typeface="Leelawadee" panose="020B0502040204020203" pitchFamily="34" charset="-34"/>
              </a:rPr>
              <a:t>Senior</a:t>
            </a:r>
            <a:r>
              <a:rPr lang="th-TH" sz="1400" dirty="0">
                <a:solidFill>
                  <a:schemeClr val="bg1"/>
                </a:solidFill>
                <a:latin typeface="Leelawadee" panose="020B0502040204020203" pitchFamily="34" charset="-34"/>
                <a:cs typeface="Leelawadee" panose="020B0502040204020203" pitchFamily="34" charset="-34"/>
              </a:rPr>
              <a:t> </a:t>
            </a:r>
            <a:r>
              <a:rPr lang="th-TH" sz="1400" dirty="0" err="1">
                <a:solidFill>
                  <a:schemeClr val="bg1"/>
                </a:solidFill>
                <a:latin typeface="Leelawadee" panose="020B0502040204020203" pitchFamily="34" charset="-34"/>
                <a:cs typeface="Leelawadee" panose="020B0502040204020203" pitchFamily="34" charset="-34"/>
              </a:rPr>
              <a:t>Officer</a:t>
            </a:r>
            <a:r>
              <a:rPr lang="th-TH" sz="1400" dirty="0">
                <a:solidFill>
                  <a:schemeClr val="bg1"/>
                </a:solidFill>
                <a:latin typeface="Leelawadee" panose="020B0502040204020203" pitchFamily="34" charset="-34"/>
                <a:cs typeface="Leelawadee" panose="020B0502040204020203" pitchFamily="34" charset="-34"/>
              </a:rPr>
              <a:t>)</a:t>
            </a:r>
            <a:endParaRPr lang="en-US" sz="1400" dirty="0">
              <a:solidFill>
                <a:schemeClr val="bg1"/>
              </a:solidFill>
              <a:latin typeface="Leelawadee" panose="020B0502040204020203" pitchFamily="34" charset="-34"/>
              <a:cs typeface="Leelawadee" panose="020B0502040204020203" pitchFamily="34" charset="-34"/>
            </a:endParaRPr>
          </a:p>
        </p:txBody>
      </p:sp>
      <p:sp>
        <p:nvSpPr>
          <p:cNvPr id="16" name="Text 6">
            <a:extLst>
              <a:ext uri="{FF2B5EF4-FFF2-40B4-BE49-F238E27FC236}">
                <a16:creationId xmlns:a16="http://schemas.microsoft.com/office/drawing/2014/main" id="{5EA01E57-74BE-4AA1-250D-9454E5584A96}"/>
              </a:ext>
            </a:extLst>
          </p:cNvPr>
          <p:cNvSpPr txBox="1"/>
          <p:nvPr/>
        </p:nvSpPr>
        <p:spPr>
          <a:xfrm>
            <a:off x="671945" y="539496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th-TH" sz="1300" b="1" dirty="0">
                <a:solidFill>
                  <a:srgbClr val="F2A93B"/>
                </a:solidFill>
                <a:latin typeface="Leelawadee" panose="020B0502040204020203" pitchFamily="34" charset="-34"/>
                <a:ea typeface="Leelawadee UI" pitchFamily="34" charset="-122"/>
                <a:cs typeface="Leelawadee" panose="020B0502040204020203" pitchFamily="34" charset="-34"/>
              </a:rPr>
              <a:t>อาจารย์ที่ปรึกษา</a:t>
            </a:r>
            <a:r>
              <a:rPr lang="en-US" sz="1300" b="1" dirty="0">
                <a:solidFill>
                  <a:srgbClr val="F2A93B"/>
                </a:solidFill>
                <a:latin typeface="Leelawadee" panose="020B0502040204020203" pitchFamily="34" charset="-34"/>
                <a:ea typeface="Leelawadee UI" pitchFamily="34" charset="-122"/>
                <a:cs typeface="Leelawadee" panose="020B0502040204020203" pitchFamily="34" charset="-34"/>
              </a:rPr>
              <a:t> : </a:t>
            </a:r>
            <a:r>
              <a:rPr lang="th-TH" sz="1400" dirty="0">
                <a:solidFill>
                  <a:schemeClr val="bg1"/>
                </a:solidFill>
                <a:latin typeface="Leelawadee" panose="020B0502040204020203" pitchFamily="34" charset="-34"/>
                <a:cs typeface="Leelawadee" panose="020B0502040204020203" pitchFamily="34" charset="-34"/>
              </a:rPr>
              <a:t>ผู้ช่วยศาสตราจารย์ ดร.ยุทธนา เจ</a:t>
            </a:r>
            <a:r>
              <a:rPr lang="th-TH" sz="1400" dirty="0" err="1">
                <a:solidFill>
                  <a:schemeClr val="bg1"/>
                </a:solidFill>
                <a:latin typeface="Leelawadee" panose="020B0502040204020203" pitchFamily="34" charset="-34"/>
                <a:cs typeface="Leelawadee" panose="020B0502040204020203" pitchFamily="34" charset="-34"/>
              </a:rPr>
              <a:t>วจิน</a:t>
            </a:r>
            <a:r>
              <a:rPr lang="th-TH" sz="1400" dirty="0">
                <a:solidFill>
                  <a:schemeClr val="bg1"/>
                </a:solidFill>
                <a:latin typeface="Leelawadee" panose="020B0502040204020203" pitchFamily="34" charset="-34"/>
                <a:cs typeface="Leelawadee" panose="020B0502040204020203" pitchFamily="34" charset="-34"/>
              </a:rPr>
              <a:t>ดา</a:t>
            </a:r>
            <a:endParaRPr lang="en-US" sz="1300" dirty="0">
              <a:solidFill>
                <a:schemeClr val="bg1"/>
              </a:solidFill>
              <a:latin typeface="Leelawadee" panose="020B0502040204020203" pitchFamily="34" charset="-34"/>
              <a:cs typeface="Leelawadee" panose="020B0502040204020203" pitchFamily="34" charset="-34"/>
            </a:endParaRPr>
          </a:p>
        </p:txBody>
      </p:sp>
      <p:sp>
        <p:nvSpPr>
          <p:cNvPr id="18" name="Text 6">
            <a:extLst>
              <a:ext uri="{FF2B5EF4-FFF2-40B4-BE49-F238E27FC236}">
                <a16:creationId xmlns:a16="http://schemas.microsoft.com/office/drawing/2014/main" id="{8B648753-8073-16B2-4B28-AC6AC4A30654}"/>
              </a:ext>
            </a:extLst>
          </p:cNvPr>
          <p:cNvSpPr txBox="1"/>
          <p:nvPr/>
        </p:nvSpPr>
        <p:spPr>
          <a:xfrm>
            <a:off x="864523" y="4919662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00" dirty="0">
                <a:solidFill>
                  <a:schemeClr val="bg1"/>
                </a:solidFill>
                <a:latin typeface="Leelawadee UI" panose="020B0502040204020203" pitchFamily="34" charset="-34"/>
                <a:cs typeface="Leelawadee UI" panose="020B0502040204020203" pitchFamily="34" charset="-34"/>
              </a:rPr>
              <a:t>Software Tester (QA)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 txBox="1"/>
          <p:nvPr/>
        </p:nvSpPr>
        <p:spPr>
          <a:xfrm>
            <a:off x="548640" y="384048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th-TH" sz="1300" b="1" dirty="0">
                <a:solidFill>
                  <a:srgbClr val="1F8A93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PROJECT TIMELINE</a:t>
            </a:r>
            <a:endParaRPr lang="en-US" sz="900" dirty="0"/>
          </a:p>
        </p:txBody>
      </p:sp>
      <p:sp>
        <p:nvSpPr>
          <p:cNvPr id="3" name="Text 3"/>
          <p:cNvSpPr txBox="1"/>
          <p:nvPr/>
        </p:nvSpPr>
        <p:spPr>
          <a:xfrm>
            <a:off x="548640" y="658368"/>
            <a:ext cx="10789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th-TH" sz="3200" b="1" dirty="0">
                <a:solidFill>
                  <a:srgbClr val="132A4D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ภาพรวมแผนการดำเนินงาน (14 สัปดาห์)</a:t>
            </a:r>
            <a:endParaRPr lang="en-US" sz="900" dirty="0"/>
          </a:p>
        </p:txBody>
      </p:sp>
      <p:sp>
        <p:nvSpPr>
          <p:cNvPr id="4" name="Shape 4"/>
          <p:cNvSpPr/>
          <p:nvPr/>
        </p:nvSpPr>
        <p:spPr>
          <a:xfrm>
            <a:off x="548640" y="2029968"/>
            <a:ext cx="10789920" cy="457200"/>
          </a:xfrm>
          <a:prstGeom prst="rect">
            <a:avLst/>
          </a:prstGeom>
          <a:solidFill>
            <a:srgbClr val="F8FAFC"/>
          </a:solidFill>
          <a:ln>
            <a:noFill/>
          </a:ln>
        </p:spPr>
      </p:sp>
      <p:sp>
        <p:nvSpPr>
          <p:cNvPr id="5" name="Shape 5"/>
          <p:cNvSpPr/>
          <p:nvPr/>
        </p:nvSpPr>
        <p:spPr>
          <a:xfrm>
            <a:off x="548640" y="3035808"/>
            <a:ext cx="10789920" cy="457200"/>
          </a:xfrm>
          <a:prstGeom prst="rect">
            <a:avLst/>
          </a:prstGeom>
          <a:solidFill>
            <a:srgbClr val="F8FAFC"/>
          </a:solidFill>
          <a:ln>
            <a:noFill/>
          </a:ln>
        </p:spPr>
      </p:sp>
      <p:sp>
        <p:nvSpPr>
          <p:cNvPr id="6" name="Shape 6"/>
          <p:cNvSpPr/>
          <p:nvPr/>
        </p:nvSpPr>
        <p:spPr>
          <a:xfrm>
            <a:off x="548640" y="4041648"/>
            <a:ext cx="10789920" cy="457200"/>
          </a:xfrm>
          <a:prstGeom prst="rect">
            <a:avLst/>
          </a:prstGeom>
          <a:solidFill>
            <a:srgbClr val="F8FAFC"/>
          </a:solidFill>
          <a:ln>
            <a:noFill/>
          </a:ln>
        </p:spPr>
      </p:sp>
      <p:sp>
        <p:nvSpPr>
          <p:cNvPr id="7" name="Shape 7"/>
          <p:cNvSpPr/>
          <p:nvPr/>
        </p:nvSpPr>
        <p:spPr>
          <a:xfrm>
            <a:off x="548640" y="5047488"/>
            <a:ext cx="10789920" cy="457200"/>
          </a:xfrm>
          <a:prstGeom prst="rect">
            <a:avLst/>
          </a:prstGeom>
          <a:solidFill>
            <a:srgbClr val="F8FAFC"/>
          </a:solidFill>
          <a:ln>
            <a:noFill/>
          </a:ln>
        </p:spPr>
      </p:sp>
      <p:sp>
        <p:nvSpPr>
          <p:cNvPr id="8" name="Text 8"/>
          <p:cNvSpPr txBox="1"/>
          <p:nvPr/>
        </p:nvSpPr>
        <p:spPr>
          <a:xfrm>
            <a:off x="4023360" y="1645920"/>
            <a:ext cx="52251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th-TH" sz="900" b="1" dirty="0">
                <a:solidFill>
                  <a:srgbClr val="6B7280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1</a:t>
            </a:r>
            <a:endParaRPr lang="en-US" sz="900" dirty="0"/>
          </a:p>
        </p:txBody>
      </p:sp>
      <p:sp>
        <p:nvSpPr>
          <p:cNvPr id="9" name="Text 9"/>
          <p:cNvSpPr txBox="1"/>
          <p:nvPr/>
        </p:nvSpPr>
        <p:spPr>
          <a:xfrm>
            <a:off x="4545874" y="1645920"/>
            <a:ext cx="52251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th-TH" sz="900" b="1" dirty="0">
                <a:solidFill>
                  <a:srgbClr val="6B7280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2</a:t>
            </a:r>
            <a:endParaRPr lang="en-US" sz="900" dirty="0"/>
          </a:p>
        </p:txBody>
      </p:sp>
      <p:sp>
        <p:nvSpPr>
          <p:cNvPr id="10" name="Text 10"/>
          <p:cNvSpPr txBox="1"/>
          <p:nvPr/>
        </p:nvSpPr>
        <p:spPr>
          <a:xfrm>
            <a:off x="5068388" y="1645920"/>
            <a:ext cx="52251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th-TH" sz="900" b="1" dirty="0">
                <a:solidFill>
                  <a:srgbClr val="6B7280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3</a:t>
            </a:r>
            <a:endParaRPr lang="en-US" sz="900" dirty="0"/>
          </a:p>
        </p:txBody>
      </p:sp>
      <p:sp>
        <p:nvSpPr>
          <p:cNvPr id="11" name="Text 11"/>
          <p:cNvSpPr txBox="1"/>
          <p:nvPr/>
        </p:nvSpPr>
        <p:spPr>
          <a:xfrm>
            <a:off x="5590902" y="1645920"/>
            <a:ext cx="52251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th-TH" sz="900" b="1" dirty="0">
                <a:solidFill>
                  <a:srgbClr val="6B7280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4</a:t>
            </a:r>
            <a:endParaRPr lang="en-US" sz="900" dirty="0"/>
          </a:p>
        </p:txBody>
      </p:sp>
      <p:sp>
        <p:nvSpPr>
          <p:cNvPr id="12" name="Text 12"/>
          <p:cNvSpPr txBox="1"/>
          <p:nvPr/>
        </p:nvSpPr>
        <p:spPr>
          <a:xfrm>
            <a:off x="6113416" y="1645920"/>
            <a:ext cx="52251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th-TH" sz="900" b="1" dirty="0">
                <a:solidFill>
                  <a:srgbClr val="6B7280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5</a:t>
            </a:r>
            <a:endParaRPr lang="en-US" sz="900" dirty="0"/>
          </a:p>
        </p:txBody>
      </p:sp>
      <p:sp>
        <p:nvSpPr>
          <p:cNvPr id="13" name="Text 13"/>
          <p:cNvSpPr txBox="1"/>
          <p:nvPr/>
        </p:nvSpPr>
        <p:spPr>
          <a:xfrm>
            <a:off x="6635930" y="1645920"/>
            <a:ext cx="52251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th-TH" sz="900" b="1" dirty="0">
                <a:solidFill>
                  <a:srgbClr val="6B7280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6</a:t>
            </a:r>
            <a:endParaRPr lang="en-US" sz="900" dirty="0"/>
          </a:p>
        </p:txBody>
      </p:sp>
      <p:sp>
        <p:nvSpPr>
          <p:cNvPr id="14" name="Text 14"/>
          <p:cNvSpPr txBox="1"/>
          <p:nvPr/>
        </p:nvSpPr>
        <p:spPr>
          <a:xfrm>
            <a:off x="7158444" y="1645920"/>
            <a:ext cx="52251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th-TH" sz="900" b="1" dirty="0">
                <a:solidFill>
                  <a:srgbClr val="6B7280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7</a:t>
            </a:r>
            <a:endParaRPr lang="en-US" sz="900" dirty="0"/>
          </a:p>
        </p:txBody>
      </p:sp>
      <p:sp>
        <p:nvSpPr>
          <p:cNvPr id="15" name="Text 15"/>
          <p:cNvSpPr txBox="1"/>
          <p:nvPr/>
        </p:nvSpPr>
        <p:spPr>
          <a:xfrm>
            <a:off x="7680958" y="1645920"/>
            <a:ext cx="52251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th-TH" sz="900" b="1" dirty="0">
                <a:solidFill>
                  <a:srgbClr val="6B7280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8</a:t>
            </a:r>
            <a:endParaRPr lang="en-US" sz="900" dirty="0"/>
          </a:p>
        </p:txBody>
      </p:sp>
      <p:sp>
        <p:nvSpPr>
          <p:cNvPr id="16" name="Text 16"/>
          <p:cNvSpPr txBox="1"/>
          <p:nvPr/>
        </p:nvSpPr>
        <p:spPr>
          <a:xfrm>
            <a:off x="8203472" y="1645920"/>
            <a:ext cx="52251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th-TH" sz="900" b="1" dirty="0">
                <a:solidFill>
                  <a:srgbClr val="6B7280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9</a:t>
            </a:r>
            <a:endParaRPr lang="en-US" sz="900" dirty="0"/>
          </a:p>
        </p:txBody>
      </p:sp>
      <p:sp>
        <p:nvSpPr>
          <p:cNvPr id="17" name="Text 17"/>
          <p:cNvSpPr txBox="1"/>
          <p:nvPr/>
        </p:nvSpPr>
        <p:spPr>
          <a:xfrm>
            <a:off x="8725986" y="1645920"/>
            <a:ext cx="52251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th-TH" sz="900" b="1" dirty="0">
                <a:solidFill>
                  <a:srgbClr val="6B7280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10</a:t>
            </a:r>
            <a:endParaRPr lang="en-US" sz="900" dirty="0"/>
          </a:p>
        </p:txBody>
      </p:sp>
      <p:sp>
        <p:nvSpPr>
          <p:cNvPr id="18" name="Text 18"/>
          <p:cNvSpPr txBox="1"/>
          <p:nvPr/>
        </p:nvSpPr>
        <p:spPr>
          <a:xfrm>
            <a:off x="9248500" y="1645920"/>
            <a:ext cx="52251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th-TH" sz="900" b="1" dirty="0">
                <a:solidFill>
                  <a:srgbClr val="6B7280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11</a:t>
            </a:r>
            <a:endParaRPr lang="en-US" sz="900" dirty="0"/>
          </a:p>
        </p:txBody>
      </p:sp>
      <p:sp>
        <p:nvSpPr>
          <p:cNvPr id="19" name="Text 19"/>
          <p:cNvSpPr txBox="1"/>
          <p:nvPr/>
        </p:nvSpPr>
        <p:spPr>
          <a:xfrm>
            <a:off x="9771014" y="1645920"/>
            <a:ext cx="52251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th-TH" sz="900" b="1" dirty="0">
                <a:solidFill>
                  <a:srgbClr val="6B7280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12</a:t>
            </a:r>
            <a:endParaRPr lang="en-US" sz="900" dirty="0"/>
          </a:p>
        </p:txBody>
      </p:sp>
      <p:sp>
        <p:nvSpPr>
          <p:cNvPr id="20" name="Text 20"/>
          <p:cNvSpPr txBox="1"/>
          <p:nvPr/>
        </p:nvSpPr>
        <p:spPr>
          <a:xfrm>
            <a:off x="10293528" y="1645920"/>
            <a:ext cx="52251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th-TH" sz="900" b="1" dirty="0">
                <a:solidFill>
                  <a:srgbClr val="6B7280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13</a:t>
            </a:r>
            <a:endParaRPr lang="en-US" sz="900" dirty="0"/>
          </a:p>
        </p:txBody>
      </p:sp>
      <p:sp>
        <p:nvSpPr>
          <p:cNvPr id="21" name="Text 21"/>
          <p:cNvSpPr txBox="1"/>
          <p:nvPr/>
        </p:nvSpPr>
        <p:spPr>
          <a:xfrm>
            <a:off x="10816042" y="1645920"/>
            <a:ext cx="52251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th-TH" sz="900" b="1" dirty="0">
                <a:solidFill>
                  <a:srgbClr val="6B7280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14</a:t>
            </a:r>
            <a:endParaRPr lang="en-US" sz="900" dirty="0"/>
          </a:p>
        </p:txBody>
      </p:sp>
      <p:sp>
        <p:nvSpPr>
          <p:cNvPr id="22" name="Text 22"/>
          <p:cNvSpPr txBox="1"/>
          <p:nvPr/>
        </p:nvSpPr>
        <p:spPr>
          <a:xfrm>
            <a:off x="548640" y="1645920"/>
            <a:ext cx="3337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th-TH" sz="900" b="1" dirty="0">
                <a:solidFill>
                  <a:srgbClr val="6B7280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สัปดาห์ที่</a:t>
            </a:r>
            <a:endParaRPr lang="en-US" sz="900" dirty="0"/>
          </a:p>
        </p:txBody>
      </p:sp>
      <p:sp>
        <p:nvSpPr>
          <p:cNvPr id="23" name="Text 23"/>
          <p:cNvSpPr txBox="1"/>
          <p:nvPr/>
        </p:nvSpPr>
        <p:spPr>
          <a:xfrm>
            <a:off x="548640" y="2029968"/>
            <a:ext cx="3246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th-TH" sz="1050" dirty="0">
                <a:solidFill>
                  <a:srgbClr val="1F2937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ศึกษาระบบงานและวิเคราะห์ปัญหา</a:t>
            </a:r>
            <a:endParaRPr lang="en-US" sz="900" dirty="0"/>
          </a:p>
        </p:txBody>
      </p:sp>
      <p:sp>
        <p:nvSpPr>
          <p:cNvPr id="24" name="Shape 24"/>
          <p:cNvSpPr/>
          <p:nvPr/>
        </p:nvSpPr>
        <p:spPr>
          <a:xfrm>
            <a:off x="4046220" y="2144268"/>
            <a:ext cx="999308" cy="228600"/>
          </a:xfrm>
          <a:prstGeom prst="roundRect">
            <a:avLst>
              <a:gd name="adj" fmla="val 40000"/>
            </a:avLst>
          </a:prstGeom>
          <a:solidFill>
            <a:srgbClr val="132A4D"/>
          </a:solidFill>
          <a:ln>
            <a:noFill/>
          </a:ln>
        </p:spPr>
      </p:sp>
      <p:sp>
        <p:nvSpPr>
          <p:cNvPr id="25" name="Text 25"/>
          <p:cNvSpPr txBox="1"/>
          <p:nvPr/>
        </p:nvSpPr>
        <p:spPr>
          <a:xfrm>
            <a:off x="548640" y="2532888"/>
            <a:ext cx="3246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th-TH" sz="1050" dirty="0">
                <a:solidFill>
                  <a:srgbClr val="1F2937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ศึกษาเทคโนโลยีและออกแบบระบบ</a:t>
            </a:r>
            <a:endParaRPr lang="en-US" sz="900" dirty="0"/>
          </a:p>
        </p:txBody>
      </p:sp>
      <p:sp>
        <p:nvSpPr>
          <p:cNvPr id="26" name="Shape 26"/>
          <p:cNvSpPr/>
          <p:nvPr/>
        </p:nvSpPr>
        <p:spPr>
          <a:xfrm>
            <a:off x="4568734" y="2647188"/>
            <a:ext cx="999308" cy="228600"/>
          </a:xfrm>
          <a:prstGeom prst="roundRect">
            <a:avLst>
              <a:gd name="adj" fmla="val 40000"/>
            </a:avLst>
          </a:prstGeom>
          <a:solidFill>
            <a:srgbClr val="132A4D"/>
          </a:solidFill>
          <a:ln>
            <a:noFill/>
          </a:ln>
        </p:spPr>
      </p:sp>
      <p:sp>
        <p:nvSpPr>
          <p:cNvPr id="27" name="Text 27"/>
          <p:cNvSpPr txBox="1"/>
          <p:nvPr/>
        </p:nvSpPr>
        <p:spPr>
          <a:xfrm>
            <a:off x="548640" y="3035808"/>
            <a:ext cx="3246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th-TH" sz="1050" dirty="0">
                <a:solidFill>
                  <a:srgbClr val="1F2937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พัฒนาระบบต้นแบบ (Prototype)</a:t>
            </a:r>
            <a:endParaRPr lang="en-US" sz="900" dirty="0"/>
          </a:p>
        </p:txBody>
      </p:sp>
      <p:sp>
        <p:nvSpPr>
          <p:cNvPr id="28" name="Shape 28"/>
          <p:cNvSpPr/>
          <p:nvPr/>
        </p:nvSpPr>
        <p:spPr>
          <a:xfrm>
            <a:off x="5091248" y="3150108"/>
            <a:ext cx="1521822" cy="228600"/>
          </a:xfrm>
          <a:prstGeom prst="roundRect">
            <a:avLst>
              <a:gd name="adj" fmla="val 40000"/>
            </a:avLst>
          </a:prstGeom>
          <a:solidFill>
            <a:srgbClr val="1F8A93"/>
          </a:solidFill>
          <a:ln>
            <a:noFill/>
          </a:ln>
        </p:spPr>
      </p:sp>
      <p:sp>
        <p:nvSpPr>
          <p:cNvPr id="29" name="Text 29"/>
          <p:cNvSpPr txBox="1"/>
          <p:nvPr/>
        </p:nvSpPr>
        <p:spPr>
          <a:xfrm>
            <a:off x="548640" y="3538728"/>
            <a:ext cx="3246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th-TH" sz="1050" dirty="0">
                <a:solidFill>
                  <a:srgbClr val="1F2937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พัฒนาฟีเจอร์หลักและเชื่อมต่อ Backend</a:t>
            </a:r>
            <a:endParaRPr lang="en-US" sz="900" dirty="0"/>
          </a:p>
        </p:txBody>
      </p:sp>
      <p:sp>
        <p:nvSpPr>
          <p:cNvPr id="30" name="Shape 30"/>
          <p:cNvSpPr/>
          <p:nvPr/>
        </p:nvSpPr>
        <p:spPr>
          <a:xfrm>
            <a:off x="6136276" y="3653028"/>
            <a:ext cx="1521822" cy="228600"/>
          </a:xfrm>
          <a:prstGeom prst="roundRect">
            <a:avLst>
              <a:gd name="adj" fmla="val 40000"/>
            </a:avLst>
          </a:prstGeom>
          <a:solidFill>
            <a:srgbClr val="1F8A93"/>
          </a:solidFill>
          <a:ln>
            <a:noFill/>
          </a:ln>
        </p:spPr>
      </p:sp>
      <p:sp>
        <p:nvSpPr>
          <p:cNvPr id="31" name="Text 31"/>
          <p:cNvSpPr txBox="1"/>
          <p:nvPr/>
        </p:nvSpPr>
        <p:spPr>
          <a:xfrm>
            <a:off x="548640" y="4041648"/>
            <a:ext cx="3246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th-TH" sz="1050" dirty="0">
                <a:solidFill>
                  <a:srgbClr val="1F2937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ทดสอบระบบและแก้ไขข้อบกพร่อง</a:t>
            </a:r>
            <a:endParaRPr lang="en-US" sz="900" dirty="0"/>
          </a:p>
        </p:txBody>
      </p:sp>
      <p:sp>
        <p:nvSpPr>
          <p:cNvPr id="32" name="Shape 32"/>
          <p:cNvSpPr/>
          <p:nvPr/>
        </p:nvSpPr>
        <p:spPr>
          <a:xfrm>
            <a:off x="7181304" y="4155948"/>
            <a:ext cx="3089364" cy="228600"/>
          </a:xfrm>
          <a:prstGeom prst="roundRect">
            <a:avLst>
              <a:gd name="adj" fmla="val 40000"/>
            </a:avLst>
          </a:prstGeom>
          <a:solidFill>
            <a:srgbClr val="F2A93B"/>
          </a:solidFill>
          <a:ln>
            <a:noFill/>
          </a:ln>
        </p:spPr>
      </p:sp>
      <p:sp>
        <p:nvSpPr>
          <p:cNvPr id="33" name="Text 33"/>
          <p:cNvSpPr txBox="1"/>
          <p:nvPr/>
        </p:nvSpPr>
        <p:spPr>
          <a:xfrm>
            <a:off x="548640" y="4544568"/>
            <a:ext cx="3246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th-TH" sz="1050" dirty="0">
                <a:solidFill>
                  <a:srgbClr val="1F2937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พัฒนา Rule-Based Mode (เพิ่มเติม)</a:t>
            </a:r>
            <a:endParaRPr lang="en-US" sz="900" dirty="0"/>
          </a:p>
        </p:txBody>
      </p:sp>
      <p:sp>
        <p:nvSpPr>
          <p:cNvPr id="34" name="Shape 34"/>
          <p:cNvSpPr/>
          <p:nvPr/>
        </p:nvSpPr>
        <p:spPr>
          <a:xfrm>
            <a:off x="9793874" y="4658868"/>
            <a:ext cx="999308" cy="228600"/>
          </a:xfrm>
          <a:prstGeom prst="roundRect">
            <a:avLst>
              <a:gd name="adj" fmla="val 40000"/>
            </a:avLst>
          </a:prstGeom>
          <a:solidFill>
            <a:srgbClr val="1F8A93"/>
          </a:solidFill>
          <a:ln>
            <a:noFill/>
          </a:ln>
        </p:spPr>
      </p:sp>
      <p:sp>
        <p:nvSpPr>
          <p:cNvPr id="35" name="Text 35"/>
          <p:cNvSpPr txBox="1"/>
          <p:nvPr/>
        </p:nvSpPr>
        <p:spPr>
          <a:xfrm>
            <a:off x="548640" y="5047488"/>
            <a:ext cx="3246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th-TH" sz="1050" dirty="0">
                <a:solidFill>
                  <a:srgbClr val="1F2937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จัดทำเอกสารและเตรียมนำเสนอ</a:t>
            </a:r>
            <a:endParaRPr lang="en-US" sz="900" dirty="0"/>
          </a:p>
        </p:txBody>
      </p:sp>
      <p:sp>
        <p:nvSpPr>
          <p:cNvPr id="36" name="Shape 36"/>
          <p:cNvSpPr/>
          <p:nvPr/>
        </p:nvSpPr>
        <p:spPr>
          <a:xfrm>
            <a:off x="10316388" y="5161788"/>
            <a:ext cx="999308" cy="228600"/>
          </a:xfrm>
          <a:prstGeom prst="roundRect">
            <a:avLst>
              <a:gd name="adj" fmla="val 40000"/>
            </a:avLst>
          </a:prstGeom>
          <a:solidFill>
            <a:srgbClr val="132A4D"/>
          </a:solidFill>
          <a:ln>
            <a:noFill/>
          </a:ln>
        </p:spPr>
      </p:sp>
      <p:sp>
        <p:nvSpPr>
          <p:cNvPr id="37" name="Shape 37"/>
          <p:cNvSpPr/>
          <p:nvPr/>
        </p:nvSpPr>
        <p:spPr>
          <a:xfrm>
            <a:off x="548640" y="5678424"/>
            <a:ext cx="182880" cy="182880"/>
          </a:xfrm>
          <a:prstGeom prst="roundRect">
            <a:avLst>
              <a:gd name="adj" fmla="val 30000"/>
            </a:avLst>
          </a:prstGeom>
          <a:solidFill>
            <a:srgbClr val="132A4D"/>
          </a:solidFill>
          <a:ln>
            <a:noFill/>
          </a:ln>
        </p:spPr>
      </p:sp>
      <p:sp>
        <p:nvSpPr>
          <p:cNvPr id="38" name="Text 38"/>
          <p:cNvSpPr txBox="1"/>
          <p:nvPr/>
        </p:nvSpPr>
        <p:spPr>
          <a:xfrm>
            <a:off x="800100" y="5650992"/>
            <a:ext cx="2103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th-TH" sz="950" dirty="0">
                <a:solidFill>
                  <a:srgbClr val="6B7280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ศึกษาและออกแบบ</a:t>
            </a:r>
            <a:endParaRPr lang="en-US" sz="900" dirty="0"/>
          </a:p>
        </p:txBody>
      </p:sp>
      <p:sp>
        <p:nvSpPr>
          <p:cNvPr id="39" name="Shape 39"/>
          <p:cNvSpPr/>
          <p:nvPr/>
        </p:nvSpPr>
        <p:spPr>
          <a:xfrm>
            <a:off x="3017520" y="5678424"/>
            <a:ext cx="182880" cy="182880"/>
          </a:xfrm>
          <a:prstGeom prst="roundRect">
            <a:avLst>
              <a:gd name="adj" fmla="val 30000"/>
            </a:avLst>
          </a:prstGeom>
          <a:solidFill>
            <a:srgbClr val="1F8A93"/>
          </a:solidFill>
          <a:ln>
            <a:noFill/>
          </a:ln>
        </p:spPr>
      </p:sp>
      <p:sp>
        <p:nvSpPr>
          <p:cNvPr id="40" name="Text 40"/>
          <p:cNvSpPr txBox="1"/>
          <p:nvPr/>
        </p:nvSpPr>
        <p:spPr>
          <a:xfrm>
            <a:off x="3268980" y="5650992"/>
            <a:ext cx="2103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th-TH" sz="950" dirty="0">
                <a:solidFill>
                  <a:srgbClr val="6B7280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พัฒนาระบบ</a:t>
            </a:r>
            <a:endParaRPr lang="en-US" sz="900" dirty="0"/>
          </a:p>
        </p:txBody>
      </p:sp>
      <p:sp>
        <p:nvSpPr>
          <p:cNvPr id="41" name="Shape 41"/>
          <p:cNvSpPr/>
          <p:nvPr/>
        </p:nvSpPr>
        <p:spPr>
          <a:xfrm>
            <a:off x="5486400" y="5678424"/>
            <a:ext cx="182880" cy="182880"/>
          </a:xfrm>
          <a:prstGeom prst="roundRect">
            <a:avLst>
              <a:gd name="adj" fmla="val 30000"/>
            </a:avLst>
          </a:prstGeom>
          <a:solidFill>
            <a:srgbClr val="F2A93B"/>
          </a:solidFill>
          <a:ln>
            <a:noFill/>
          </a:ln>
        </p:spPr>
      </p:sp>
      <p:sp>
        <p:nvSpPr>
          <p:cNvPr id="42" name="Text 42"/>
          <p:cNvSpPr txBox="1"/>
          <p:nvPr/>
        </p:nvSpPr>
        <p:spPr>
          <a:xfrm>
            <a:off x="5737860" y="5650992"/>
            <a:ext cx="2103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th-TH" sz="950" dirty="0">
                <a:solidFill>
                  <a:srgbClr val="6B7280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ทดสอบและแก้ไข</a:t>
            </a:r>
            <a:endParaRPr lang="en-US" sz="900" dirty="0"/>
          </a:p>
        </p:txBody>
      </p:sp>
      <p:sp>
        <p:nvSpPr>
          <p:cNvPr id="43" name="Text 43"/>
          <p:cNvSpPr txBox="1"/>
          <p:nvPr/>
        </p:nvSpPr>
        <p:spPr>
          <a:xfrm>
            <a:off x="548640" y="6007608"/>
            <a:ext cx="10789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th-TH" sz="1000" i="1" dirty="0">
                <a:solidFill>
                  <a:srgbClr val="6B7280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ระยะเวลาปฏิบัติงานสหกิจศึกษา 14 สัปดาห์ (มิถุนายน – กันยายน 2569) พัฒนาแบบ Iterative — ทดสอบและแก้ไขควบคู่ไปกับการพัฒนาในแต่ละรอบ</a:t>
            </a:r>
            <a:endParaRPr lang="en-US" sz="900" dirty="0"/>
          </a:p>
        </p:txBody>
      </p:sp>
      <p:sp>
        <p:nvSpPr>
          <p:cNvPr id="44" name="Text 44"/>
          <p:cNvSpPr txBox="1"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th-TH" sz="1000" dirty="0">
                <a:solidFill>
                  <a:srgbClr val="6B7280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Intelligent Test Data Simulator</a:t>
            </a:r>
            <a:endParaRPr lang="en-US" sz="900" dirty="0"/>
          </a:p>
        </p:txBody>
      </p:sp>
      <p:sp>
        <p:nvSpPr>
          <p:cNvPr id="45" name="Text 45"/>
          <p:cNvSpPr txBox="1"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th-TH" sz="1000" dirty="0">
                <a:solidFill>
                  <a:srgbClr val="6B7280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 txBox="1"/>
          <p:nvPr/>
        </p:nvSpPr>
        <p:spPr>
          <a:xfrm>
            <a:off x="548640" y="384048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th-TH" sz="1300" b="1" spc="200" dirty="0">
                <a:solidFill>
                  <a:srgbClr val="1F8A93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AGENDA</a:t>
            </a:r>
            <a:endParaRPr lang="en-US" sz="1000" dirty="0"/>
          </a:p>
        </p:txBody>
      </p:sp>
      <p:sp>
        <p:nvSpPr>
          <p:cNvPr id="3" name="Text 3"/>
          <p:cNvSpPr txBox="1"/>
          <p:nvPr/>
        </p:nvSpPr>
        <p:spPr>
          <a:xfrm>
            <a:off x="548640" y="658368"/>
            <a:ext cx="10789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th-TH" sz="3200" b="1" dirty="0">
                <a:solidFill>
                  <a:srgbClr val="132A4D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หัวข้อการนำเสนอ</a:t>
            </a:r>
            <a:endParaRPr lang="en-US" sz="1000" dirty="0"/>
          </a:p>
        </p:txBody>
      </p:sp>
      <p:sp>
        <p:nvSpPr>
          <p:cNvPr id="4" name="Card 4"/>
          <p:cNvSpPr/>
          <p:nvPr/>
        </p:nvSpPr>
        <p:spPr>
          <a:xfrm>
            <a:off x="548640" y="1783080"/>
            <a:ext cx="5166360" cy="131064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</p:sp>
      <p:sp>
        <p:nvSpPr>
          <p:cNvPr id="5" name="Text 5"/>
          <p:cNvSpPr txBox="1"/>
          <p:nvPr/>
        </p:nvSpPr>
        <p:spPr>
          <a:xfrm>
            <a:off x="822960" y="1783080"/>
            <a:ext cx="731520" cy="1310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th-TH" sz="2800" b="1" dirty="0">
                <a:solidFill>
                  <a:srgbClr val="1F8A93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01</a:t>
            </a:r>
            <a:endParaRPr lang="en-US" sz="1000" dirty="0"/>
          </a:p>
        </p:txBody>
      </p:sp>
      <p:sp>
        <p:nvSpPr>
          <p:cNvPr id="6" name="Text 6"/>
          <p:cNvSpPr txBox="1"/>
          <p:nvPr/>
        </p:nvSpPr>
        <p:spPr>
          <a:xfrm>
            <a:off x="1645920" y="2057400"/>
            <a:ext cx="3794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th-TH" sz="1600" b="1" dirty="0">
                <a:solidFill>
                  <a:srgbClr val="132A4D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บทนำ</a:t>
            </a:r>
            <a:endParaRPr lang="en-US" sz="1000" dirty="0"/>
          </a:p>
        </p:txBody>
      </p:sp>
      <p:sp>
        <p:nvSpPr>
          <p:cNvPr id="7" name="Text 7"/>
          <p:cNvSpPr txBox="1"/>
          <p:nvPr/>
        </p:nvSpPr>
        <p:spPr>
          <a:xfrm>
            <a:off x="1645920" y="2514600"/>
            <a:ext cx="3794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th-TH" sz="1100" dirty="0">
                <a:solidFill>
                  <a:srgbClr val="6B7280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ที่มา วัตถุประสงค์ และขอบเขตของโครงงาน</a:t>
            </a:r>
            <a:endParaRPr lang="en-US" sz="1000" dirty="0"/>
          </a:p>
        </p:txBody>
      </p:sp>
      <p:sp>
        <p:nvSpPr>
          <p:cNvPr id="8" name="Card 8"/>
          <p:cNvSpPr/>
          <p:nvPr/>
        </p:nvSpPr>
        <p:spPr>
          <a:xfrm>
            <a:off x="6172200" y="1783080"/>
            <a:ext cx="5166360" cy="131064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</p:sp>
      <p:sp>
        <p:nvSpPr>
          <p:cNvPr id="9" name="Text 9"/>
          <p:cNvSpPr txBox="1"/>
          <p:nvPr/>
        </p:nvSpPr>
        <p:spPr>
          <a:xfrm>
            <a:off x="6446520" y="1783080"/>
            <a:ext cx="731520" cy="1310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th-TH" sz="2800" b="1" dirty="0">
                <a:solidFill>
                  <a:srgbClr val="1F8A93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02</a:t>
            </a:r>
            <a:endParaRPr lang="en-US" sz="1000" dirty="0"/>
          </a:p>
        </p:txBody>
      </p:sp>
      <p:sp>
        <p:nvSpPr>
          <p:cNvPr id="10" name="Text 10"/>
          <p:cNvSpPr txBox="1"/>
          <p:nvPr/>
        </p:nvSpPr>
        <p:spPr>
          <a:xfrm>
            <a:off x="7269480" y="2057400"/>
            <a:ext cx="3794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th-TH" sz="1600" b="1" dirty="0">
                <a:solidFill>
                  <a:srgbClr val="132A4D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ระบบและเทคโนโลยี</a:t>
            </a:r>
            <a:endParaRPr lang="en-US" sz="1000" dirty="0"/>
          </a:p>
        </p:txBody>
      </p:sp>
      <p:sp>
        <p:nvSpPr>
          <p:cNvPr id="11" name="Text 11"/>
          <p:cNvSpPr txBox="1"/>
          <p:nvPr/>
        </p:nvSpPr>
        <p:spPr>
          <a:xfrm>
            <a:off x="7269480" y="2514600"/>
            <a:ext cx="3794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th-TH" sz="1100" dirty="0">
                <a:solidFill>
                  <a:srgbClr val="6B7280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สถาปัตยกรรม ความปลอดภัย และผู้ใช้งาน</a:t>
            </a:r>
            <a:endParaRPr lang="en-US" sz="1000" dirty="0"/>
          </a:p>
        </p:txBody>
      </p:sp>
      <p:sp>
        <p:nvSpPr>
          <p:cNvPr id="12" name="Card 12"/>
          <p:cNvSpPr/>
          <p:nvPr/>
        </p:nvSpPr>
        <p:spPr>
          <a:xfrm>
            <a:off x="548640" y="3322320"/>
            <a:ext cx="5166360" cy="131064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</p:sp>
      <p:sp>
        <p:nvSpPr>
          <p:cNvPr id="13" name="Text 13"/>
          <p:cNvSpPr txBox="1"/>
          <p:nvPr/>
        </p:nvSpPr>
        <p:spPr>
          <a:xfrm>
            <a:off x="822960" y="3322320"/>
            <a:ext cx="731520" cy="1310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th-TH" sz="2800" b="1" dirty="0">
                <a:solidFill>
                  <a:srgbClr val="1F8A93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03</a:t>
            </a:r>
            <a:endParaRPr lang="en-US" sz="1000" dirty="0"/>
          </a:p>
        </p:txBody>
      </p:sp>
      <p:sp>
        <p:nvSpPr>
          <p:cNvPr id="14" name="Text 14"/>
          <p:cNvSpPr txBox="1"/>
          <p:nvPr/>
        </p:nvSpPr>
        <p:spPr>
          <a:xfrm>
            <a:off x="1645920" y="3596640"/>
            <a:ext cx="3794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th-TH" sz="1600" b="1" dirty="0">
                <a:solidFill>
                  <a:srgbClr val="132A4D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ฟีเจอร์และกลไกการทำงาน</a:t>
            </a:r>
            <a:endParaRPr lang="en-US" sz="1000" dirty="0"/>
          </a:p>
        </p:txBody>
      </p:sp>
      <p:sp>
        <p:nvSpPr>
          <p:cNvPr id="15" name="Text 15"/>
          <p:cNvSpPr txBox="1"/>
          <p:nvPr/>
        </p:nvSpPr>
        <p:spPr>
          <a:xfrm>
            <a:off x="1645920" y="4053840"/>
            <a:ext cx="3794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th-TH" sz="1100" dirty="0">
                <a:solidFill>
                  <a:srgbClr val="6B7280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ฟีเจอร์หลัก หน้าที่ของ AI และการตรวจคุณภาพข้อมูล</a:t>
            </a:r>
            <a:endParaRPr lang="en-US" sz="1000" dirty="0"/>
          </a:p>
        </p:txBody>
      </p:sp>
      <p:sp>
        <p:nvSpPr>
          <p:cNvPr id="16" name="Card 16"/>
          <p:cNvSpPr/>
          <p:nvPr/>
        </p:nvSpPr>
        <p:spPr>
          <a:xfrm>
            <a:off x="6172200" y="3322320"/>
            <a:ext cx="5166360" cy="131064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</p:sp>
      <p:sp>
        <p:nvSpPr>
          <p:cNvPr id="17" name="Text 17"/>
          <p:cNvSpPr txBox="1"/>
          <p:nvPr/>
        </p:nvSpPr>
        <p:spPr>
          <a:xfrm>
            <a:off x="6446520" y="3322320"/>
            <a:ext cx="731520" cy="1310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th-TH" sz="2800" b="1" dirty="0">
                <a:solidFill>
                  <a:srgbClr val="1F8A93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04</a:t>
            </a:r>
            <a:endParaRPr lang="en-US" sz="1000" dirty="0"/>
          </a:p>
        </p:txBody>
      </p:sp>
      <p:sp>
        <p:nvSpPr>
          <p:cNvPr id="18" name="Text 18"/>
          <p:cNvSpPr txBox="1"/>
          <p:nvPr/>
        </p:nvSpPr>
        <p:spPr>
          <a:xfrm>
            <a:off x="7269480" y="3596640"/>
            <a:ext cx="3794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th-TH" sz="1600" b="1" dirty="0">
                <a:solidFill>
                  <a:srgbClr val="132A4D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หน้าจอและสาธิตการใช้งาน</a:t>
            </a:r>
            <a:endParaRPr lang="en-US" sz="1000" dirty="0"/>
          </a:p>
        </p:txBody>
      </p:sp>
      <p:sp>
        <p:nvSpPr>
          <p:cNvPr id="19" name="Text 19"/>
          <p:cNvSpPr txBox="1"/>
          <p:nvPr/>
        </p:nvSpPr>
        <p:spPr>
          <a:xfrm>
            <a:off x="7269480" y="4053840"/>
            <a:ext cx="3794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th-TH" sz="1100" dirty="0">
                <a:solidFill>
                  <a:srgbClr val="6B7280"/>
                </a:solidFill>
                <a:latin typeface="Leelawadee UI" pitchFamily="34" charset="0"/>
                <a:cs typeface="Leelawadee UI" pitchFamily="34" charset="-120"/>
              </a:rPr>
              <a:t>ตัวอย่างหน้าจอของ </a:t>
            </a:r>
            <a:r>
              <a:rPr lang="en-US" sz="1100" dirty="0">
                <a:solidFill>
                  <a:srgbClr val="6B7280"/>
                </a:solidFill>
                <a:latin typeface="Leelawadee UI" pitchFamily="34" charset="0"/>
                <a:cs typeface="Leelawadee UI" pitchFamily="34" charset="-120"/>
              </a:rPr>
              <a:t>Web App </a:t>
            </a:r>
            <a:r>
              <a:rPr lang="th-TH" sz="1100" dirty="0">
                <a:solidFill>
                  <a:srgbClr val="6B7280"/>
                </a:solidFill>
                <a:latin typeface="Leelawadee UI" pitchFamily="34" charset="0"/>
                <a:cs typeface="Leelawadee UI" pitchFamily="34" charset="-120"/>
              </a:rPr>
              <a:t>จริง</a:t>
            </a:r>
            <a:endParaRPr lang="en-US" sz="1000" dirty="0"/>
          </a:p>
        </p:txBody>
      </p:sp>
      <p:sp>
        <p:nvSpPr>
          <p:cNvPr id="20" name="Card 20"/>
          <p:cNvSpPr/>
          <p:nvPr/>
        </p:nvSpPr>
        <p:spPr>
          <a:xfrm>
            <a:off x="548640" y="4861560"/>
            <a:ext cx="5166360" cy="131064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</p:sp>
      <p:sp>
        <p:nvSpPr>
          <p:cNvPr id="21" name="Text 21"/>
          <p:cNvSpPr txBox="1"/>
          <p:nvPr/>
        </p:nvSpPr>
        <p:spPr>
          <a:xfrm>
            <a:off x="822960" y="4861560"/>
            <a:ext cx="731520" cy="1310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th-TH" sz="2800" b="1" dirty="0">
                <a:solidFill>
                  <a:srgbClr val="1F8A93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05</a:t>
            </a:r>
            <a:endParaRPr lang="en-US" sz="1000" dirty="0"/>
          </a:p>
        </p:txBody>
      </p:sp>
      <p:sp>
        <p:nvSpPr>
          <p:cNvPr id="22" name="Text 22"/>
          <p:cNvSpPr txBox="1"/>
          <p:nvPr/>
        </p:nvSpPr>
        <p:spPr>
          <a:xfrm>
            <a:off x="1645920" y="5135880"/>
            <a:ext cx="3794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th-TH" sz="1600" b="1" dirty="0">
                <a:solidFill>
                  <a:srgbClr val="132A4D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การพัฒนาและทดสอบ</a:t>
            </a:r>
            <a:endParaRPr lang="en-US" sz="1000" dirty="0"/>
          </a:p>
        </p:txBody>
      </p:sp>
      <p:sp>
        <p:nvSpPr>
          <p:cNvPr id="23" name="Text 23"/>
          <p:cNvSpPr txBox="1"/>
          <p:nvPr/>
        </p:nvSpPr>
        <p:spPr>
          <a:xfrm>
            <a:off x="1645920" y="5593080"/>
            <a:ext cx="3794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th-TH" sz="1100" dirty="0">
                <a:solidFill>
                  <a:srgbClr val="6B7280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วิธี การแก้ไขปัญหา และสิ่งที่ได้เรียนรู้</a:t>
            </a:r>
            <a:endParaRPr lang="en-US" sz="1000" dirty="0"/>
          </a:p>
        </p:txBody>
      </p:sp>
      <p:sp>
        <p:nvSpPr>
          <p:cNvPr id="24" name="Card 24"/>
          <p:cNvSpPr/>
          <p:nvPr/>
        </p:nvSpPr>
        <p:spPr>
          <a:xfrm>
            <a:off x="6172200" y="4861560"/>
            <a:ext cx="5166360" cy="131064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</p:sp>
      <p:sp>
        <p:nvSpPr>
          <p:cNvPr id="25" name="Text 25"/>
          <p:cNvSpPr txBox="1"/>
          <p:nvPr/>
        </p:nvSpPr>
        <p:spPr>
          <a:xfrm>
            <a:off x="6446520" y="4861560"/>
            <a:ext cx="731520" cy="1310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th-TH" sz="2800" b="1" dirty="0">
                <a:solidFill>
                  <a:srgbClr val="1F8A93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06</a:t>
            </a:r>
            <a:endParaRPr lang="en-US" sz="1000" dirty="0"/>
          </a:p>
        </p:txBody>
      </p:sp>
      <p:sp>
        <p:nvSpPr>
          <p:cNvPr id="26" name="Text 26"/>
          <p:cNvSpPr txBox="1"/>
          <p:nvPr/>
        </p:nvSpPr>
        <p:spPr>
          <a:xfrm>
            <a:off x="7269480" y="5135880"/>
            <a:ext cx="3794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th-TH" sz="1600" b="1" dirty="0">
                <a:solidFill>
                  <a:srgbClr val="132A4D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ผลลัพธ์และสรุป</a:t>
            </a:r>
            <a:endParaRPr lang="en-US" sz="1000" dirty="0"/>
          </a:p>
        </p:txBody>
      </p:sp>
      <p:sp>
        <p:nvSpPr>
          <p:cNvPr id="27" name="Text 27"/>
          <p:cNvSpPr txBox="1"/>
          <p:nvPr/>
        </p:nvSpPr>
        <p:spPr>
          <a:xfrm>
            <a:off x="7269480" y="5593080"/>
            <a:ext cx="3794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th-TH" sz="1100" dirty="0">
                <a:solidFill>
                  <a:srgbClr val="6B7280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ผลการประเมิน ข้อจำกัด แนวทางพัฒนาต่อ </a:t>
            </a:r>
            <a:endParaRPr lang="en-US" sz="1000" dirty="0"/>
          </a:p>
        </p:txBody>
      </p:sp>
      <p:sp>
        <p:nvSpPr>
          <p:cNvPr id="28" name="Text 28"/>
          <p:cNvSpPr txBox="1"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th-TH" sz="1000" dirty="0">
                <a:solidFill>
                  <a:srgbClr val="6B7280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Intelligent Test Data Simulator</a:t>
            </a:r>
            <a:endParaRPr lang="en-US" sz="1000" dirty="0"/>
          </a:p>
        </p:txBody>
      </p:sp>
      <p:sp>
        <p:nvSpPr>
          <p:cNvPr id="29" name="Text 29"/>
          <p:cNvSpPr txBox="1"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th-TH" sz="1000" dirty="0">
                <a:solidFill>
                  <a:srgbClr val="6B7280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0" name="Text 900"/>
          <p:cNvSpPr txBox="1"/>
          <p:nvPr/>
        </p:nvSpPr>
        <p:spPr>
          <a:xfrm>
            <a:off x="548640" y="320040"/>
            <a:ext cx="685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F8A93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01</a:t>
            </a:r>
            <a:endParaRPr lang="en-US" sz="1000" dirty="0"/>
          </a:p>
        </p:txBody>
      </p:sp>
      <p:sp>
        <p:nvSpPr>
          <p:cNvPr id="901" name="Text 901"/>
          <p:cNvSpPr txBox="1"/>
          <p:nvPr/>
        </p:nvSpPr>
        <p:spPr>
          <a:xfrm>
            <a:off x="1325880" y="384048"/>
            <a:ext cx="8366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spc="200" dirty="0">
                <a:solidFill>
                  <a:srgbClr val="6B7280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BACKGROUND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0789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32A4D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ที่มาและความสำคัญของปัญหา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2089004"/>
            <a:ext cx="5212080" cy="1737360"/>
          </a:xfrm>
          <a:prstGeom prst="roundRect">
            <a:avLst>
              <a:gd name="adj" fmla="val 4211"/>
            </a:avLst>
          </a:prstGeom>
          <a:solidFill>
            <a:srgbClr val="F5F7FA"/>
          </a:solidFill>
          <a:ln/>
          <a:effectLst>
            <a:outerShdw blurRad="76200" dist="25400" dir="5400000" algn="bl" rotWithShape="0">
              <a:srgbClr val="1F2937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22960" y="2363324"/>
            <a:ext cx="502920" cy="502920"/>
          </a:xfrm>
          <a:prstGeom prst="ellipse">
            <a:avLst/>
          </a:prstGeom>
          <a:solidFill>
            <a:srgbClr val="1F8A93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22960" y="2363324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30" b="1" dirty="0">
                <a:solidFill>
                  <a:srgbClr val="FFFFFF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1</a:t>
            </a:r>
            <a:endParaRPr lang="en-US" sz="1430" dirty="0"/>
          </a:p>
        </p:txBody>
      </p:sp>
      <p:sp>
        <p:nvSpPr>
          <p:cNvPr id="7" name="Text 5"/>
          <p:cNvSpPr txBox="1"/>
          <p:nvPr/>
        </p:nvSpPr>
        <p:spPr>
          <a:xfrm>
            <a:off x="1508760" y="2317604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32A4D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งานทดสอบต้องการข้อมูลจำนวนมาก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2957684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การทดสอบระบบซอฟต์แวร์และฐานข้อมูลจำเป็นต้องใช้ข้อมูลทดสอบ (Test Data) ในปริมาณมากและหลากหลายรูปแบบ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126480" y="2089004"/>
            <a:ext cx="5212080" cy="1737360"/>
          </a:xfrm>
          <a:prstGeom prst="roundRect">
            <a:avLst>
              <a:gd name="adj" fmla="val 4211"/>
            </a:avLst>
          </a:prstGeom>
          <a:solidFill>
            <a:srgbClr val="F5F7FA"/>
          </a:solidFill>
          <a:ln/>
          <a:effectLst>
            <a:outerShdw blurRad="76200" dist="25400" dir="5400000" algn="bl" rotWithShape="0">
              <a:srgbClr val="1F2937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400800" y="2363324"/>
            <a:ext cx="502920" cy="502920"/>
          </a:xfrm>
          <a:prstGeom prst="ellipse">
            <a:avLst/>
          </a:prstGeom>
          <a:solidFill>
            <a:srgbClr val="1F8A93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400800" y="2363324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30" b="1" dirty="0">
                <a:solidFill>
                  <a:srgbClr val="FFFFFF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2</a:t>
            </a:r>
            <a:endParaRPr lang="en-US" sz="1430" dirty="0"/>
          </a:p>
        </p:txBody>
      </p:sp>
      <p:sp>
        <p:nvSpPr>
          <p:cNvPr id="12" name="Text 10"/>
          <p:cNvSpPr txBox="1"/>
          <p:nvPr/>
        </p:nvSpPr>
        <p:spPr>
          <a:xfrm>
            <a:off x="7086600" y="2317604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32A4D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การสร้างข้อมูลด้วยมือใช้เวลานาน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6400800" y="2957684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 err="1">
                <a:solidFill>
                  <a:srgbClr val="6B7280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ต้องเสียเวลาพิมพ์</a:t>
            </a:r>
            <a:r>
              <a:rPr lang="en-US" sz="1200" dirty="0">
                <a:solidFill>
                  <a:srgbClr val="6B7280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/</a:t>
            </a:r>
            <a:r>
              <a:rPr lang="en-US" sz="1200" dirty="0" err="1">
                <a:solidFill>
                  <a:srgbClr val="6B7280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สุ่ม</a:t>
            </a:r>
            <a:r>
              <a:rPr lang="th-TH" sz="1200" dirty="0">
                <a:solidFill>
                  <a:srgbClr val="6B7280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สร้าง</a:t>
            </a:r>
            <a:r>
              <a:rPr lang="en-US" sz="1200" dirty="0" err="1">
                <a:solidFill>
                  <a:srgbClr val="6B7280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ข้อมูลเอง</a:t>
            </a:r>
            <a:r>
              <a:rPr lang="en-US" sz="1200" dirty="0">
                <a:solidFill>
                  <a:srgbClr val="6B7280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 ทำให้ล่าช้าและไม่คุ้มค่ากับเวลาที่มี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48640" y="4054964"/>
            <a:ext cx="5212080" cy="1737360"/>
          </a:xfrm>
          <a:prstGeom prst="roundRect">
            <a:avLst>
              <a:gd name="adj" fmla="val 4211"/>
            </a:avLst>
          </a:prstGeom>
          <a:solidFill>
            <a:srgbClr val="F5F7FA"/>
          </a:solidFill>
          <a:ln/>
          <a:effectLst>
            <a:outerShdw blurRad="76200" dist="25400" dir="5400000" algn="bl" rotWithShape="0">
              <a:srgbClr val="1F2937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22960" y="4329284"/>
            <a:ext cx="502920" cy="502920"/>
          </a:xfrm>
          <a:prstGeom prst="ellipse">
            <a:avLst/>
          </a:prstGeom>
          <a:solidFill>
            <a:srgbClr val="1F8A93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822960" y="4329284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30" b="1" dirty="0">
                <a:solidFill>
                  <a:srgbClr val="FFFFFF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3</a:t>
            </a:r>
            <a:endParaRPr lang="en-US" sz="1430" dirty="0"/>
          </a:p>
        </p:txBody>
      </p:sp>
      <p:sp>
        <p:nvSpPr>
          <p:cNvPr id="17" name="Text 15"/>
          <p:cNvSpPr txBox="1"/>
          <p:nvPr/>
        </p:nvSpPr>
        <p:spPr>
          <a:xfrm>
            <a:off x="1508760" y="4283564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32A4D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ข้อมูลมักไม่ครอบคลุมทุกเงื่อนไข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822960" y="4923644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 err="1">
                <a:solidFill>
                  <a:srgbClr val="6B7280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ข้อมูลที่สร้างด้วยมือ</a:t>
            </a:r>
            <a:r>
              <a:rPr lang="th-TH" sz="1200" dirty="0">
                <a:solidFill>
                  <a:srgbClr val="6B7280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อาจ</a:t>
            </a:r>
            <a:r>
              <a:rPr lang="en-US" sz="1200" dirty="0" err="1">
                <a:solidFill>
                  <a:srgbClr val="6B7280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ไม่สมจริงและไม่ครบตามเงื่อนไขทางธุรกิจที่ต้องการทดสอบ</a:t>
            </a:r>
            <a:r>
              <a:rPr lang="en-US" sz="1200" dirty="0">
                <a:solidFill>
                  <a:srgbClr val="6B7280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 </a:t>
            </a:r>
            <a:r>
              <a:rPr lang="th-TH" sz="1200" dirty="0">
                <a:solidFill>
                  <a:srgbClr val="6B7280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เนื่องจาก </a:t>
            </a:r>
            <a:r>
              <a:rPr lang="en-US" sz="1200" dirty="0">
                <a:solidFill>
                  <a:srgbClr val="6B7280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Human Error </a:t>
            </a:r>
            <a:r>
              <a:rPr lang="th-TH" sz="1200" dirty="0">
                <a:solidFill>
                  <a:srgbClr val="6B7280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จากการที่สร้างข้อมูลมากเกินไป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126480" y="4054964"/>
            <a:ext cx="5212080" cy="1737360"/>
          </a:xfrm>
          <a:prstGeom prst="roundRect">
            <a:avLst>
              <a:gd name="adj" fmla="val 4211"/>
            </a:avLst>
          </a:prstGeom>
          <a:solidFill>
            <a:srgbClr val="F5F7FA"/>
          </a:solidFill>
          <a:ln/>
          <a:effectLst>
            <a:outerShdw blurRad="76200" dist="25400" dir="5400000" algn="bl" rotWithShape="0">
              <a:srgbClr val="1F2937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400800" y="4329284"/>
            <a:ext cx="502920" cy="502920"/>
          </a:xfrm>
          <a:prstGeom prst="ellipse">
            <a:avLst/>
          </a:prstGeom>
          <a:solidFill>
            <a:srgbClr val="1F8A93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6400800" y="4329284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30" b="1" dirty="0">
                <a:solidFill>
                  <a:srgbClr val="FFFFFF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4</a:t>
            </a:r>
            <a:endParaRPr lang="en-US" sz="1430" dirty="0"/>
          </a:p>
        </p:txBody>
      </p:sp>
      <p:sp>
        <p:nvSpPr>
          <p:cNvPr id="22" name="Text 20"/>
          <p:cNvSpPr txBox="1"/>
          <p:nvPr/>
        </p:nvSpPr>
        <p:spPr>
          <a:xfrm>
            <a:off x="7086600" y="4283564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32A4D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ต้องรักษาความสัมพันธ์ของข้อมูล</a:t>
            </a:r>
            <a:endParaRPr lang="en-US" sz="1500" dirty="0"/>
          </a:p>
        </p:txBody>
      </p:sp>
      <p:sp>
        <p:nvSpPr>
          <p:cNvPr id="23" name="Text 21"/>
          <p:cNvSpPr txBox="1"/>
          <p:nvPr/>
        </p:nvSpPr>
        <p:spPr>
          <a:xfrm>
            <a:off x="6400800" y="4923644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ข้อมูลในหลายตารางต้องอ้างอิงกันได้จริง (เช่น รหัสพนักงาน) ซึ่งทำได้ยากเมื่อสร้างด้วยมือ</a:t>
            </a:r>
            <a:endParaRPr lang="en-US" sz="1200" dirty="0"/>
          </a:p>
        </p:txBody>
      </p:sp>
      <p:sp>
        <p:nvSpPr>
          <p:cNvPr id="24" name="Text 22"/>
          <p:cNvSpPr txBox="1"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ที่มาและความสำคัญของปัญหา</a:t>
            </a:r>
            <a:endParaRPr lang="en-US" sz="1000" dirty="0"/>
          </a:p>
        </p:txBody>
      </p:sp>
      <p:sp>
        <p:nvSpPr>
          <p:cNvPr id="25" name="Text 23"/>
          <p:cNvSpPr txBox="1"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0" name="Text 900"/>
          <p:cNvSpPr txBox="1"/>
          <p:nvPr/>
        </p:nvSpPr>
        <p:spPr>
          <a:xfrm>
            <a:off x="548640" y="320040"/>
            <a:ext cx="685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F8A93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01</a:t>
            </a:r>
            <a:endParaRPr lang="en-US" sz="1000" dirty="0"/>
          </a:p>
        </p:txBody>
      </p:sp>
      <p:sp>
        <p:nvSpPr>
          <p:cNvPr id="901" name="Text 901"/>
          <p:cNvSpPr txBox="1"/>
          <p:nvPr/>
        </p:nvSpPr>
        <p:spPr>
          <a:xfrm>
            <a:off x="1325880" y="384048"/>
            <a:ext cx="8366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spc="200" dirty="0">
                <a:solidFill>
                  <a:srgbClr val="6B7280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OBJECTIVES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0789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32A4D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วัตถุประสงค์ของโครงงาน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11064240" cy="841248"/>
          </a:xfrm>
          <a:prstGeom prst="roundRect">
            <a:avLst>
              <a:gd name="adj" fmla="val 6522"/>
            </a:avLst>
          </a:prstGeom>
          <a:solidFill>
            <a:srgbClr val="F5F7FA"/>
          </a:solidFill>
          <a:ln/>
        </p:spPr>
      </p:sp>
      <p:sp>
        <p:nvSpPr>
          <p:cNvPr id="5" name="Shape 3"/>
          <p:cNvSpPr/>
          <p:nvPr/>
        </p:nvSpPr>
        <p:spPr>
          <a:xfrm>
            <a:off x="777240" y="1929384"/>
            <a:ext cx="457200" cy="457200"/>
          </a:xfrm>
          <a:prstGeom prst="ellipse">
            <a:avLst/>
          </a:prstGeom>
          <a:solidFill>
            <a:srgbClr val="132A4D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77240" y="192938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✓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1463040" y="1792224"/>
            <a:ext cx="996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1F2937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พัฒนาเว็บแอปพลิเคชันที่ใช้ปัญญาประดิษฐ์ (AI) สร้างข้อมูลทดสอบตามเงื่อนไขที่ผู้ใช้กำหนดได้โดยอัตโนมัติ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48640" y="2632166"/>
            <a:ext cx="11064240" cy="841248"/>
          </a:xfrm>
          <a:prstGeom prst="roundRect">
            <a:avLst>
              <a:gd name="adj" fmla="val 6522"/>
            </a:avLst>
          </a:prstGeom>
          <a:solidFill>
            <a:srgbClr val="FFFFFF"/>
          </a:solidFill>
          <a:ln/>
        </p:spPr>
      </p:sp>
      <p:sp>
        <p:nvSpPr>
          <p:cNvPr id="9" name="Shape 7"/>
          <p:cNvSpPr/>
          <p:nvPr/>
        </p:nvSpPr>
        <p:spPr>
          <a:xfrm>
            <a:off x="777240" y="2843784"/>
            <a:ext cx="457200" cy="457200"/>
          </a:xfrm>
          <a:prstGeom prst="ellipse">
            <a:avLst/>
          </a:prstGeom>
          <a:solidFill>
            <a:srgbClr val="132A4D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777240" y="284378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✓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1463040" y="2706624"/>
            <a:ext cx="996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300" dirty="0" err="1">
                <a:solidFill>
                  <a:srgbClr val="1F2937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ออกแบบโครงสร้างข้อมูล</a:t>
            </a:r>
            <a:r>
              <a:rPr lang="en-US" sz="1300" dirty="0">
                <a:solidFill>
                  <a:srgbClr val="1F2937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 </a:t>
            </a:r>
            <a:r>
              <a:rPr lang="en-US" sz="1300" dirty="0" err="1">
                <a:solidFill>
                  <a:srgbClr val="1F2937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ให้ตรงตาม</a:t>
            </a:r>
            <a:r>
              <a:rPr lang="th-TH" sz="1300" dirty="0">
                <a:solidFill>
                  <a:srgbClr val="1F2937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ความต้องการของ</a:t>
            </a:r>
            <a:r>
              <a:rPr lang="en-US" sz="1300" dirty="0" err="1">
                <a:solidFill>
                  <a:srgbClr val="1F2937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ผู้ใช้</a:t>
            </a:r>
            <a:r>
              <a:rPr lang="en-US" sz="1300" dirty="0">
                <a:solidFill>
                  <a:srgbClr val="1F2937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 ไม่ปล่อยให้ AI ตัดสินใจเองทั้งหมด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48640" y="3566160"/>
            <a:ext cx="11064240" cy="841248"/>
          </a:xfrm>
          <a:prstGeom prst="roundRect">
            <a:avLst>
              <a:gd name="adj" fmla="val 6522"/>
            </a:avLst>
          </a:prstGeom>
          <a:solidFill>
            <a:srgbClr val="F5F7FA"/>
          </a:solidFill>
          <a:ln/>
        </p:spPr>
      </p:sp>
      <p:sp>
        <p:nvSpPr>
          <p:cNvPr id="13" name="Shape 11"/>
          <p:cNvSpPr/>
          <p:nvPr/>
        </p:nvSpPr>
        <p:spPr>
          <a:xfrm>
            <a:off x="777240" y="3758184"/>
            <a:ext cx="457200" cy="457200"/>
          </a:xfrm>
          <a:prstGeom prst="ellipse">
            <a:avLst/>
          </a:prstGeom>
          <a:solidFill>
            <a:srgbClr val="132A4D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777240" y="375818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✓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1463040" y="3621024"/>
            <a:ext cx="996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1F2937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พัฒนาระบบอ้างอิงข้อมูลจริงจากชุดข้อมูลที่เคยบันทึกไว้ก่อนหน้า </a:t>
            </a:r>
            <a:r>
              <a:rPr lang="en-US" sz="1300" dirty="0" err="1">
                <a:solidFill>
                  <a:srgbClr val="1F2937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เพื่อรักษาความสัมพันธ์</a:t>
            </a:r>
            <a:r>
              <a:rPr lang="th-TH" sz="1300" dirty="0">
                <a:solidFill>
                  <a:srgbClr val="1F2937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หรือความต่อเนื่อง</a:t>
            </a:r>
            <a:r>
              <a:rPr lang="en-US" sz="1300" dirty="0" err="1">
                <a:solidFill>
                  <a:srgbClr val="1F2937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ของข้อมูลระหว่างตาราง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48640" y="4480560"/>
            <a:ext cx="11064240" cy="841248"/>
          </a:xfrm>
          <a:prstGeom prst="roundRect">
            <a:avLst>
              <a:gd name="adj" fmla="val 6522"/>
            </a:avLst>
          </a:prstGeom>
          <a:solidFill>
            <a:srgbClr val="FFFFFF"/>
          </a:solidFill>
          <a:ln/>
        </p:spPr>
      </p:sp>
      <p:sp>
        <p:nvSpPr>
          <p:cNvPr id="17" name="Shape 15"/>
          <p:cNvSpPr/>
          <p:nvPr/>
        </p:nvSpPr>
        <p:spPr>
          <a:xfrm>
            <a:off x="777240" y="4672584"/>
            <a:ext cx="457200" cy="457200"/>
          </a:xfrm>
          <a:prstGeom prst="ellipse">
            <a:avLst/>
          </a:prstGeom>
          <a:solidFill>
            <a:srgbClr val="132A4D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777240" y="467258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✓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1463040" y="4535424"/>
            <a:ext cx="996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1F2937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สร้างระบบตรวจสอบคุณภาพข้อมูลอัตโนมัติ ก่อนนำข้อมูลไปใช้งานจริง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548640" y="5394960"/>
            <a:ext cx="11064240" cy="841248"/>
          </a:xfrm>
          <a:prstGeom prst="roundRect">
            <a:avLst>
              <a:gd name="adj" fmla="val 6522"/>
            </a:avLst>
          </a:prstGeom>
          <a:solidFill>
            <a:srgbClr val="F5F7FA"/>
          </a:solidFill>
          <a:ln/>
        </p:spPr>
      </p:sp>
      <p:sp>
        <p:nvSpPr>
          <p:cNvPr id="21" name="Shape 19"/>
          <p:cNvSpPr/>
          <p:nvPr/>
        </p:nvSpPr>
        <p:spPr>
          <a:xfrm>
            <a:off x="777240" y="5586984"/>
            <a:ext cx="457200" cy="457200"/>
          </a:xfrm>
          <a:prstGeom prst="ellipse">
            <a:avLst/>
          </a:prstGeom>
          <a:solidFill>
            <a:srgbClr val="132A4D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777240" y="558698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✓</a:t>
            </a: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1463040" y="5449824"/>
            <a:ext cx="996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300" dirty="0" err="1">
                <a:solidFill>
                  <a:srgbClr val="1F2937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ออกแบบระบบให้รองรับผู้ใช้งานหลายระดับสิทธิ์</a:t>
            </a:r>
            <a:endParaRPr lang="en-US" sz="1300" dirty="0"/>
          </a:p>
        </p:txBody>
      </p:sp>
      <p:sp>
        <p:nvSpPr>
          <p:cNvPr id="24" name="Text 22"/>
          <p:cNvSpPr txBox="1"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วัตถุประสงค์ของโครงงาน</a:t>
            </a:r>
            <a:endParaRPr lang="en-US" sz="1000" dirty="0"/>
          </a:p>
        </p:txBody>
      </p:sp>
      <p:sp>
        <p:nvSpPr>
          <p:cNvPr id="25" name="Text 23"/>
          <p:cNvSpPr txBox="1"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0" name="Text 900"/>
          <p:cNvSpPr txBox="1"/>
          <p:nvPr/>
        </p:nvSpPr>
        <p:spPr>
          <a:xfrm>
            <a:off x="548640" y="320040"/>
            <a:ext cx="685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F8A93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01</a:t>
            </a:r>
            <a:endParaRPr lang="en-US" sz="1000" dirty="0"/>
          </a:p>
        </p:txBody>
      </p:sp>
      <p:sp>
        <p:nvSpPr>
          <p:cNvPr id="901" name="Text 901"/>
          <p:cNvSpPr txBox="1"/>
          <p:nvPr/>
        </p:nvSpPr>
        <p:spPr>
          <a:xfrm>
            <a:off x="1325880" y="384048"/>
            <a:ext cx="8366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spc="200" dirty="0">
                <a:solidFill>
                  <a:srgbClr val="6B7280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SCOPE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0789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32A4D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ขอบเขตของโครงงาน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78308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F8A93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สิ่งที่โครงงานครอบคลุม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6309360" y="178308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6B7280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สิ่งที่อยู่นอกขอบเขต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594360" y="2368296"/>
            <a:ext cx="91440" cy="91440"/>
          </a:xfrm>
          <a:prstGeom prst="ellipse">
            <a:avLst/>
          </a:prstGeom>
          <a:solidFill>
            <a:srgbClr val="1F8A93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868680" y="2212848"/>
            <a:ext cx="4937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F2937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พัฒนาเป็นเว็บแอปพลิเคชัน ใช้งานผ่านเบราว์เซอร์โดยไม่ต้องติดตั้งโปรแกรมเพิ่มเติม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94360" y="3081528"/>
            <a:ext cx="91440" cy="91440"/>
          </a:xfrm>
          <a:prstGeom prst="ellipse">
            <a:avLst/>
          </a:prstGeom>
          <a:solidFill>
            <a:srgbClr val="1F8A93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868680" y="2926080"/>
            <a:ext cx="4937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F2937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ใช้ Google Sheets เป็นฐานข้อมูลหลักในการจัดเก็บผู้ใช้งาน ข้อมูลที่สร้าง และประวัติการทำงาน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594360" y="3794760"/>
            <a:ext cx="91440" cy="91440"/>
          </a:xfrm>
          <a:prstGeom prst="ellipse">
            <a:avLst/>
          </a:prstGeom>
          <a:solidFill>
            <a:srgbClr val="1F8A93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868680" y="3639312"/>
            <a:ext cx="4937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F2937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ใช้ Gemini API เป็นเครื่องมือหลักในการประมวลผลและสร้างข้อมูล (Generative AI)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594360" y="4507992"/>
            <a:ext cx="91440" cy="91440"/>
          </a:xfrm>
          <a:prstGeom prst="ellipse">
            <a:avLst/>
          </a:prstGeom>
          <a:solidFill>
            <a:srgbClr val="1F8A93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868680" y="4352544"/>
            <a:ext cx="4937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 err="1">
                <a:solidFill>
                  <a:srgbClr val="1F2937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รองรับการสร้างข้อมูลได้หลากหลายประเภท</a:t>
            </a:r>
            <a:r>
              <a:rPr lang="en-US" sz="1250" dirty="0">
                <a:solidFill>
                  <a:srgbClr val="1F2937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 </a:t>
            </a:r>
            <a:r>
              <a:rPr lang="en-US" sz="1250" dirty="0" err="1">
                <a:solidFill>
                  <a:srgbClr val="1F2937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ตามเงื่อนไขที่ผู้ใช้ระบุ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594360" y="5221224"/>
            <a:ext cx="91440" cy="91440"/>
          </a:xfrm>
          <a:prstGeom prst="ellipse">
            <a:avLst/>
          </a:prstGeom>
          <a:solidFill>
            <a:srgbClr val="1F8A93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868680" y="5065776"/>
            <a:ext cx="4937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F2937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ส่งออกผลลัพธ์เป็นคำสั่ง SQL เพื่อนำไปใช้งานต่อได้ทันที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355080" y="2368296"/>
            <a:ext cx="91440" cy="91440"/>
          </a:xfrm>
          <a:prstGeom prst="ellipse">
            <a:avLst/>
          </a:prstGeom>
          <a:solidFill>
            <a:srgbClr val="6B7280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6629400" y="2212848"/>
            <a:ext cx="4937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F2937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ไม่เชื่อมต่อหรือเขียนข้อมูลลงฐานข้อมูลจริงของผู้ใช้งานโดยตรง (ส่งออกเป็นไฟล์/คำสั่ง SQL แทน)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6355080" y="3081528"/>
            <a:ext cx="91440" cy="91440"/>
          </a:xfrm>
          <a:prstGeom prst="ellipse">
            <a:avLst/>
          </a:prstGeom>
          <a:solidFill>
            <a:srgbClr val="6B7280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6629400" y="2926080"/>
            <a:ext cx="4937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 err="1">
                <a:solidFill>
                  <a:srgbClr val="1F2937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ไม่ครอบคลุมการจัดการโครงสร้าง</a:t>
            </a:r>
            <a:r>
              <a:rPr lang="th-TH" sz="1250" dirty="0">
                <a:solidFill>
                  <a:srgbClr val="1F2937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ข้อมูล</a:t>
            </a:r>
            <a:r>
              <a:rPr lang="en-US" sz="1250" dirty="0" err="1">
                <a:solidFill>
                  <a:srgbClr val="1F2937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ขนาดใหญ่</a:t>
            </a:r>
            <a:r>
              <a:rPr lang="en-US" sz="1250" dirty="0">
                <a:solidFill>
                  <a:srgbClr val="1F2937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 (Enterprise-scale Infrastructure)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6355080" y="3794760"/>
            <a:ext cx="91440" cy="91440"/>
          </a:xfrm>
          <a:prstGeom prst="ellipse">
            <a:avLst/>
          </a:prstGeom>
          <a:solidFill>
            <a:srgbClr val="6B7280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6629400" y="3639312"/>
            <a:ext cx="4937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 err="1">
                <a:solidFill>
                  <a:srgbClr val="1F2937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ไม่</a:t>
            </a:r>
            <a:r>
              <a:rPr lang="th-TH" sz="1250" dirty="0">
                <a:solidFill>
                  <a:srgbClr val="1F2937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ใช่</a:t>
            </a:r>
            <a:r>
              <a:rPr lang="en-US" sz="1250" dirty="0" err="1">
                <a:solidFill>
                  <a:srgbClr val="1F2937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การพัฒนาโมเดล</a:t>
            </a:r>
            <a:r>
              <a:rPr lang="en-US" sz="1250" dirty="0">
                <a:solidFill>
                  <a:srgbClr val="1F2937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 AI ขึ้นเอง (ใช้บริการ Gemini API)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6080760" y="1783080"/>
            <a:ext cx="0" cy="420624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ขอบเขตของโครงงาน</a:t>
            </a:r>
            <a:endParaRPr lang="en-US" sz="1000" dirty="0"/>
          </a:p>
        </p:txBody>
      </p:sp>
      <p:sp>
        <p:nvSpPr>
          <p:cNvPr id="24" name="Text 22"/>
          <p:cNvSpPr txBox="1"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 txBox="1"/>
          <p:nvPr/>
        </p:nvSpPr>
        <p:spPr>
          <a:xfrm>
            <a:off x="548640" y="320040"/>
            <a:ext cx="685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th-TH" sz="2000" b="1" dirty="0">
                <a:solidFill>
                  <a:srgbClr val="1F8A93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02</a:t>
            </a:r>
            <a:endParaRPr lang="en-US" sz="1000" dirty="0"/>
          </a:p>
        </p:txBody>
      </p:sp>
      <p:sp>
        <p:nvSpPr>
          <p:cNvPr id="3" name="Text 3"/>
          <p:cNvSpPr txBox="1"/>
          <p:nvPr/>
        </p:nvSpPr>
        <p:spPr>
          <a:xfrm>
            <a:off x="1325880" y="384048"/>
            <a:ext cx="8366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th-TH" sz="1100" b="1" spc="200" dirty="0">
                <a:solidFill>
                  <a:srgbClr val="6B7280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SYSTEM ARCHITECTURE</a:t>
            </a:r>
            <a:endParaRPr lang="en-US" sz="1000" dirty="0"/>
          </a:p>
        </p:txBody>
      </p:sp>
      <p:sp>
        <p:nvSpPr>
          <p:cNvPr id="4" name="Text 4"/>
          <p:cNvSpPr txBox="1"/>
          <p:nvPr/>
        </p:nvSpPr>
        <p:spPr>
          <a:xfrm>
            <a:off x="548640" y="658368"/>
            <a:ext cx="10789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th-TH" sz="3200" b="1" dirty="0">
                <a:solidFill>
                  <a:srgbClr val="132A4D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สถาปัตยกรรมระบบ</a:t>
            </a:r>
            <a:endParaRPr lang="en-US" sz="1000" dirty="0"/>
          </a:p>
        </p:txBody>
      </p:sp>
      <p:sp>
        <p:nvSpPr>
          <p:cNvPr id="5" name="Box 5"/>
          <p:cNvSpPr/>
          <p:nvPr/>
        </p:nvSpPr>
        <p:spPr>
          <a:xfrm>
            <a:off x="548640" y="2583180"/>
            <a:ext cx="2560320" cy="1417320"/>
          </a:xfrm>
          <a:prstGeom prst="roundRect">
            <a:avLst>
              <a:gd name="adj" fmla="val 6000"/>
            </a:avLst>
          </a:prstGeom>
          <a:solidFill>
            <a:srgbClr val="132A4D"/>
          </a:solidFill>
          <a:ln>
            <a:noFill/>
          </a:ln>
        </p:spPr>
      </p:sp>
      <p:sp>
        <p:nvSpPr>
          <p:cNvPr id="6" name="Text 6"/>
          <p:cNvSpPr txBox="1"/>
          <p:nvPr/>
        </p:nvSpPr>
        <p:spPr>
          <a:xfrm>
            <a:off x="777240" y="281178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th-TH" sz="1500" b="1" dirty="0">
                <a:solidFill>
                  <a:srgbClr val="FFFFFF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ผู้ใช้งาน</a:t>
            </a:r>
            <a:endParaRPr lang="en-US" sz="1000" dirty="0"/>
          </a:p>
        </p:txBody>
      </p:sp>
      <p:sp>
        <p:nvSpPr>
          <p:cNvPr id="7" name="Text 7"/>
          <p:cNvSpPr txBox="1"/>
          <p:nvPr/>
        </p:nvSpPr>
        <p:spPr>
          <a:xfrm>
            <a:off x="731520" y="322326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18000"/>
              </a:lnSpc>
              <a:buNone/>
            </a:pPr>
            <a:r>
              <a:rPr lang="th-TH" sz="1000" dirty="0">
                <a:solidFill>
                  <a:srgbClr val="C9D6E8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เปิดเว็บแอปผ่านเบราว์เซอร์</a:t>
            </a:r>
            <a:endParaRPr lang="en-US" sz="1000" dirty="0"/>
          </a:p>
          <a:p>
            <a:pPr marL="0" indent="0" algn="ctr">
              <a:lnSpc>
                <a:spcPct val="118000"/>
              </a:lnSpc>
              <a:buNone/>
            </a:pPr>
            <a:r>
              <a:rPr lang="th-TH" sz="1000" dirty="0">
                <a:solidFill>
                  <a:srgbClr val="C9D6E8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โฮสต์บน GitHub Pages</a:t>
            </a:r>
            <a:endParaRPr lang="en-US" sz="1000" dirty="0"/>
          </a:p>
        </p:txBody>
      </p:sp>
      <p:sp>
        <p:nvSpPr>
          <p:cNvPr id="8" name="Box 8"/>
          <p:cNvSpPr/>
          <p:nvPr/>
        </p:nvSpPr>
        <p:spPr>
          <a:xfrm>
            <a:off x="3840480" y="2286000"/>
            <a:ext cx="2743200" cy="2011680"/>
          </a:xfrm>
          <a:prstGeom prst="roundRect">
            <a:avLst>
              <a:gd name="adj" fmla="val 6000"/>
            </a:avLst>
          </a:prstGeom>
          <a:solidFill>
            <a:srgbClr val="1F8A93"/>
          </a:solidFill>
          <a:ln>
            <a:noFill/>
          </a:ln>
        </p:spPr>
      </p:sp>
      <p:sp>
        <p:nvSpPr>
          <p:cNvPr id="9" name="Text 9"/>
          <p:cNvSpPr txBox="1"/>
          <p:nvPr/>
        </p:nvSpPr>
        <p:spPr>
          <a:xfrm>
            <a:off x="4069080" y="251460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th-TH" sz="1500" b="1" dirty="0">
                <a:solidFill>
                  <a:srgbClr val="FFFFFF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ระบบหลังบ้าน</a:t>
            </a:r>
            <a:endParaRPr lang="en-US" sz="1000" dirty="0"/>
          </a:p>
        </p:txBody>
      </p:sp>
      <p:sp>
        <p:nvSpPr>
          <p:cNvPr id="10" name="Text 10"/>
          <p:cNvSpPr txBox="1"/>
          <p:nvPr/>
        </p:nvSpPr>
        <p:spPr>
          <a:xfrm>
            <a:off x="4023360" y="3154680"/>
            <a:ext cx="23774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18000"/>
              </a:lnSpc>
              <a:buNone/>
            </a:pPr>
            <a:r>
              <a:rPr lang="th-TH" sz="1000" dirty="0">
                <a:solidFill>
                  <a:srgbClr val="E4F3F3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รับคำขอ ประมวลผล</a:t>
            </a:r>
            <a:endParaRPr lang="en-US" sz="1000" dirty="0"/>
          </a:p>
          <a:p>
            <a:pPr marL="0" indent="0" algn="ctr">
              <a:lnSpc>
                <a:spcPct val="118000"/>
              </a:lnSpc>
              <a:buNone/>
            </a:pPr>
            <a:r>
              <a:rPr lang="th-TH" sz="1000" dirty="0">
                <a:solidFill>
                  <a:srgbClr val="E4F3F3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และตรวจสอบคุณภาพข้อมูล</a:t>
            </a:r>
            <a:endParaRPr lang="en-US" sz="1000" dirty="0"/>
          </a:p>
        </p:txBody>
      </p:sp>
      <p:sp>
        <p:nvSpPr>
          <p:cNvPr id="11" name="Box 11"/>
          <p:cNvSpPr/>
          <p:nvPr/>
        </p:nvSpPr>
        <p:spPr>
          <a:xfrm>
            <a:off x="7955280" y="2377440"/>
            <a:ext cx="3383280" cy="914400"/>
          </a:xfrm>
          <a:prstGeom prst="roundRect">
            <a:avLst>
              <a:gd name="adj" fmla="val 6000"/>
            </a:avLst>
          </a:prstGeom>
          <a:solidFill>
            <a:srgbClr val="F2A93B"/>
          </a:solidFill>
          <a:ln>
            <a:noFill/>
          </a:ln>
        </p:spPr>
      </p:sp>
      <p:sp>
        <p:nvSpPr>
          <p:cNvPr id="12" name="Text 12"/>
          <p:cNvSpPr txBox="1"/>
          <p:nvPr/>
        </p:nvSpPr>
        <p:spPr>
          <a:xfrm>
            <a:off x="8183880" y="256032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th-TH" sz="1400" b="1" dirty="0">
                <a:solidFill>
                  <a:srgbClr val="0C1D38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Gemini API</a:t>
            </a:r>
            <a:endParaRPr lang="en-US" sz="1000" dirty="0"/>
          </a:p>
        </p:txBody>
      </p:sp>
      <p:sp>
        <p:nvSpPr>
          <p:cNvPr id="13" name="Text 13"/>
          <p:cNvSpPr txBox="1"/>
          <p:nvPr/>
        </p:nvSpPr>
        <p:spPr>
          <a:xfrm>
            <a:off x="8138160" y="2926080"/>
            <a:ext cx="3017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18000"/>
              </a:lnSpc>
              <a:buNone/>
            </a:pPr>
            <a:r>
              <a:rPr lang="th-TH" sz="950" dirty="0">
                <a:solidFill>
                  <a:srgbClr val="5A430F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AI สร้างข้อมูลตามเงื่อนไข</a:t>
            </a:r>
            <a:endParaRPr lang="en-US" sz="1000" dirty="0"/>
          </a:p>
        </p:txBody>
      </p:sp>
      <p:sp>
        <p:nvSpPr>
          <p:cNvPr id="14" name="Box 14"/>
          <p:cNvSpPr/>
          <p:nvPr/>
        </p:nvSpPr>
        <p:spPr>
          <a:xfrm>
            <a:off x="7955280" y="3474720"/>
            <a:ext cx="3383280" cy="914400"/>
          </a:xfrm>
          <a:prstGeom prst="roundRect">
            <a:avLst>
              <a:gd name="adj" fmla="val 6000"/>
            </a:avLst>
          </a:prstGeom>
          <a:solidFill>
            <a:srgbClr val="0C1D38"/>
          </a:solidFill>
          <a:ln>
            <a:noFill/>
          </a:ln>
        </p:spPr>
      </p:sp>
      <p:sp>
        <p:nvSpPr>
          <p:cNvPr id="15" name="Text 15"/>
          <p:cNvSpPr txBox="1"/>
          <p:nvPr/>
        </p:nvSpPr>
        <p:spPr>
          <a:xfrm>
            <a:off x="8183880" y="365760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th-TH" sz="1400" b="1" dirty="0">
                <a:solidFill>
                  <a:srgbClr val="FFFFFF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Google Sheets</a:t>
            </a:r>
            <a:endParaRPr lang="en-US" sz="1000" dirty="0"/>
          </a:p>
        </p:txBody>
      </p:sp>
      <p:sp>
        <p:nvSpPr>
          <p:cNvPr id="16" name="Text 16"/>
          <p:cNvSpPr txBox="1"/>
          <p:nvPr/>
        </p:nvSpPr>
        <p:spPr>
          <a:xfrm>
            <a:off x="8138160" y="4023360"/>
            <a:ext cx="3017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18000"/>
              </a:lnSpc>
              <a:buNone/>
            </a:pPr>
            <a:r>
              <a:rPr lang="th-TH" sz="950" dirty="0">
                <a:solidFill>
                  <a:srgbClr val="C9D6E8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ฐานข้อมูล: ผู้ใช้งาน ชุดข้อมูล ประวัติ</a:t>
            </a:r>
            <a:endParaRPr lang="en-US" sz="1000" dirty="0"/>
          </a:p>
        </p:txBody>
      </p:sp>
      <p:cxnSp>
        <p:nvCxnSpPr>
          <p:cNvPr id="17" name="Arrow 17"/>
          <p:cNvCxnSpPr/>
          <p:nvPr/>
        </p:nvCxnSpPr>
        <p:spPr>
          <a:xfrm>
            <a:off x="3154680" y="3291840"/>
            <a:ext cx="640080" cy="0"/>
          </a:xfrm>
          <a:prstGeom prst="line">
            <a:avLst/>
          </a:prstGeom>
          <a:ln w="19050">
            <a:solidFill>
              <a:srgbClr val="94A3B8"/>
            </a:solidFill>
            <a:round/>
            <a:tailEnd type="triangle" w="med" len="med"/>
          </a:ln>
        </p:spPr>
      </p:cxnSp>
      <p:sp>
        <p:nvSpPr>
          <p:cNvPr id="18" name="Text 18"/>
          <p:cNvSpPr txBox="1"/>
          <p:nvPr/>
        </p:nvSpPr>
        <p:spPr>
          <a:xfrm>
            <a:off x="3108960" y="292608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th-TH" sz="1000" b="1" dirty="0">
                <a:solidFill>
                  <a:srgbClr val="1F2937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① ส่งคำขอ</a:t>
            </a:r>
            <a:endParaRPr lang="en-US" sz="1000" dirty="0"/>
          </a:p>
        </p:txBody>
      </p:sp>
      <p:cxnSp>
        <p:nvCxnSpPr>
          <p:cNvPr id="19" name="Arrow 19"/>
          <p:cNvCxnSpPr/>
          <p:nvPr/>
        </p:nvCxnSpPr>
        <p:spPr>
          <a:xfrm>
            <a:off x="6629400" y="2651760"/>
            <a:ext cx="1280160" cy="0"/>
          </a:xfrm>
          <a:prstGeom prst="line">
            <a:avLst/>
          </a:prstGeom>
          <a:ln w="19050">
            <a:solidFill>
              <a:srgbClr val="94A3B8"/>
            </a:solidFill>
            <a:round/>
            <a:tailEnd type="triangle" w="med" len="med"/>
          </a:ln>
        </p:spPr>
      </p:cxnSp>
      <p:sp>
        <p:nvSpPr>
          <p:cNvPr id="20" name="Text 20"/>
          <p:cNvSpPr txBox="1"/>
          <p:nvPr/>
        </p:nvSpPr>
        <p:spPr>
          <a:xfrm>
            <a:off x="6583680" y="23317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th-TH" sz="950" b="1" dirty="0">
                <a:solidFill>
                  <a:srgbClr val="1F2937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② ให้ AI สร้างข้อมูล</a:t>
            </a:r>
            <a:endParaRPr lang="en-US" sz="1000" dirty="0"/>
          </a:p>
        </p:txBody>
      </p:sp>
      <p:cxnSp>
        <p:nvCxnSpPr>
          <p:cNvPr id="21" name="Arrow 21"/>
          <p:cNvCxnSpPr/>
          <p:nvPr/>
        </p:nvCxnSpPr>
        <p:spPr>
          <a:xfrm flipH="1">
            <a:off x="6629400" y="3017520"/>
            <a:ext cx="1280160" cy="0"/>
          </a:xfrm>
          <a:prstGeom prst="line">
            <a:avLst/>
          </a:prstGeom>
          <a:ln w="19050">
            <a:solidFill>
              <a:srgbClr val="94A3B8"/>
            </a:solidFill>
            <a:round/>
            <a:tailEnd type="triangle" w="med" len="med"/>
          </a:ln>
        </p:spPr>
      </p:cxnSp>
      <p:sp>
        <p:nvSpPr>
          <p:cNvPr id="22" name="Text 22"/>
          <p:cNvSpPr txBox="1"/>
          <p:nvPr/>
        </p:nvSpPr>
        <p:spPr>
          <a:xfrm>
            <a:off x="6583680" y="306324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th-TH" sz="950" b="1" dirty="0">
                <a:solidFill>
                  <a:srgbClr val="1F2937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③ ส่งกลับมาตรวจสอบ</a:t>
            </a:r>
            <a:endParaRPr lang="en-US" sz="1000" dirty="0"/>
          </a:p>
        </p:txBody>
      </p:sp>
      <p:cxnSp>
        <p:nvCxnSpPr>
          <p:cNvPr id="23" name="Arrow 23"/>
          <p:cNvCxnSpPr/>
          <p:nvPr/>
        </p:nvCxnSpPr>
        <p:spPr>
          <a:xfrm>
            <a:off x="6629400" y="3931920"/>
            <a:ext cx="1280160" cy="0"/>
          </a:xfrm>
          <a:prstGeom prst="line">
            <a:avLst/>
          </a:prstGeom>
          <a:ln w="19050">
            <a:solidFill>
              <a:srgbClr val="94A3B8"/>
            </a:solidFill>
            <a:round/>
            <a:headEnd type="triangle" w="med" len="med"/>
            <a:tailEnd type="triangle" w="med" len="med"/>
          </a:ln>
        </p:spPr>
      </p:cxnSp>
      <p:sp>
        <p:nvSpPr>
          <p:cNvPr id="24" name="Text 24"/>
          <p:cNvSpPr txBox="1"/>
          <p:nvPr/>
        </p:nvSpPr>
        <p:spPr>
          <a:xfrm>
            <a:off x="6583680" y="361188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th-TH" sz="950" b="1" dirty="0">
                <a:solidFill>
                  <a:srgbClr val="1F2937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④ อ่าน / บันทึกข้อมูล</a:t>
            </a:r>
            <a:endParaRPr lang="en-US" sz="1000" dirty="0"/>
          </a:p>
        </p:txBody>
      </p:sp>
      <p:cxnSp>
        <p:nvCxnSpPr>
          <p:cNvPr id="25" name="Arrow 25"/>
          <p:cNvCxnSpPr/>
          <p:nvPr/>
        </p:nvCxnSpPr>
        <p:spPr>
          <a:xfrm>
            <a:off x="5212080" y="4297680"/>
            <a:ext cx="0" cy="822960"/>
          </a:xfrm>
          <a:prstGeom prst="line">
            <a:avLst/>
          </a:prstGeom>
          <a:ln w="19050">
            <a:solidFill>
              <a:srgbClr val="94A3B8"/>
            </a:solidFill>
            <a:round/>
          </a:ln>
        </p:spPr>
      </p:cxnSp>
      <p:cxnSp>
        <p:nvCxnSpPr>
          <p:cNvPr id="26" name="Arrow 26"/>
          <p:cNvCxnSpPr/>
          <p:nvPr/>
        </p:nvCxnSpPr>
        <p:spPr>
          <a:xfrm flipH="1">
            <a:off x="1828800" y="5120640"/>
            <a:ext cx="3383280" cy="0"/>
          </a:xfrm>
          <a:prstGeom prst="line">
            <a:avLst/>
          </a:prstGeom>
          <a:ln w="19050">
            <a:solidFill>
              <a:srgbClr val="94A3B8"/>
            </a:solidFill>
            <a:round/>
          </a:ln>
        </p:spPr>
      </p:cxnSp>
      <p:cxnSp>
        <p:nvCxnSpPr>
          <p:cNvPr id="27" name="Arrow 27"/>
          <p:cNvCxnSpPr/>
          <p:nvPr/>
        </p:nvCxnSpPr>
        <p:spPr>
          <a:xfrm flipV="1">
            <a:off x="1828800" y="4046220"/>
            <a:ext cx="0" cy="1074420"/>
          </a:xfrm>
          <a:prstGeom prst="line">
            <a:avLst/>
          </a:prstGeom>
          <a:ln w="19050">
            <a:solidFill>
              <a:srgbClr val="94A3B8"/>
            </a:solidFill>
            <a:round/>
            <a:tailEnd type="triangle" w="med" len="med"/>
          </a:ln>
        </p:spPr>
      </p:cxnSp>
      <p:sp>
        <p:nvSpPr>
          <p:cNvPr id="28" name="Text 28"/>
          <p:cNvSpPr txBox="1"/>
          <p:nvPr/>
        </p:nvSpPr>
        <p:spPr>
          <a:xfrm>
            <a:off x="548640" y="5234940"/>
            <a:ext cx="7406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th-TH" sz="1000" b="1" dirty="0">
                <a:solidFill>
                  <a:srgbClr val="1F2937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⑤ ส่งข้อมูลที่ผ่านการตรวจสอบแล้วกลับไปแสดงผลบนหน้าเว็บ</a:t>
            </a:r>
            <a:endParaRPr lang="en-US" sz="1000" dirty="0"/>
          </a:p>
        </p:txBody>
      </p:sp>
      <p:sp>
        <p:nvSpPr>
          <p:cNvPr id="29" name="Text 29"/>
          <p:cNvSpPr txBox="1"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th-TH" sz="1000" dirty="0">
                <a:solidFill>
                  <a:srgbClr val="6B7280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สถาปัตยกรรมระบบ</a:t>
            </a:r>
            <a:endParaRPr lang="en-US" sz="1000" dirty="0"/>
          </a:p>
        </p:txBody>
      </p:sp>
      <p:sp>
        <p:nvSpPr>
          <p:cNvPr id="30" name="Text 30"/>
          <p:cNvSpPr txBox="1"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th-TH" sz="1000" dirty="0">
                <a:solidFill>
                  <a:srgbClr val="6B7280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 txBox="1"/>
          <p:nvPr/>
        </p:nvSpPr>
        <p:spPr>
          <a:xfrm>
            <a:off x="548640" y="320040"/>
            <a:ext cx="685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th-TH" sz="2000" b="1" dirty="0">
                <a:solidFill>
                  <a:srgbClr val="1F8A93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02</a:t>
            </a:r>
            <a:endParaRPr lang="en-US" sz="1000" dirty="0"/>
          </a:p>
        </p:txBody>
      </p:sp>
      <p:sp>
        <p:nvSpPr>
          <p:cNvPr id="3" name="Text 3"/>
          <p:cNvSpPr txBox="1"/>
          <p:nvPr/>
        </p:nvSpPr>
        <p:spPr>
          <a:xfrm>
            <a:off x="1325880" y="384048"/>
            <a:ext cx="8366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th-TH" sz="1100" b="1" spc="200" dirty="0">
                <a:solidFill>
                  <a:srgbClr val="6B7280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SYSTEM ARCHITECTURE — DETAIL</a:t>
            </a:r>
            <a:endParaRPr lang="en-US" sz="1000" dirty="0"/>
          </a:p>
        </p:txBody>
      </p:sp>
      <p:sp>
        <p:nvSpPr>
          <p:cNvPr id="4" name="Text 4"/>
          <p:cNvSpPr txBox="1"/>
          <p:nvPr/>
        </p:nvSpPr>
        <p:spPr>
          <a:xfrm>
            <a:off x="548640" y="658368"/>
            <a:ext cx="10789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th-TH" sz="3200" b="1" dirty="0">
                <a:solidFill>
                  <a:srgbClr val="132A4D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ขั้นตอนการทำงานเมื่อผู้ใช้งานกดสร้างข้อมูล</a:t>
            </a:r>
            <a:endParaRPr lang="en-US" sz="1000" dirty="0"/>
          </a:p>
        </p:txBody>
      </p:sp>
      <p:sp>
        <p:nvSpPr>
          <p:cNvPr id="5" name="Oval 5"/>
          <p:cNvSpPr/>
          <p:nvPr/>
        </p:nvSpPr>
        <p:spPr>
          <a:xfrm>
            <a:off x="548640" y="1554480"/>
            <a:ext cx="182880" cy="182880"/>
          </a:xfrm>
          <a:prstGeom prst="ellipse">
            <a:avLst/>
          </a:prstGeom>
          <a:solidFill>
            <a:srgbClr val="132A4D"/>
          </a:solidFill>
          <a:ln>
            <a:noFill/>
          </a:ln>
        </p:spPr>
      </p:sp>
      <p:sp>
        <p:nvSpPr>
          <p:cNvPr id="6" name="Text 6"/>
          <p:cNvSpPr txBox="1"/>
          <p:nvPr/>
        </p:nvSpPr>
        <p:spPr>
          <a:xfrm>
            <a:off x="800100" y="1536192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th-TH" sz="1000" dirty="0">
                <a:solidFill>
                  <a:srgbClr val="6B7280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ฝั่งผู้ใช้งาน</a:t>
            </a:r>
            <a:endParaRPr lang="en-US" sz="1000" dirty="0"/>
          </a:p>
        </p:txBody>
      </p:sp>
      <p:sp>
        <p:nvSpPr>
          <p:cNvPr id="7" name="Oval 7"/>
          <p:cNvSpPr/>
          <p:nvPr/>
        </p:nvSpPr>
        <p:spPr>
          <a:xfrm>
            <a:off x="2743200" y="1554480"/>
            <a:ext cx="182880" cy="182880"/>
          </a:xfrm>
          <a:prstGeom prst="ellipse">
            <a:avLst/>
          </a:prstGeom>
          <a:solidFill>
            <a:srgbClr val="1F8A93"/>
          </a:solidFill>
          <a:ln>
            <a:noFill/>
          </a:ln>
        </p:spPr>
      </p:sp>
      <p:sp>
        <p:nvSpPr>
          <p:cNvPr id="8" name="Text 8"/>
          <p:cNvSpPr txBox="1"/>
          <p:nvPr/>
        </p:nvSpPr>
        <p:spPr>
          <a:xfrm>
            <a:off x="2994660" y="1536192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th-TH" sz="1000" dirty="0">
                <a:solidFill>
                  <a:srgbClr val="6B7280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ระบบหลังบ้าน</a:t>
            </a:r>
            <a:endParaRPr lang="en-US" sz="1000" dirty="0"/>
          </a:p>
        </p:txBody>
      </p:sp>
      <p:sp>
        <p:nvSpPr>
          <p:cNvPr id="9" name="Oval 9"/>
          <p:cNvSpPr/>
          <p:nvPr/>
        </p:nvSpPr>
        <p:spPr>
          <a:xfrm>
            <a:off x="4937760" y="1554480"/>
            <a:ext cx="182880" cy="182880"/>
          </a:xfrm>
          <a:prstGeom prst="ellipse">
            <a:avLst/>
          </a:prstGeom>
          <a:solidFill>
            <a:srgbClr val="F2A93B"/>
          </a:solidFill>
          <a:ln>
            <a:noFill/>
          </a:ln>
        </p:spPr>
      </p:sp>
      <p:sp>
        <p:nvSpPr>
          <p:cNvPr id="10" name="Text 10"/>
          <p:cNvSpPr txBox="1"/>
          <p:nvPr/>
        </p:nvSpPr>
        <p:spPr>
          <a:xfrm>
            <a:off x="5189220" y="1536192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th-TH" sz="1000" dirty="0">
                <a:solidFill>
                  <a:srgbClr val="6B7280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บริการภายนอก</a:t>
            </a:r>
            <a:endParaRPr lang="en-US" sz="1000" dirty="0"/>
          </a:p>
        </p:txBody>
      </p:sp>
      <p:sp>
        <p:nvSpPr>
          <p:cNvPr id="11" name="Box 11"/>
          <p:cNvSpPr/>
          <p:nvPr/>
        </p:nvSpPr>
        <p:spPr>
          <a:xfrm>
            <a:off x="548640" y="1920240"/>
            <a:ext cx="3352800" cy="1828800"/>
          </a:xfrm>
          <a:prstGeom prst="roundRect">
            <a:avLst>
              <a:gd name="adj" fmla="val 5000"/>
            </a:avLst>
          </a:prstGeom>
          <a:solidFill>
            <a:srgbClr val="F8FAFC"/>
          </a:solidFill>
          <a:ln>
            <a:noFill/>
          </a:ln>
        </p:spPr>
      </p:sp>
      <p:sp>
        <p:nvSpPr>
          <p:cNvPr id="12" name="Oval 12"/>
          <p:cNvSpPr/>
          <p:nvPr/>
        </p:nvSpPr>
        <p:spPr>
          <a:xfrm>
            <a:off x="822960" y="2148840"/>
            <a:ext cx="548640" cy="548640"/>
          </a:xfrm>
          <a:prstGeom prst="ellipse">
            <a:avLst/>
          </a:prstGeom>
          <a:solidFill>
            <a:srgbClr val="132A4D"/>
          </a:solidFill>
          <a:ln>
            <a:noFill/>
          </a:ln>
        </p:spPr>
      </p:sp>
      <p:sp>
        <p:nvSpPr>
          <p:cNvPr id="13" name="Text 13"/>
          <p:cNvSpPr txBox="1"/>
          <p:nvPr/>
        </p:nvSpPr>
        <p:spPr>
          <a:xfrm>
            <a:off x="822960" y="21488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th-TH" sz="1400" b="1" dirty="0">
                <a:solidFill>
                  <a:srgbClr val="FFFFFF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1</a:t>
            </a:r>
            <a:endParaRPr lang="en-US" sz="1000" dirty="0"/>
          </a:p>
        </p:txBody>
      </p:sp>
      <p:sp>
        <p:nvSpPr>
          <p:cNvPr id="14" name="Text 14"/>
          <p:cNvSpPr txBox="1"/>
          <p:nvPr/>
        </p:nvSpPr>
        <p:spPr>
          <a:xfrm>
            <a:off x="822960" y="2834640"/>
            <a:ext cx="2804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th-TH" sz="1300" b="1" dirty="0">
                <a:solidFill>
                  <a:srgbClr val="132A4D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เปิดหน้าเว็บ</a:t>
            </a:r>
            <a:endParaRPr lang="en-US" sz="1000" dirty="0"/>
          </a:p>
        </p:txBody>
      </p:sp>
      <p:sp>
        <p:nvSpPr>
          <p:cNvPr id="15" name="Text 15"/>
          <p:cNvSpPr txBox="1"/>
          <p:nvPr/>
        </p:nvSpPr>
        <p:spPr>
          <a:xfrm>
            <a:off x="822960" y="3246120"/>
            <a:ext cx="2804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th-TH" sz="1000" dirty="0">
                <a:solidFill>
                  <a:srgbClr val="6B7280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ผู้ใช้งานเปิดเว็บแอปผ่านเบราว์เซอร์ได้ทันที ไม่ต้องติดตั้งโปรแกรมเพิ่ม</a:t>
            </a:r>
            <a:endParaRPr lang="en-US" sz="1000" dirty="0"/>
          </a:p>
        </p:txBody>
      </p:sp>
      <p:cxnSp>
        <p:nvCxnSpPr>
          <p:cNvPr id="16" name="Arrow 16"/>
          <p:cNvCxnSpPr/>
          <p:nvPr/>
        </p:nvCxnSpPr>
        <p:spPr>
          <a:xfrm>
            <a:off x="3970020" y="2834640"/>
            <a:ext cx="228600" cy="0"/>
          </a:xfrm>
          <a:prstGeom prst="line">
            <a:avLst/>
          </a:prstGeom>
          <a:ln w="19050">
            <a:solidFill>
              <a:srgbClr val="94A3B8"/>
            </a:solidFill>
            <a:round/>
            <a:tailEnd type="triangle" w="med" len="med"/>
          </a:ln>
        </p:spPr>
      </p:cxnSp>
      <p:sp>
        <p:nvSpPr>
          <p:cNvPr id="17" name="Box 17"/>
          <p:cNvSpPr/>
          <p:nvPr/>
        </p:nvSpPr>
        <p:spPr>
          <a:xfrm>
            <a:off x="4267200" y="1920240"/>
            <a:ext cx="3352800" cy="1828800"/>
          </a:xfrm>
          <a:prstGeom prst="roundRect">
            <a:avLst>
              <a:gd name="adj" fmla="val 5000"/>
            </a:avLst>
          </a:prstGeom>
          <a:solidFill>
            <a:srgbClr val="F8FAFC"/>
          </a:solidFill>
          <a:ln>
            <a:noFill/>
          </a:ln>
        </p:spPr>
      </p:sp>
      <p:sp>
        <p:nvSpPr>
          <p:cNvPr id="18" name="Oval 18"/>
          <p:cNvSpPr/>
          <p:nvPr/>
        </p:nvSpPr>
        <p:spPr>
          <a:xfrm>
            <a:off x="4541520" y="2148840"/>
            <a:ext cx="548640" cy="548640"/>
          </a:xfrm>
          <a:prstGeom prst="ellipse">
            <a:avLst/>
          </a:prstGeom>
          <a:solidFill>
            <a:srgbClr val="132A4D"/>
          </a:solidFill>
          <a:ln>
            <a:noFill/>
          </a:ln>
        </p:spPr>
      </p:sp>
      <p:sp>
        <p:nvSpPr>
          <p:cNvPr id="19" name="Text 19"/>
          <p:cNvSpPr txBox="1"/>
          <p:nvPr/>
        </p:nvSpPr>
        <p:spPr>
          <a:xfrm>
            <a:off x="4541520" y="21488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th-TH" sz="1400" b="1" dirty="0">
                <a:solidFill>
                  <a:srgbClr val="FFFFFF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2</a:t>
            </a:r>
            <a:endParaRPr lang="en-US" sz="1000" dirty="0"/>
          </a:p>
        </p:txBody>
      </p:sp>
      <p:sp>
        <p:nvSpPr>
          <p:cNvPr id="20" name="Text 20"/>
          <p:cNvSpPr txBox="1"/>
          <p:nvPr/>
        </p:nvSpPr>
        <p:spPr>
          <a:xfrm>
            <a:off x="4541520" y="2834640"/>
            <a:ext cx="2804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th-TH" sz="1300" b="1" dirty="0">
                <a:solidFill>
                  <a:srgbClr val="132A4D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กรอกเงื่อนไขแล้วกดสร้าง</a:t>
            </a:r>
            <a:endParaRPr lang="en-US" sz="1000" dirty="0"/>
          </a:p>
        </p:txBody>
      </p:sp>
      <p:sp>
        <p:nvSpPr>
          <p:cNvPr id="21" name="Text 21"/>
          <p:cNvSpPr txBox="1"/>
          <p:nvPr/>
        </p:nvSpPr>
        <p:spPr>
          <a:xfrm>
            <a:off x="4541520" y="3246120"/>
            <a:ext cx="2804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th-TH" sz="1000" dirty="0">
                <a:solidFill>
                  <a:srgbClr val="6B7280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ระบุประเภทข้อมูล จำนวนแถว และแนบโครงสร้างตาราง แล้วส่งคำขอแบบเข้ารหัส</a:t>
            </a:r>
            <a:endParaRPr lang="en-US" sz="1000" dirty="0"/>
          </a:p>
        </p:txBody>
      </p:sp>
      <p:cxnSp>
        <p:nvCxnSpPr>
          <p:cNvPr id="22" name="Arrow 22"/>
          <p:cNvCxnSpPr/>
          <p:nvPr/>
        </p:nvCxnSpPr>
        <p:spPr>
          <a:xfrm>
            <a:off x="7688580" y="2834640"/>
            <a:ext cx="228600" cy="0"/>
          </a:xfrm>
          <a:prstGeom prst="line">
            <a:avLst/>
          </a:prstGeom>
          <a:ln w="19050">
            <a:solidFill>
              <a:srgbClr val="94A3B8"/>
            </a:solidFill>
            <a:round/>
            <a:tailEnd type="triangle" w="med" len="med"/>
          </a:ln>
        </p:spPr>
      </p:cxnSp>
      <p:sp>
        <p:nvSpPr>
          <p:cNvPr id="23" name="Box 23"/>
          <p:cNvSpPr/>
          <p:nvPr/>
        </p:nvSpPr>
        <p:spPr>
          <a:xfrm>
            <a:off x="7985760" y="1920240"/>
            <a:ext cx="3352800" cy="1828800"/>
          </a:xfrm>
          <a:prstGeom prst="roundRect">
            <a:avLst>
              <a:gd name="adj" fmla="val 5000"/>
            </a:avLst>
          </a:prstGeom>
          <a:solidFill>
            <a:srgbClr val="F8FAFC"/>
          </a:solidFill>
          <a:ln>
            <a:noFill/>
          </a:ln>
        </p:spPr>
      </p:sp>
      <p:sp>
        <p:nvSpPr>
          <p:cNvPr id="24" name="Oval 24"/>
          <p:cNvSpPr/>
          <p:nvPr/>
        </p:nvSpPr>
        <p:spPr>
          <a:xfrm>
            <a:off x="8260080" y="2148840"/>
            <a:ext cx="548640" cy="548640"/>
          </a:xfrm>
          <a:prstGeom prst="ellipse">
            <a:avLst/>
          </a:prstGeom>
          <a:solidFill>
            <a:srgbClr val="1F8A93"/>
          </a:solidFill>
          <a:ln>
            <a:noFill/>
          </a:ln>
        </p:spPr>
      </p:sp>
      <p:sp>
        <p:nvSpPr>
          <p:cNvPr id="25" name="Text 25"/>
          <p:cNvSpPr txBox="1"/>
          <p:nvPr/>
        </p:nvSpPr>
        <p:spPr>
          <a:xfrm>
            <a:off x="8260080" y="21488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th-TH" sz="1400" b="1" dirty="0">
                <a:solidFill>
                  <a:srgbClr val="FFFFFF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3</a:t>
            </a:r>
            <a:endParaRPr lang="en-US" sz="1000" dirty="0"/>
          </a:p>
        </p:txBody>
      </p:sp>
      <p:sp>
        <p:nvSpPr>
          <p:cNvPr id="26" name="Text 26"/>
          <p:cNvSpPr txBox="1"/>
          <p:nvPr/>
        </p:nvSpPr>
        <p:spPr>
          <a:xfrm>
            <a:off x="8260080" y="2834640"/>
            <a:ext cx="2804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th-TH" sz="1300" b="1" dirty="0">
                <a:solidFill>
                  <a:srgbClr val="132A4D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ระบบหลังบ้านรับเงื่อนไขที่ต้องการสร้าง</a:t>
            </a:r>
            <a:endParaRPr lang="en-US" sz="1000" dirty="0"/>
          </a:p>
        </p:txBody>
      </p:sp>
      <p:sp>
        <p:nvSpPr>
          <p:cNvPr id="27" name="Text 27"/>
          <p:cNvSpPr txBox="1"/>
          <p:nvPr/>
        </p:nvSpPr>
        <p:spPr>
          <a:xfrm>
            <a:off x="8260080" y="3246120"/>
            <a:ext cx="2804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8000"/>
              </a:lnSpc>
              <a:buNone/>
            </a:pPr>
            <a:endParaRPr lang="en-US" sz="1000" dirty="0"/>
          </a:p>
        </p:txBody>
      </p:sp>
      <p:sp>
        <p:nvSpPr>
          <p:cNvPr id="28" name="Box 28"/>
          <p:cNvSpPr/>
          <p:nvPr/>
        </p:nvSpPr>
        <p:spPr>
          <a:xfrm>
            <a:off x="548640" y="4023360"/>
            <a:ext cx="3352800" cy="1828800"/>
          </a:xfrm>
          <a:prstGeom prst="roundRect">
            <a:avLst>
              <a:gd name="adj" fmla="val 5000"/>
            </a:avLst>
          </a:prstGeom>
          <a:solidFill>
            <a:srgbClr val="F8FAFC"/>
          </a:solidFill>
          <a:ln>
            <a:noFill/>
          </a:ln>
        </p:spPr>
      </p:sp>
      <p:sp>
        <p:nvSpPr>
          <p:cNvPr id="29" name="Oval 29"/>
          <p:cNvSpPr/>
          <p:nvPr/>
        </p:nvSpPr>
        <p:spPr>
          <a:xfrm>
            <a:off x="822960" y="4251960"/>
            <a:ext cx="548640" cy="548640"/>
          </a:xfrm>
          <a:prstGeom prst="ellipse">
            <a:avLst/>
          </a:prstGeom>
          <a:solidFill>
            <a:srgbClr val="1F8A93"/>
          </a:solidFill>
          <a:ln>
            <a:noFill/>
          </a:ln>
        </p:spPr>
      </p:sp>
      <p:sp>
        <p:nvSpPr>
          <p:cNvPr id="30" name="Text 30"/>
          <p:cNvSpPr txBox="1"/>
          <p:nvPr/>
        </p:nvSpPr>
        <p:spPr>
          <a:xfrm>
            <a:off x="822960" y="42519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th-TH" sz="1400" b="1" dirty="0">
                <a:solidFill>
                  <a:srgbClr val="FFFFFF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4</a:t>
            </a:r>
            <a:endParaRPr lang="en-US" sz="1000" dirty="0"/>
          </a:p>
        </p:txBody>
      </p:sp>
      <p:sp>
        <p:nvSpPr>
          <p:cNvPr id="31" name="Text 31"/>
          <p:cNvSpPr txBox="1"/>
          <p:nvPr/>
        </p:nvSpPr>
        <p:spPr>
          <a:xfrm>
            <a:off x="822960" y="4937760"/>
            <a:ext cx="2804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th-TH" sz="1300" b="1" dirty="0">
                <a:solidFill>
                  <a:srgbClr val="132A4D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แยกประเภทของเงื่อนไขที่ต้องการสร้าง</a:t>
            </a:r>
            <a:endParaRPr lang="en-US" sz="1000" dirty="0"/>
          </a:p>
        </p:txBody>
      </p:sp>
      <p:sp>
        <p:nvSpPr>
          <p:cNvPr id="32" name="Text 32"/>
          <p:cNvSpPr txBox="1"/>
          <p:nvPr/>
        </p:nvSpPr>
        <p:spPr>
          <a:xfrm>
            <a:off x="822960" y="5349240"/>
            <a:ext cx="2804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18000"/>
              </a:lnSpc>
            </a:pPr>
            <a:r>
              <a:rPr lang="th-TH" sz="1000" dirty="0">
                <a:solidFill>
                  <a:srgbClr val="6B7280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ระบบตรวจวเงื่อนไขเป็นประเภท </a:t>
            </a:r>
            <a:r>
              <a:rPr lang="en-US" sz="1000" b="1" dirty="0">
                <a:solidFill>
                  <a:srgbClr val="132A4D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Rule-Based</a:t>
            </a:r>
            <a:r>
              <a:rPr lang="th-TH" sz="1000" b="1" dirty="0">
                <a:solidFill>
                  <a:srgbClr val="132A4D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 </a:t>
            </a:r>
            <a:r>
              <a:rPr lang="th-TH" sz="1000" dirty="0">
                <a:solidFill>
                  <a:srgbClr val="132A4D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หรือ </a:t>
            </a:r>
            <a:r>
              <a:rPr lang="en-US" sz="1000" b="1" dirty="0">
                <a:solidFill>
                  <a:srgbClr val="132A4D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Legacy Mode</a:t>
            </a:r>
            <a:r>
              <a:rPr lang="th-TH" sz="1000" dirty="0">
                <a:solidFill>
                  <a:srgbClr val="6B7280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 </a:t>
            </a:r>
            <a:endParaRPr lang="en-US" sz="1000" dirty="0"/>
          </a:p>
        </p:txBody>
      </p:sp>
      <p:cxnSp>
        <p:nvCxnSpPr>
          <p:cNvPr id="33" name="Arrow 33"/>
          <p:cNvCxnSpPr/>
          <p:nvPr/>
        </p:nvCxnSpPr>
        <p:spPr>
          <a:xfrm>
            <a:off x="3970020" y="4937760"/>
            <a:ext cx="228600" cy="0"/>
          </a:xfrm>
          <a:prstGeom prst="line">
            <a:avLst/>
          </a:prstGeom>
          <a:ln w="19050">
            <a:solidFill>
              <a:srgbClr val="94A3B8"/>
            </a:solidFill>
            <a:round/>
            <a:tailEnd type="triangle" w="med" len="med"/>
          </a:ln>
        </p:spPr>
      </p:cxnSp>
      <p:sp>
        <p:nvSpPr>
          <p:cNvPr id="34" name="Box 34"/>
          <p:cNvSpPr/>
          <p:nvPr/>
        </p:nvSpPr>
        <p:spPr>
          <a:xfrm>
            <a:off x="4267200" y="4023360"/>
            <a:ext cx="3352800" cy="1828800"/>
          </a:xfrm>
          <a:prstGeom prst="roundRect">
            <a:avLst>
              <a:gd name="adj" fmla="val 5000"/>
            </a:avLst>
          </a:prstGeom>
          <a:solidFill>
            <a:srgbClr val="F8FAFC"/>
          </a:solidFill>
          <a:ln>
            <a:noFill/>
          </a:ln>
        </p:spPr>
      </p:sp>
      <p:sp>
        <p:nvSpPr>
          <p:cNvPr id="35" name="Oval 35"/>
          <p:cNvSpPr/>
          <p:nvPr/>
        </p:nvSpPr>
        <p:spPr>
          <a:xfrm>
            <a:off x="4541520" y="4251960"/>
            <a:ext cx="548640" cy="548640"/>
          </a:xfrm>
          <a:prstGeom prst="ellipse">
            <a:avLst/>
          </a:prstGeom>
          <a:solidFill>
            <a:srgbClr val="F2A93B"/>
          </a:solidFill>
          <a:ln>
            <a:noFill/>
          </a:ln>
        </p:spPr>
      </p:sp>
      <p:sp>
        <p:nvSpPr>
          <p:cNvPr id="36" name="Text 36"/>
          <p:cNvSpPr txBox="1"/>
          <p:nvPr/>
        </p:nvSpPr>
        <p:spPr>
          <a:xfrm>
            <a:off x="4541520" y="42519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th-TH" sz="1400" b="1" dirty="0">
                <a:solidFill>
                  <a:srgbClr val="FFFFFF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5</a:t>
            </a:r>
            <a:endParaRPr lang="en-US" sz="1000" dirty="0"/>
          </a:p>
        </p:txBody>
      </p:sp>
      <p:sp>
        <p:nvSpPr>
          <p:cNvPr id="37" name="Text 37"/>
          <p:cNvSpPr txBox="1"/>
          <p:nvPr/>
        </p:nvSpPr>
        <p:spPr>
          <a:xfrm>
            <a:off x="4541520" y="4937760"/>
            <a:ext cx="2804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th-TH" sz="1300" b="1" dirty="0">
                <a:solidFill>
                  <a:srgbClr val="132A4D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เรียกใช้ AI และฐานข้อมูล</a:t>
            </a:r>
            <a:endParaRPr lang="en-US" sz="1000" dirty="0"/>
          </a:p>
        </p:txBody>
      </p:sp>
      <p:sp>
        <p:nvSpPr>
          <p:cNvPr id="38" name="Text 38"/>
          <p:cNvSpPr txBox="1"/>
          <p:nvPr/>
        </p:nvSpPr>
        <p:spPr>
          <a:xfrm>
            <a:off x="4541520" y="5349240"/>
            <a:ext cx="2804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th-TH" sz="1000" dirty="0">
                <a:solidFill>
                  <a:srgbClr val="6B7280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ส่งเงื่อนไขให้ Gemini สร้างข้อมูล และอ่านหรือบันทึกข้อมูลลงใน Google Sheets</a:t>
            </a:r>
            <a:endParaRPr lang="en-US" sz="1000" dirty="0"/>
          </a:p>
        </p:txBody>
      </p:sp>
      <p:cxnSp>
        <p:nvCxnSpPr>
          <p:cNvPr id="39" name="Arrow 39"/>
          <p:cNvCxnSpPr/>
          <p:nvPr/>
        </p:nvCxnSpPr>
        <p:spPr>
          <a:xfrm>
            <a:off x="7688580" y="4937760"/>
            <a:ext cx="228600" cy="0"/>
          </a:xfrm>
          <a:prstGeom prst="line">
            <a:avLst/>
          </a:prstGeom>
          <a:ln w="19050">
            <a:solidFill>
              <a:srgbClr val="94A3B8"/>
            </a:solidFill>
            <a:round/>
            <a:tailEnd type="triangle" w="med" len="med"/>
          </a:ln>
        </p:spPr>
      </p:cxnSp>
      <p:sp>
        <p:nvSpPr>
          <p:cNvPr id="40" name="Box 40"/>
          <p:cNvSpPr/>
          <p:nvPr/>
        </p:nvSpPr>
        <p:spPr>
          <a:xfrm>
            <a:off x="7985760" y="4023360"/>
            <a:ext cx="3352800" cy="1828800"/>
          </a:xfrm>
          <a:prstGeom prst="roundRect">
            <a:avLst>
              <a:gd name="adj" fmla="val 5000"/>
            </a:avLst>
          </a:prstGeom>
          <a:solidFill>
            <a:srgbClr val="F8FAFC"/>
          </a:solidFill>
          <a:ln>
            <a:noFill/>
          </a:ln>
        </p:spPr>
      </p:sp>
      <p:sp>
        <p:nvSpPr>
          <p:cNvPr id="41" name="Oval 41"/>
          <p:cNvSpPr/>
          <p:nvPr/>
        </p:nvSpPr>
        <p:spPr>
          <a:xfrm>
            <a:off x="8260080" y="4251960"/>
            <a:ext cx="548640" cy="548640"/>
          </a:xfrm>
          <a:prstGeom prst="ellipse">
            <a:avLst/>
          </a:prstGeom>
          <a:solidFill>
            <a:srgbClr val="132A4D"/>
          </a:solidFill>
          <a:ln>
            <a:noFill/>
          </a:ln>
        </p:spPr>
      </p:sp>
      <p:sp>
        <p:nvSpPr>
          <p:cNvPr id="42" name="Text 42"/>
          <p:cNvSpPr txBox="1"/>
          <p:nvPr/>
        </p:nvSpPr>
        <p:spPr>
          <a:xfrm>
            <a:off x="8260080" y="42519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th-TH" sz="1400" b="1" dirty="0">
                <a:solidFill>
                  <a:srgbClr val="FFFFFF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6</a:t>
            </a:r>
            <a:endParaRPr lang="en-US" sz="1000" dirty="0"/>
          </a:p>
        </p:txBody>
      </p:sp>
      <p:sp>
        <p:nvSpPr>
          <p:cNvPr id="43" name="Text 43"/>
          <p:cNvSpPr txBox="1"/>
          <p:nvPr/>
        </p:nvSpPr>
        <p:spPr>
          <a:xfrm>
            <a:off x="8260080" y="4937760"/>
            <a:ext cx="2804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th-TH" sz="1300" b="1" dirty="0">
                <a:solidFill>
                  <a:srgbClr val="132A4D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แสดงผลให้ผู้ใช้งาน</a:t>
            </a:r>
            <a:endParaRPr lang="en-US" sz="1000" dirty="0"/>
          </a:p>
        </p:txBody>
      </p:sp>
      <p:sp>
        <p:nvSpPr>
          <p:cNvPr id="44" name="Text 44"/>
          <p:cNvSpPr txBox="1"/>
          <p:nvPr/>
        </p:nvSpPr>
        <p:spPr>
          <a:xfrm>
            <a:off x="8260080" y="5349240"/>
            <a:ext cx="2804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th-TH" sz="1000" dirty="0">
                <a:solidFill>
                  <a:srgbClr val="6B7280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ส่งข้อมูลที่ตรวจสอบแล้วกลับไปแสดงเป็นตารางและคำสั่ง SQL บนหน้าเว็บ</a:t>
            </a:r>
            <a:endParaRPr lang="en-US" sz="1000" dirty="0"/>
          </a:p>
        </p:txBody>
      </p:sp>
      <p:cxnSp>
        <p:nvCxnSpPr>
          <p:cNvPr id="45" name="Arrow 45"/>
          <p:cNvCxnSpPr/>
          <p:nvPr/>
        </p:nvCxnSpPr>
        <p:spPr>
          <a:xfrm>
            <a:off x="10881360" y="3749040"/>
            <a:ext cx="0" cy="137160"/>
          </a:xfrm>
          <a:prstGeom prst="line">
            <a:avLst/>
          </a:prstGeom>
          <a:ln w="19050">
            <a:solidFill>
              <a:srgbClr val="94A3B8"/>
            </a:solidFill>
            <a:round/>
          </a:ln>
        </p:spPr>
      </p:cxnSp>
      <p:cxnSp>
        <p:nvCxnSpPr>
          <p:cNvPr id="46" name="Arrow 46"/>
          <p:cNvCxnSpPr/>
          <p:nvPr/>
        </p:nvCxnSpPr>
        <p:spPr>
          <a:xfrm flipH="1">
            <a:off x="1005840" y="3886200"/>
            <a:ext cx="9875520" cy="0"/>
          </a:xfrm>
          <a:prstGeom prst="line">
            <a:avLst/>
          </a:prstGeom>
          <a:ln w="19050">
            <a:solidFill>
              <a:srgbClr val="94A3B8"/>
            </a:solidFill>
            <a:round/>
          </a:ln>
        </p:spPr>
      </p:cxnSp>
      <p:cxnSp>
        <p:nvCxnSpPr>
          <p:cNvPr id="47" name="Arrow 47"/>
          <p:cNvCxnSpPr/>
          <p:nvPr/>
        </p:nvCxnSpPr>
        <p:spPr>
          <a:xfrm>
            <a:off x="1005840" y="3886200"/>
            <a:ext cx="0" cy="137160"/>
          </a:xfrm>
          <a:prstGeom prst="line">
            <a:avLst/>
          </a:prstGeom>
          <a:ln w="19050">
            <a:solidFill>
              <a:srgbClr val="94A3B8"/>
            </a:solidFill>
            <a:round/>
            <a:tailEnd type="triangle" w="med" len="med"/>
          </a:ln>
        </p:spPr>
      </p:cxnSp>
      <p:sp>
        <p:nvSpPr>
          <p:cNvPr id="49" name="Text 49"/>
          <p:cNvSpPr txBox="1"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th-TH" sz="1000" dirty="0">
                <a:solidFill>
                  <a:srgbClr val="6B7280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ขั้นตอนการทำงานของระบบ</a:t>
            </a:r>
            <a:endParaRPr lang="en-US" sz="1000" dirty="0"/>
          </a:p>
        </p:txBody>
      </p:sp>
      <p:sp>
        <p:nvSpPr>
          <p:cNvPr id="50" name="Text 50"/>
          <p:cNvSpPr txBox="1"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th-TH" sz="1000" dirty="0">
                <a:solidFill>
                  <a:srgbClr val="6B7280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0" name="Text 900"/>
          <p:cNvSpPr txBox="1"/>
          <p:nvPr/>
        </p:nvSpPr>
        <p:spPr>
          <a:xfrm>
            <a:off x="548640" y="320040"/>
            <a:ext cx="685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F8A93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02</a:t>
            </a:r>
            <a:endParaRPr lang="en-US" sz="1000" dirty="0"/>
          </a:p>
        </p:txBody>
      </p:sp>
      <p:sp>
        <p:nvSpPr>
          <p:cNvPr id="901" name="Text 901"/>
          <p:cNvSpPr txBox="1"/>
          <p:nvPr/>
        </p:nvSpPr>
        <p:spPr>
          <a:xfrm>
            <a:off x="1325880" y="384048"/>
            <a:ext cx="8366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spc="200" dirty="0">
                <a:solidFill>
                  <a:srgbClr val="6B7280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SECURITY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0789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32A4D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ความปลอดภัยและการจัดการข้อมูล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11064240" cy="841248"/>
          </a:xfrm>
          <a:prstGeom prst="roundRect">
            <a:avLst>
              <a:gd name="adj" fmla="val 6522"/>
            </a:avLst>
          </a:prstGeom>
          <a:solidFill>
            <a:srgbClr val="F5F7FA"/>
          </a:solidFill>
          <a:ln/>
        </p:spPr>
      </p:sp>
      <p:sp>
        <p:nvSpPr>
          <p:cNvPr id="5" name="Shape 3"/>
          <p:cNvSpPr/>
          <p:nvPr/>
        </p:nvSpPr>
        <p:spPr>
          <a:xfrm>
            <a:off x="777240" y="1929384"/>
            <a:ext cx="457200" cy="457200"/>
          </a:xfrm>
          <a:prstGeom prst="ellipse">
            <a:avLst/>
          </a:prstGeom>
          <a:solidFill>
            <a:srgbClr val="132A4D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77240" y="192938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🔒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1463040" y="1792224"/>
            <a:ext cx="996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1F2937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เข้ารหัสรหัสผ่านด้วย SHA-256 ร่วมกับ Salt เฉพาะของแต่ละบัญชี ระบบไม่เก็บรหัสผ่านต้นฉบับไว้ที่ใดเลย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48640" y="2651760"/>
            <a:ext cx="11064240" cy="841248"/>
          </a:xfrm>
          <a:prstGeom prst="roundRect">
            <a:avLst>
              <a:gd name="adj" fmla="val 6522"/>
            </a:avLst>
          </a:prstGeom>
          <a:solidFill>
            <a:srgbClr val="FFFFFF"/>
          </a:solidFill>
          <a:ln/>
        </p:spPr>
      </p:sp>
      <p:sp>
        <p:nvSpPr>
          <p:cNvPr id="9" name="Shape 7"/>
          <p:cNvSpPr/>
          <p:nvPr/>
        </p:nvSpPr>
        <p:spPr>
          <a:xfrm>
            <a:off x="777240" y="2843784"/>
            <a:ext cx="457200" cy="457200"/>
          </a:xfrm>
          <a:prstGeom prst="ellipse">
            <a:avLst/>
          </a:prstGeom>
          <a:solidFill>
            <a:srgbClr val="132A4D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777240" y="284378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🔒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1463040" y="2706624"/>
            <a:ext cx="996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1F2937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Session หมดอายุอัตโนมัติเมื่อไม่มีการใช้งานเกิน 10 นาที (Idle Timeout) </a:t>
            </a:r>
            <a:r>
              <a:rPr lang="th-TH" sz="1250" dirty="0">
                <a:solidFill>
                  <a:srgbClr val="1F2937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เพื่อ</a:t>
            </a:r>
            <a:r>
              <a:rPr lang="en-US" sz="1250" dirty="0" err="1">
                <a:solidFill>
                  <a:srgbClr val="1F2937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ป้องกันการใช้งานค้างจากเครื่องที่</a:t>
            </a:r>
            <a:r>
              <a:rPr lang="th-TH" sz="1250" dirty="0">
                <a:solidFill>
                  <a:srgbClr val="1F2937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มีการเปิดค้างไว้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548640" y="3566160"/>
            <a:ext cx="11064240" cy="841248"/>
          </a:xfrm>
          <a:prstGeom prst="roundRect">
            <a:avLst>
              <a:gd name="adj" fmla="val 6522"/>
            </a:avLst>
          </a:prstGeom>
          <a:solidFill>
            <a:srgbClr val="F5F7FA"/>
          </a:solidFill>
          <a:ln/>
        </p:spPr>
      </p:sp>
      <p:sp>
        <p:nvSpPr>
          <p:cNvPr id="13" name="Shape 11"/>
          <p:cNvSpPr/>
          <p:nvPr/>
        </p:nvSpPr>
        <p:spPr>
          <a:xfrm>
            <a:off x="777240" y="3758184"/>
            <a:ext cx="457200" cy="457200"/>
          </a:xfrm>
          <a:prstGeom prst="ellipse">
            <a:avLst/>
          </a:prstGeom>
          <a:solidFill>
            <a:srgbClr val="132A4D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777240" y="375818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🔒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1463040" y="3621024"/>
            <a:ext cx="996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50" dirty="0" err="1">
                <a:solidFill>
                  <a:srgbClr val="1F2937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ป้องกันการเดารหัสผ่าน</a:t>
            </a:r>
            <a:r>
              <a:rPr lang="en-US" sz="1250" dirty="0">
                <a:solidFill>
                  <a:srgbClr val="1F2937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 : เข้าสู่ระบบผิดติดต่อกัน 3 ครั้ง ระบบล็อกบัญชีชั่วคราว 60 วินาที พร้อมแจ้งเตือนเจ้าของบัญชีทางอีเมล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548640" y="4480560"/>
            <a:ext cx="11064240" cy="841248"/>
          </a:xfrm>
          <a:prstGeom prst="roundRect">
            <a:avLst>
              <a:gd name="adj" fmla="val 6522"/>
            </a:avLst>
          </a:prstGeom>
          <a:solidFill>
            <a:srgbClr val="FFFFFF"/>
          </a:solidFill>
          <a:ln/>
        </p:spPr>
      </p:sp>
      <p:sp>
        <p:nvSpPr>
          <p:cNvPr id="17" name="Shape 15"/>
          <p:cNvSpPr/>
          <p:nvPr/>
        </p:nvSpPr>
        <p:spPr>
          <a:xfrm>
            <a:off x="777240" y="4672584"/>
            <a:ext cx="457200" cy="457200"/>
          </a:xfrm>
          <a:prstGeom prst="ellipse">
            <a:avLst/>
          </a:prstGeom>
          <a:solidFill>
            <a:srgbClr val="132A4D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777240" y="467258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🔒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1463040" y="4535424"/>
            <a:ext cx="996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50" dirty="0" err="1">
                <a:solidFill>
                  <a:srgbClr val="1F2937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จำกัดสิทธิ์การใช้งานตามบทบาท</a:t>
            </a:r>
            <a:r>
              <a:rPr lang="en-US" sz="1250" dirty="0">
                <a:solidFill>
                  <a:srgbClr val="1F2937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 — สิทธิ์ระดับ Super Admin ต้องได้รับอนุมัติจากผู้ดูแลระบบหลักก่อนจึงใช้งานได้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548640" y="5394960"/>
            <a:ext cx="11064240" cy="841248"/>
          </a:xfrm>
          <a:prstGeom prst="roundRect">
            <a:avLst>
              <a:gd name="adj" fmla="val 6522"/>
            </a:avLst>
          </a:prstGeom>
          <a:solidFill>
            <a:srgbClr val="F5F7FA"/>
          </a:solidFill>
          <a:ln/>
        </p:spPr>
      </p:sp>
      <p:sp>
        <p:nvSpPr>
          <p:cNvPr id="21" name="Shape 19"/>
          <p:cNvSpPr/>
          <p:nvPr/>
        </p:nvSpPr>
        <p:spPr>
          <a:xfrm>
            <a:off x="777240" y="5586984"/>
            <a:ext cx="457200" cy="457200"/>
          </a:xfrm>
          <a:prstGeom prst="ellipse">
            <a:avLst/>
          </a:prstGeom>
          <a:solidFill>
            <a:srgbClr val="132A4D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777240" y="558698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🔒</a:t>
            </a: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1463040" y="5449824"/>
            <a:ext cx="996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1F2937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จำกัดข้อมูลที่ส่งไปประมวลผลกับ AI ให้ส่งเฉพาะเงื่อนไข/โครงสร้าง/</a:t>
            </a:r>
            <a:r>
              <a:rPr lang="en-US" sz="1250" dirty="0" err="1">
                <a:solidFill>
                  <a:srgbClr val="1F2937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คอลัมน์ที่จำเป็นเท่านั้น</a:t>
            </a:r>
            <a:endParaRPr lang="en-US" sz="1250" dirty="0"/>
          </a:p>
        </p:txBody>
      </p:sp>
      <p:sp>
        <p:nvSpPr>
          <p:cNvPr id="24" name="Text 22"/>
          <p:cNvSpPr txBox="1"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ความปลอดภัยและการจัดการข้อมูล</a:t>
            </a:r>
            <a:endParaRPr lang="en-US" sz="1000" dirty="0"/>
          </a:p>
        </p:txBody>
      </p:sp>
      <p:sp>
        <p:nvSpPr>
          <p:cNvPr id="25" name="Text 23"/>
          <p:cNvSpPr txBox="1"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0" name="Text 900"/>
          <p:cNvSpPr txBox="1"/>
          <p:nvPr/>
        </p:nvSpPr>
        <p:spPr>
          <a:xfrm>
            <a:off x="548640" y="320040"/>
            <a:ext cx="685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F8A93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02</a:t>
            </a:r>
            <a:endParaRPr lang="en-US" sz="1000" dirty="0"/>
          </a:p>
        </p:txBody>
      </p:sp>
      <p:sp>
        <p:nvSpPr>
          <p:cNvPr id="901" name="Text 901"/>
          <p:cNvSpPr txBox="1"/>
          <p:nvPr/>
        </p:nvSpPr>
        <p:spPr>
          <a:xfrm>
            <a:off x="1325880" y="384048"/>
            <a:ext cx="8366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spc="200" dirty="0">
                <a:solidFill>
                  <a:srgbClr val="6B7280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USER ROLES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0789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32A4D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บทบาทผู้ใช้งานในระบบ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677524"/>
            <a:ext cx="3502152" cy="1965960"/>
          </a:xfrm>
          <a:prstGeom prst="roundRect">
            <a:avLst>
              <a:gd name="adj" fmla="val 3721"/>
            </a:avLst>
          </a:prstGeom>
          <a:solidFill>
            <a:srgbClr val="F5F7FA"/>
          </a:solidFill>
          <a:ln/>
        </p:spPr>
      </p:sp>
      <p:sp>
        <p:nvSpPr>
          <p:cNvPr id="5" name="Shape 3"/>
          <p:cNvSpPr/>
          <p:nvPr/>
        </p:nvSpPr>
        <p:spPr>
          <a:xfrm>
            <a:off x="804672" y="1933556"/>
            <a:ext cx="457200" cy="457200"/>
          </a:xfrm>
          <a:prstGeom prst="ellipse">
            <a:avLst/>
          </a:prstGeom>
          <a:solidFill>
            <a:srgbClr val="132A4D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04672" y="193355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1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2546204"/>
            <a:ext cx="30449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32A4D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QA Tester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777240" y="2911964"/>
            <a:ext cx="304495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ผู้ทดสอบระบบ — ใช้งานหลักในการสร้างและตรวจสอบข้อมูลทดสอบสำหรับงาน QA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187952" y="1677524"/>
            <a:ext cx="3502152" cy="1965960"/>
          </a:xfrm>
          <a:prstGeom prst="roundRect">
            <a:avLst>
              <a:gd name="adj" fmla="val 3721"/>
            </a:avLst>
          </a:prstGeom>
          <a:solidFill>
            <a:srgbClr val="F5F7FA"/>
          </a:solidFill>
          <a:ln/>
        </p:spPr>
      </p:sp>
      <p:sp>
        <p:nvSpPr>
          <p:cNvPr id="10" name="Shape 8"/>
          <p:cNvSpPr/>
          <p:nvPr/>
        </p:nvSpPr>
        <p:spPr>
          <a:xfrm>
            <a:off x="4443984" y="1933556"/>
            <a:ext cx="457200" cy="457200"/>
          </a:xfrm>
          <a:prstGeom prst="ellipse">
            <a:avLst/>
          </a:prstGeom>
          <a:solidFill>
            <a:srgbClr val="1F8A93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4443984" y="193355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2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4416552" y="2546204"/>
            <a:ext cx="30449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32A4D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Developer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4416552" y="2911964"/>
            <a:ext cx="304495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นักพัฒนา — ใช้ข้อมูลทดสอบประกอบการพัฒนาและดีบักโค้ด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7827264" y="1677524"/>
            <a:ext cx="3502152" cy="1965960"/>
          </a:xfrm>
          <a:prstGeom prst="roundRect">
            <a:avLst>
              <a:gd name="adj" fmla="val 3721"/>
            </a:avLst>
          </a:prstGeom>
          <a:solidFill>
            <a:srgbClr val="F5F7FA"/>
          </a:solidFill>
          <a:ln/>
        </p:spPr>
      </p:sp>
      <p:sp>
        <p:nvSpPr>
          <p:cNvPr id="15" name="Shape 13"/>
          <p:cNvSpPr/>
          <p:nvPr/>
        </p:nvSpPr>
        <p:spPr>
          <a:xfrm>
            <a:off x="8083296" y="1933556"/>
            <a:ext cx="457200" cy="457200"/>
          </a:xfrm>
          <a:prstGeom prst="ellipse">
            <a:avLst/>
          </a:prstGeom>
          <a:solidFill>
            <a:srgbClr val="132A4D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8083296" y="193355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3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8055864" y="2546204"/>
            <a:ext cx="30449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32A4D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Business Analyst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8055864" y="2911964"/>
            <a:ext cx="304495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นักวิเคราะห์ธุรกิจ — กำหนดเงื่อนไขข้อมูลให้สอดคล้องกับความต้องการทางธุรกิจ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2510028" y="3826364"/>
            <a:ext cx="3502152" cy="1965960"/>
          </a:xfrm>
          <a:prstGeom prst="roundRect">
            <a:avLst>
              <a:gd name="adj" fmla="val 3721"/>
            </a:avLst>
          </a:prstGeom>
          <a:solidFill>
            <a:srgbClr val="E4F3F3"/>
          </a:solidFill>
          <a:ln/>
        </p:spPr>
      </p:sp>
      <p:sp>
        <p:nvSpPr>
          <p:cNvPr id="20" name="Shape 18"/>
          <p:cNvSpPr/>
          <p:nvPr/>
        </p:nvSpPr>
        <p:spPr>
          <a:xfrm>
            <a:off x="2766060" y="4082396"/>
            <a:ext cx="457200" cy="457200"/>
          </a:xfrm>
          <a:prstGeom prst="ellipse">
            <a:avLst/>
          </a:prstGeom>
          <a:solidFill>
            <a:srgbClr val="1F8A93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2766060" y="408239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4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2738628" y="4695044"/>
            <a:ext cx="30449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32A4D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System Analyst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2738628" y="5060804"/>
            <a:ext cx="304495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นักวิเคราะห์ระบบ — ตรวจสอบโครงสร้างข้อมูลให้ตรงกับการออกแบบระบบ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6149340" y="3826364"/>
            <a:ext cx="3502152" cy="1965960"/>
          </a:xfrm>
          <a:prstGeom prst="roundRect">
            <a:avLst>
              <a:gd name="adj" fmla="val 3721"/>
            </a:avLst>
          </a:prstGeom>
          <a:solidFill>
            <a:srgbClr val="E4F3F3"/>
          </a:solidFill>
          <a:ln/>
        </p:spPr>
      </p:sp>
      <p:sp>
        <p:nvSpPr>
          <p:cNvPr id="25" name="Shape 23"/>
          <p:cNvSpPr/>
          <p:nvPr/>
        </p:nvSpPr>
        <p:spPr>
          <a:xfrm>
            <a:off x="6405372" y="4082396"/>
            <a:ext cx="457200" cy="457200"/>
          </a:xfrm>
          <a:prstGeom prst="ellipse">
            <a:avLst/>
          </a:prstGeom>
          <a:solidFill>
            <a:srgbClr val="F2A93B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6405372" y="408239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5</a:t>
            </a:r>
            <a:endParaRPr lang="en-US" sz="1300" dirty="0"/>
          </a:p>
        </p:txBody>
      </p:sp>
      <p:sp>
        <p:nvSpPr>
          <p:cNvPr id="27" name="Text 25"/>
          <p:cNvSpPr txBox="1"/>
          <p:nvPr/>
        </p:nvSpPr>
        <p:spPr>
          <a:xfrm>
            <a:off x="6377940" y="4695044"/>
            <a:ext cx="30449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32A4D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Super Admin</a:t>
            </a:r>
            <a:endParaRPr lang="en-US" sz="1400" dirty="0"/>
          </a:p>
        </p:txBody>
      </p:sp>
      <p:sp>
        <p:nvSpPr>
          <p:cNvPr id="28" name="Text 26"/>
          <p:cNvSpPr txBox="1"/>
          <p:nvPr/>
        </p:nvSpPr>
        <p:spPr>
          <a:xfrm>
            <a:off x="6377940" y="5060804"/>
            <a:ext cx="304495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ผู้ดูแลระบบสูงสุด — จัดการผู้ใช้งาน อนุมัติคำขอสิทธิ์ และดูสถิติภาพรวมทั้งหมด (ต้องได้รับอนุมัติก่อนใช้งานได้)</a:t>
            </a:r>
            <a:endParaRPr lang="en-US" sz="1000" dirty="0"/>
          </a:p>
        </p:txBody>
      </p:sp>
      <p:sp>
        <p:nvSpPr>
          <p:cNvPr id="29" name="Text 27"/>
          <p:cNvSpPr txBox="1"/>
          <p:nvPr/>
        </p:nvSpPr>
        <p:spPr>
          <a:xfrm>
            <a:off x="548640" y="5883764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6B7280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หมายเหตุ: ตำแหน่งอื่นนอกจาก Super Admin เข้าใช้งานได้ทันทีหลังสมัครสมาชิก</a:t>
            </a:r>
            <a:endParaRPr lang="en-US" sz="1050" dirty="0"/>
          </a:p>
        </p:txBody>
      </p:sp>
      <p:sp>
        <p:nvSpPr>
          <p:cNvPr id="30" name="Text 28"/>
          <p:cNvSpPr txBox="1"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บทบาทผู้ใช้งานในระบบ</a:t>
            </a:r>
            <a:endParaRPr lang="en-US" sz="1000" dirty="0"/>
          </a:p>
        </p:txBody>
      </p:sp>
      <p:sp>
        <p:nvSpPr>
          <p:cNvPr id="31" name="Text 29"/>
          <p:cNvSpPr txBox="1"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0" name="Text 900"/>
          <p:cNvSpPr txBox="1"/>
          <p:nvPr/>
        </p:nvSpPr>
        <p:spPr>
          <a:xfrm>
            <a:off x="548640" y="320040"/>
            <a:ext cx="685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F8A93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03</a:t>
            </a:r>
            <a:endParaRPr lang="en-US" sz="1000" dirty="0"/>
          </a:p>
        </p:txBody>
      </p:sp>
      <p:sp>
        <p:nvSpPr>
          <p:cNvPr id="901" name="Text 901"/>
          <p:cNvSpPr txBox="1"/>
          <p:nvPr/>
        </p:nvSpPr>
        <p:spPr>
          <a:xfrm>
            <a:off x="1325880" y="384048"/>
            <a:ext cx="8366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spc="200" dirty="0">
                <a:solidFill>
                  <a:srgbClr val="6B7280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KEY FEATURES (1/2)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0789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32A4D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ฟีเจอร์หลักของระบบ — บัญชีผู้ใช้และการสร้างข้อมูล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2089004"/>
            <a:ext cx="5212080" cy="1737360"/>
          </a:xfrm>
          <a:prstGeom prst="roundRect">
            <a:avLst>
              <a:gd name="adj" fmla="val 4211"/>
            </a:avLst>
          </a:prstGeom>
          <a:solidFill>
            <a:srgbClr val="F5F7FA"/>
          </a:solidFill>
          <a:ln/>
        </p:spPr>
      </p:sp>
      <p:sp>
        <p:nvSpPr>
          <p:cNvPr id="5" name="Shape 3"/>
          <p:cNvSpPr/>
          <p:nvPr/>
        </p:nvSpPr>
        <p:spPr>
          <a:xfrm>
            <a:off x="822960" y="2363324"/>
            <a:ext cx="502920" cy="502920"/>
          </a:xfrm>
          <a:prstGeom prst="ellipse">
            <a:avLst/>
          </a:prstGeom>
          <a:solidFill>
            <a:srgbClr val="132A4D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22960" y="2363324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30" b="1" dirty="0">
                <a:solidFill>
                  <a:srgbClr val="FFFFFF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⚙</a:t>
            </a:r>
            <a:endParaRPr lang="en-US" sz="1430" dirty="0"/>
          </a:p>
        </p:txBody>
      </p:sp>
      <p:sp>
        <p:nvSpPr>
          <p:cNvPr id="7" name="Text 5"/>
          <p:cNvSpPr txBox="1"/>
          <p:nvPr/>
        </p:nvSpPr>
        <p:spPr>
          <a:xfrm>
            <a:off x="1508760" y="2317604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32A4D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ระบบบัญชีผู้ใช้งาน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2957684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สมัครสมาชิก เข้าสู่ระบบ </a:t>
            </a:r>
            <a:r>
              <a:rPr lang="en-US" sz="1200" dirty="0" err="1">
                <a:solidFill>
                  <a:srgbClr val="6B7280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และจัดการสิทธิ์การใช้งานหลายระดับ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126480" y="2089004"/>
            <a:ext cx="5212080" cy="1737360"/>
          </a:xfrm>
          <a:prstGeom prst="roundRect">
            <a:avLst>
              <a:gd name="adj" fmla="val 4211"/>
            </a:avLst>
          </a:prstGeom>
          <a:solidFill>
            <a:srgbClr val="F5F7FA"/>
          </a:solidFill>
          <a:ln/>
        </p:spPr>
      </p:sp>
      <p:sp>
        <p:nvSpPr>
          <p:cNvPr id="10" name="Shape 8"/>
          <p:cNvSpPr/>
          <p:nvPr/>
        </p:nvSpPr>
        <p:spPr>
          <a:xfrm>
            <a:off x="6400800" y="2363324"/>
            <a:ext cx="502920" cy="502920"/>
          </a:xfrm>
          <a:prstGeom prst="ellipse">
            <a:avLst/>
          </a:prstGeom>
          <a:solidFill>
            <a:srgbClr val="132A4D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400800" y="2363324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30" b="1" dirty="0">
                <a:solidFill>
                  <a:srgbClr val="FFFFFF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⚙</a:t>
            </a:r>
            <a:endParaRPr lang="en-US" sz="1430" dirty="0"/>
          </a:p>
        </p:txBody>
      </p:sp>
      <p:sp>
        <p:nvSpPr>
          <p:cNvPr id="12" name="Text 10"/>
          <p:cNvSpPr txBox="1"/>
          <p:nvPr/>
        </p:nvSpPr>
        <p:spPr>
          <a:xfrm>
            <a:off x="7086600" y="2317604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32A4D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สร้างข้อมูลด้วย AI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6400800" y="2957684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กำหนดประเภทข้อมูล จำนวนแถว และเงื่อนไขทางธุรกิจ ให้ AI สร้างข้อมูลทดสอบให้อัตโนมัติ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48640" y="4054964"/>
            <a:ext cx="5212080" cy="1737360"/>
          </a:xfrm>
          <a:prstGeom prst="roundRect">
            <a:avLst>
              <a:gd name="adj" fmla="val 4211"/>
            </a:avLst>
          </a:prstGeom>
          <a:solidFill>
            <a:srgbClr val="F5F7FA"/>
          </a:solidFill>
          <a:ln/>
        </p:spPr>
      </p:sp>
      <p:sp>
        <p:nvSpPr>
          <p:cNvPr id="15" name="Shape 13"/>
          <p:cNvSpPr/>
          <p:nvPr/>
        </p:nvSpPr>
        <p:spPr>
          <a:xfrm>
            <a:off x="822960" y="4329284"/>
            <a:ext cx="502920" cy="502920"/>
          </a:xfrm>
          <a:prstGeom prst="ellipse">
            <a:avLst/>
          </a:prstGeom>
          <a:solidFill>
            <a:srgbClr val="132A4D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822960" y="4329284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30" b="1" dirty="0">
                <a:solidFill>
                  <a:srgbClr val="FFFFFF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⚙</a:t>
            </a:r>
            <a:endParaRPr lang="en-US" sz="1430" dirty="0"/>
          </a:p>
        </p:txBody>
      </p:sp>
      <p:sp>
        <p:nvSpPr>
          <p:cNvPr id="17" name="Text 15"/>
          <p:cNvSpPr txBox="1"/>
          <p:nvPr/>
        </p:nvSpPr>
        <p:spPr>
          <a:xfrm>
            <a:off x="1508760" y="4283564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 err="1">
                <a:solidFill>
                  <a:srgbClr val="132A4D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กำหนดโครงสร้างตารา</a:t>
            </a:r>
            <a:r>
              <a:rPr lang="th-TH" sz="1500" b="1" dirty="0">
                <a:solidFill>
                  <a:srgbClr val="132A4D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ง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822960" y="4923644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 err="1">
                <a:solidFill>
                  <a:srgbClr val="6B7280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แนบ</a:t>
            </a:r>
            <a:r>
              <a:rPr lang="en-US" sz="1200" dirty="0">
                <a:solidFill>
                  <a:srgbClr val="6B7280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 DDL Script หรือรูปภาพ ER Diagram เพื่อระบุโครงสร้างคอลัมน์ที่ต้องการอย่างชัดเจน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126480" y="4054964"/>
            <a:ext cx="5212080" cy="1737360"/>
          </a:xfrm>
          <a:prstGeom prst="roundRect">
            <a:avLst>
              <a:gd name="adj" fmla="val 4211"/>
            </a:avLst>
          </a:prstGeom>
          <a:solidFill>
            <a:srgbClr val="F5F7FA"/>
          </a:solidFill>
          <a:ln/>
        </p:spPr>
      </p:sp>
      <p:sp>
        <p:nvSpPr>
          <p:cNvPr id="20" name="Shape 18"/>
          <p:cNvSpPr/>
          <p:nvPr/>
        </p:nvSpPr>
        <p:spPr>
          <a:xfrm>
            <a:off x="6400800" y="4329284"/>
            <a:ext cx="502920" cy="502920"/>
          </a:xfrm>
          <a:prstGeom prst="ellipse">
            <a:avLst/>
          </a:prstGeom>
          <a:solidFill>
            <a:srgbClr val="132A4D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6400800" y="4329284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30" b="1" dirty="0">
                <a:solidFill>
                  <a:srgbClr val="FFFFFF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⚙</a:t>
            </a:r>
            <a:endParaRPr lang="en-US" sz="1430" dirty="0"/>
          </a:p>
        </p:txBody>
      </p:sp>
      <p:sp>
        <p:nvSpPr>
          <p:cNvPr id="22" name="Text 20"/>
          <p:cNvSpPr txBox="1"/>
          <p:nvPr/>
        </p:nvSpPr>
        <p:spPr>
          <a:xfrm>
            <a:off x="7086600" y="4283564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32A4D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บังคับโครงสร้างระดับโค้ด</a:t>
            </a:r>
            <a:endParaRPr lang="en-US" sz="1500" dirty="0"/>
          </a:p>
        </p:txBody>
      </p:sp>
      <p:sp>
        <p:nvSpPr>
          <p:cNvPr id="23" name="Text 21"/>
          <p:cNvSpPr txBox="1"/>
          <p:nvPr/>
        </p:nvSpPr>
        <p:spPr>
          <a:xfrm>
            <a:off x="6400800" y="4923644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ตรวจสอบและตัดคอลัมน์ที่ไม่ตรงตามที่กำหนดทิ้งด้วยโค้ด ไม่พึ่งพาความแม่นยำของ AI เพียงอย่างเดียว</a:t>
            </a:r>
            <a:endParaRPr lang="en-US" sz="1200" dirty="0"/>
          </a:p>
        </p:txBody>
      </p:sp>
      <p:sp>
        <p:nvSpPr>
          <p:cNvPr id="24" name="Text 22"/>
          <p:cNvSpPr txBox="1"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ฟีเจอร์หลักของระบบ</a:t>
            </a:r>
            <a:endParaRPr lang="en-US" sz="1000" dirty="0"/>
          </a:p>
        </p:txBody>
      </p:sp>
      <p:sp>
        <p:nvSpPr>
          <p:cNvPr id="25" name="Text 23"/>
          <p:cNvSpPr txBox="1"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0" name="Text 900"/>
          <p:cNvSpPr txBox="1"/>
          <p:nvPr/>
        </p:nvSpPr>
        <p:spPr>
          <a:xfrm>
            <a:off x="548640" y="320040"/>
            <a:ext cx="685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F8A93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03</a:t>
            </a:r>
            <a:endParaRPr lang="en-US" sz="1000" dirty="0"/>
          </a:p>
        </p:txBody>
      </p:sp>
      <p:sp>
        <p:nvSpPr>
          <p:cNvPr id="901" name="Text 901"/>
          <p:cNvSpPr txBox="1"/>
          <p:nvPr/>
        </p:nvSpPr>
        <p:spPr>
          <a:xfrm>
            <a:off x="1325880" y="384048"/>
            <a:ext cx="8366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spc="200" dirty="0">
                <a:solidFill>
                  <a:srgbClr val="6B7280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KEY FEATURES (2/2)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0789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32A4D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ฟีเจอร์หลักของระบบ — คุณภาพข้อมูลและการจัดการ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5303520" cy="1965960"/>
          </a:xfrm>
          <a:prstGeom prst="roundRect">
            <a:avLst>
              <a:gd name="adj" fmla="val 3721"/>
            </a:avLst>
          </a:prstGeom>
          <a:solidFill>
            <a:srgbClr val="F5F7FA"/>
          </a:solidFill>
          <a:ln/>
        </p:spPr>
      </p:sp>
      <p:sp>
        <p:nvSpPr>
          <p:cNvPr id="5" name="Shape 3"/>
          <p:cNvSpPr/>
          <p:nvPr/>
        </p:nvSpPr>
        <p:spPr>
          <a:xfrm>
            <a:off x="804672" y="2084832"/>
            <a:ext cx="457200" cy="457200"/>
          </a:xfrm>
          <a:prstGeom prst="ellipse">
            <a:avLst/>
          </a:prstGeom>
          <a:solidFill>
            <a:srgbClr val="1F8A93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04672" y="208483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★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269748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32A4D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Reference Column Lock</a:t>
            </a:r>
            <a:endParaRPr lang="en-US" sz="1350" dirty="0"/>
          </a:p>
        </p:txBody>
      </p:sp>
      <p:sp>
        <p:nvSpPr>
          <p:cNvPr id="8" name="Text 6"/>
          <p:cNvSpPr txBox="1"/>
          <p:nvPr/>
        </p:nvSpPr>
        <p:spPr>
          <a:xfrm>
            <a:off x="777240" y="3108960"/>
            <a:ext cx="4846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อ้างอิงค่าจริงจากชุดข้อมูลที่เคยบันทึกไว้ก่อนหน้า </a:t>
            </a:r>
            <a:r>
              <a:rPr lang="en-US" sz="1050" dirty="0" err="1">
                <a:solidFill>
                  <a:srgbClr val="6B7280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เพื่อรักษาความสัมพันธ์</a:t>
            </a:r>
            <a:r>
              <a:rPr lang="th-TH" sz="1050" dirty="0">
                <a:solidFill>
                  <a:srgbClr val="6B7280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และความต่อเนื่อง</a:t>
            </a:r>
            <a:r>
              <a:rPr lang="en-US" sz="1050" dirty="0" err="1">
                <a:solidFill>
                  <a:srgbClr val="6B7280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ของข้อมูลระหว่างตาราง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6309360" y="1828800"/>
            <a:ext cx="5303520" cy="1965960"/>
          </a:xfrm>
          <a:prstGeom prst="roundRect">
            <a:avLst>
              <a:gd name="adj" fmla="val 3721"/>
            </a:avLst>
          </a:prstGeom>
          <a:solidFill>
            <a:srgbClr val="F5F7FA"/>
          </a:solidFill>
          <a:ln/>
        </p:spPr>
      </p:sp>
      <p:sp>
        <p:nvSpPr>
          <p:cNvPr id="10" name="Shape 8"/>
          <p:cNvSpPr/>
          <p:nvPr/>
        </p:nvSpPr>
        <p:spPr>
          <a:xfrm>
            <a:off x="6565392" y="2084832"/>
            <a:ext cx="457200" cy="457200"/>
          </a:xfrm>
          <a:prstGeom prst="ellipse">
            <a:avLst/>
          </a:prstGeom>
          <a:solidFill>
            <a:srgbClr val="1F8A93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565392" y="208483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★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6537960" y="269748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32A4D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ตรวจสอบคุณภาพข้อมูล</a:t>
            </a:r>
            <a:endParaRPr lang="en-US" sz="1350" dirty="0"/>
          </a:p>
        </p:txBody>
      </p:sp>
      <p:sp>
        <p:nvSpPr>
          <p:cNvPr id="13" name="Text 11"/>
          <p:cNvSpPr txBox="1"/>
          <p:nvPr/>
        </p:nvSpPr>
        <p:spPr>
          <a:xfrm>
            <a:off x="6537960" y="3108960"/>
            <a:ext cx="4846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ระบบประเมินคะแนนความตรงตามเงื่อนไขและความน่าเชื่อถือของข้อมูลโดยอัตโนมัติ ก่อนนำไปใช้จริง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548640" y="3977640"/>
            <a:ext cx="5303520" cy="1965960"/>
          </a:xfrm>
          <a:prstGeom prst="roundRect">
            <a:avLst>
              <a:gd name="adj" fmla="val 3721"/>
            </a:avLst>
          </a:prstGeom>
          <a:solidFill>
            <a:srgbClr val="F5F7FA"/>
          </a:solidFill>
          <a:ln/>
        </p:spPr>
      </p:sp>
      <p:sp>
        <p:nvSpPr>
          <p:cNvPr id="15" name="Shape 13"/>
          <p:cNvSpPr/>
          <p:nvPr/>
        </p:nvSpPr>
        <p:spPr>
          <a:xfrm>
            <a:off x="804672" y="4233672"/>
            <a:ext cx="457200" cy="457200"/>
          </a:xfrm>
          <a:prstGeom prst="ellipse">
            <a:avLst/>
          </a:prstGeom>
          <a:solidFill>
            <a:srgbClr val="1F8A93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804672" y="423367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★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777240" y="484632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32A4D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Dashboard และประวัติ</a:t>
            </a:r>
            <a:endParaRPr lang="en-US" sz="1350" dirty="0"/>
          </a:p>
        </p:txBody>
      </p:sp>
      <p:sp>
        <p:nvSpPr>
          <p:cNvPr id="18" name="Text 16"/>
          <p:cNvSpPr txBox="1"/>
          <p:nvPr/>
        </p:nvSpPr>
        <p:spPr>
          <a:xfrm>
            <a:off x="777240" y="5257800"/>
            <a:ext cx="4846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สรุปสถิติภาพรวมการใช้งาน พร้อมประวัติการบันทึก (Commit) ข้อมูลย้อนหลัง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6309360" y="3977640"/>
            <a:ext cx="5303520" cy="1965960"/>
          </a:xfrm>
          <a:prstGeom prst="roundRect">
            <a:avLst>
              <a:gd name="adj" fmla="val 3721"/>
            </a:avLst>
          </a:prstGeom>
          <a:solidFill>
            <a:srgbClr val="E4F3F3"/>
          </a:solidFill>
          <a:ln/>
        </p:spPr>
      </p:sp>
      <p:sp>
        <p:nvSpPr>
          <p:cNvPr id="20" name="Shape 18"/>
          <p:cNvSpPr/>
          <p:nvPr/>
        </p:nvSpPr>
        <p:spPr>
          <a:xfrm>
            <a:off x="6565392" y="4233672"/>
            <a:ext cx="457200" cy="457200"/>
          </a:xfrm>
          <a:prstGeom prst="ellipse">
            <a:avLst/>
          </a:prstGeom>
          <a:solidFill>
            <a:srgbClr val="1F8A93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6565392" y="423367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★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6537960" y="484632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32A4D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บันทึกเงื่อนไขไว้ใช้ซ้ำ</a:t>
            </a:r>
            <a:endParaRPr lang="en-US" sz="1350" dirty="0"/>
          </a:p>
        </p:txBody>
      </p:sp>
      <p:sp>
        <p:nvSpPr>
          <p:cNvPr id="23" name="Text 21"/>
          <p:cNvSpPr txBox="1"/>
          <p:nvPr/>
        </p:nvSpPr>
        <p:spPr>
          <a:xfrm>
            <a:off x="6537960" y="5257800"/>
            <a:ext cx="4846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บันทึกและเรียกใช้ Prompt/เงื่อนไขที่เคยตั้งค่าไว้ได้ทันที ไม่ต้องกรอกใหม่ทุกครั้ง</a:t>
            </a:r>
            <a:endParaRPr lang="en-US" sz="1050" dirty="0"/>
          </a:p>
        </p:txBody>
      </p:sp>
      <p:sp>
        <p:nvSpPr>
          <p:cNvPr id="29" name="Text 27"/>
          <p:cNvSpPr txBox="1"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ฟีเจอร์หลักของระบบ</a:t>
            </a:r>
            <a:endParaRPr lang="en-US" sz="1000" dirty="0"/>
          </a:p>
        </p:txBody>
      </p:sp>
      <p:sp>
        <p:nvSpPr>
          <p:cNvPr id="30" name="Text 28"/>
          <p:cNvSpPr txBox="1"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13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0" name="Text 900"/>
          <p:cNvSpPr txBox="1"/>
          <p:nvPr/>
        </p:nvSpPr>
        <p:spPr>
          <a:xfrm>
            <a:off x="548640" y="320040"/>
            <a:ext cx="685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F8A93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03</a:t>
            </a:r>
            <a:endParaRPr lang="en-US" sz="1000" dirty="0"/>
          </a:p>
        </p:txBody>
      </p:sp>
      <p:sp>
        <p:nvSpPr>
          <p:cNvPr id="901" name="Text 901"/>
          <p:cNvSpPr txBox="1"/>
          <p:nvPr/>
        </p:nvSpPr>
        <p:spPr>
          <a:xfrm>
            <a:off x="1325880" y="384048"/>
            <a:ext cx="8366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spc="200" dirty="0">
                <a:solidFill>
                  <a:srgbClr val="6B7280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ROLE OF AI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0789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32A4D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บทบาทของ AI ในระบบ — AI ทำอะไร และโค้ดควบคุมอะไร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5212080" cy="3977640"/>
          </a:xfrm>
          <a:prstGeom prst="roundRect">
            <a:avLst>
              <a:gd name="adj" fmla="val 1839"/>
            </a:avLst>
          </a:prstGeom>
          <a:solidFill>
            <a:srgbClr val="1F8A93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22960" y="2011680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สิ่งที่ AI (Gemini API) รับผิดชอบ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868680" y="2724912"/>
            <a:ext cx="91440" cy="9144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1143000" y="2542032"/>
            <a:ext cx="4434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dirty="0" err="1">
                <a:solidFill>
                  <a:srgbClr val="EAF6F6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ตีความเงื่อนไข</a:t>
            </a:r>
            <a:r>
              <a:rPr lang="en-US" sz="1200" dirty="0">
                <a:solidFill>
                  <a:srgbClr val="EAF6F6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/</a:t>
            </a:r>
            <a:r>
              <a:rPr lang="en-US" sz="1200" dirty="0" err="1">
                <a:solidFill>
                  <a:srgbClr val="EAF6F6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ภาษาที่ผู้ใช้กำหนด</a:t>
            </a:r>
            <a:r>
              <a:rPr lang="en-US" sz="1200" dirty="0">
                <a:solidFill>
                  <a:srgbClr val="EAF6F6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 </a:t>
            </a:r>
            <a:r>
              <a:rPr lang="en-US" sz="1200" dirty="0" err="1">
                <a:solidFill>
                  <a:srgbClr val="EAF6F6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แล้วแปลงเป็นข้อมูลที่</a:t>
            </a:r>
            <a:r>
              <a:rPr lang="th-TH" sz="1200" dirty="0">
                <a:solidFill>
                  <a:srgbClr val="EAF6F6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ตรงตามความต้องการ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868680" y="3685032"/>
            <a:ext cx="91440" cy="9144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1143000" y="3502152"/>
            <a:ext cx="4434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dirty="0" err="1">
                <a:solidFill>
                  <a:srgbClr val="EAF6F6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สร้างเนื้อหาข้อมูลให้</a:t>
            </a:r>
            <a:r>
              <a:rPr lang="th-TH" sz="1200" dirty="0">
                <a:solidFill>
                  <a:srgbClr val="EAF6F6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ตรงตาม </a:t>
            </a:r>
            <a:r>
              <a:rPr lang="en-US" sz="1200" dirty="0">
                <a:solidFill>
                  <a:srgbClr val="EAF6F6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Business </a:t>
            </a:r>
            <a:r>
              <a:rPr lang="th-TH" sz="1200" dirty="0">
                <a:solidFill>
                  <a:srgbClr val="EAF6F6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ที่ผู้ใช้ต้องการ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868680" y="4645152"/>
            <a:ext cx="91440" cy="9144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1143000" y="4462272"/>
            <a:ext cx="4434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dirty="0" err="1">
                <a:solidFill>
                  <a:srgbClr val="EAF6F6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ประเมินคุณภาพข้อมูลเบื้องต้นด้วย</a:t>
            </a:r>
            <a:r>
              <a:rPr lang="en-US" sz="1200" dirty="0">
                <a:solidFill>
                  <a:srgbClr val="EAF6F6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 AI Self-check </a:t>
            </a:r>
            <a:r>
              <a:rPr lang="th-TH" sz="1200" dirty="0">
                <a:solidFill>
                  <a:srgbClr val="EAF6F6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ซึ่งจะเอาไปใช้ประกอบการตัดสินใจเรื่องคุณภาพคะแนน</a:t>
            </a:r>
          </a:p>
        </p:txBody>
      </p:sp>
      <p:sp>
        <p:nvSpPr>
          <p:cNvPr id="12" name="Shape 10"/>
          <p:cNvSpPr/>
          <p:nvPr/>
        </p:nvSpPr>
        <p:spPr>
          <a:xfrm>
            <a:off x="6126480" y="1783080"/>
            <a:ext cx="5212080" cy="3977640"/>
          </a:xfrm>
          <a:prstGeom prst="roundRect">
            <a:avLst>
              <a:gd name="adj" fmla="val 1839"/>
            </a:avLst>
          </a:prstGeom>
          <a:solidFill>
            <a:srgbClr val="132A4D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6400800" y="2011680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2A93B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สิ่งที่ควบคุมด้วย Logic ของระบบเอง (Rule-based)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6446520" y="2724912"/>
            <a:ext cx="91440" cy="91440"/>
          </a:xfrm>
          <a:prstGeom prst="ellipse">
            <a:avLst/>
          </a:prstGeom>
          <a:solidFill>
            <a:srgbClr val="F2A93B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6720840" y="2542032"/>
            <a:ext cx="4434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EAF0FA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บังคับโครงสร้างคอลัมน์ให้ตรงตาม DDL Script </a:t>
            </a:r>
            <a:r>
              <a:rPr lang="en-US" sz="1200" dirty="0" err="1">
                <a:solidFill>
                  <a:srgbClr val="EAF0FA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ที่ผู้ใช้ระบุ</a:t>
            </a:r>
            <a:r>
              <a:rPr lang="en-US" sz="1200" dirty="0">
                <a:solidFill>
                  <a:srgbClr val="EAF0FA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 </a:t>
            </a:r>
            <a:r>
              <a:rPr lang="en-US" sz="1200" dirty="0" err="1">
                <a:solidFill>
                  <a:srgbClr val="EAF0FA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ทุกครั้งหลัง</a:t>
            </a:r>
            <a:r>
              <a:rPr lang="en-US" sz="1200" dirty="0">
                <a:solidFill>
                  <a:srgbClr val="EAF0FA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 AI ตอบกลับ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446520" y="3685032"/>
            <a:ext cx="91440" cy="91440"/>
          </a:xfrm>
          <a:prstGeom prst="ellipse">
            <a:avLst/>
          </a:prstGeom>
          <a:solidFill>
            <a:srgbClr val="F2A93B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6720840" y="3502152"/>
            <a:ext cx="4434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EAF0FA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เลือกค่าจากข้อมูลอ้างอิงเดิมด้วย Fisher-Yates Shuffle + Round-robin ไม่ให้ AI สุ่มเอง เพื่อไม่ให้ข้อมูลบางค่าถูกเลือกซ้ำเกินสัดส่วน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446520" y="4645152"/>
            <a:ext cx="91440" cy="91440"/>
          </a:xfrm>
          <a:prstGeom prst="ellipse">
            <a:avLst/>
          </a:prstGeom>
          <a:solidFill>
            <a:srgbClr val="F2A93B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6720840" y="4462272"/>
            <a:ext cx="4434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EAF0FA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คำนวณคะแนนคุณภาพขั้นสุดท้ายและตัดสิน Threshold (</a:t>
            </a:r>
            <a:r>
              <a:rPr lang="th-TH" sz="1200" dirty="0">
                <a:solidFill>
                  <a:srgbClr val="EAF0FA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ตรงตามเงื่อนไข</a:t>
            </a:r>
            <a:r>
              <a:rPr lang="en-US" sz="1200" dirty="0">
                <a:solidFill>
                  <a:srgbClr val="EAF0FA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≥ 70%, </a:t>
            </a:r>
            <a:r>
              <a:rPr lang="th-TH" sz="1200" dirty="0">
                <a:solidFill>
                  <a:srgbClr val="EAF0FA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ความน่าเชื่อถือ</a:t>
            </a:r>
            <a:r>
              <a:rPr lang="en-US" sz="1200" dirty="0">
                <a:solidFill>
                  <a:srgbClr val="EAF0FA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 ≥ 90%) รวมถึงจัดเรียงลำดับคอลัมน์ผลลัพธ์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6B7280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ระบบไม่ปล่อยให้ AI </a:t>
            </a:r>
            <a:r>
              <a:rPr lang="en-US" sz="1200" i="1" dirty="0" err="1">
                <a:solidFill>
                  <a:srgbClr val="6B7280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ตัดสินใจเ</a:t>
            </a:r>
            <a:r>
              <a:rPr lang="th-TH" sz="1200" i="1" dirty="0">
                <a:solidFill>
                  <a:srgbClr val="6B7280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อง</a:t>
            </a:r>
            <a:r>
              <a:rPr lang="en-US" sz="1200" i="1" dirty="0">
                <a:solidFill>
                  <a:srgbClr val="6B7280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 แต่ใช้ AI </a:t>
            </a:r>
            <a:r>
              <a:rPr lang="en-US" sz="1200" i="1" dirty="0" err="1">
                <a:solidFill>
                  <a:srgbClr val="6B7280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เป็นส่วนหนึ่งของระบบที่มีโค้ด</a:t>
            </a:r>
            <a:r>
              <a:rPr lang="th-TH" sz="1200" i="1" dirty="0">
                <a:solidFill>
                  <a:srgbClr val="6B7280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คอย</a:t>
            </a:r>
            <a:r>
              <a:rPr lang="en-US" sz="1200" i="1" dirty="0" err="1">
                <a:solidFill>
                  <a:srgbClr val="6B7280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ตรวจสอบผลลัพธ์</a:t>
            </a:r>
            <a:r>
              <a:rPr lang="th-TH" sz="1200" i="1" dirty="0">
                <a:solidFill>
                  <a:srgbClr val="6B7280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อีกชั้น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บทบาทของ AI ในระบบ</a:t>
            </a:r>
            <a:endParaRPr lang="en-US" sz="1000" dirty="0"/>
          </a:p>
        </p:txBody>
      </p:sp>
      <p:sp>
        <p:nvSpPr>
          <p:cNvPr id="22" name="Text 20"/>
          <p:cNvSpPr txBox="1"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14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0" name="Text 900"/>
          <p:cNvSpPr txBox="1"/>
          <p:nvPr/>
        </p:nvSpPr>
        <p:spPr>
          <a:xfrm>
            <a:off x="548640" y="320040"/>
            <a:ext cx="685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F8A93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03</a:t>
            </a:r>
            <a:endParaRPr lang="en-US" sz="1000" dirty="0"/>
          </a:p>
        </p:txBody>
      </p:sp>
      <p:sp>
        <p:nvSpPr>
          <p:cNvPr id="901" name="Text 901"/>
          <p:cNvSpPr txBox="1"/>
          <p:nvPr/>
        </p:nvSpPr>
        <p:spPr>
          <a:xfrm>
            <a:off x="1325880" y="384048"/>
            <a:ext cx="8366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spc="200" dirty="0">
                <a:solidFill>
                  <a:srgbClr val="6B7280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DEEP DIVE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0789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32A4D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ระบบให้คะแนนคุณภาพข้อมูล (Quality Score)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1188720" y="2180444"/>
            <a:ext cx="1737360" cy="1737360"/>
          </a:xfrm>
          <a:prstGeom prst="ellipse">
            <a:avLst/>
          </a:prstGeom>
          <a:solidFill>
            <a:srgbClr val="F5F7FA"/>
          </a:solidFill>
          <a:ln w="76200">
            <a:solidFill>
              <a:srgbClr val="1F8A93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188720" y="2180444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132A4D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70%</a:t>
            </a:r>
            <a:endParaRPr lang="en-US" sz="32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4054964"/>
            <a:ext cx="2651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6B7280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ความตรงตามเงื่อนไข</a:t>
            </a:r>
            <a:endParaRPr lang="en-US" sz="1250" dirty="0"/>
          </a:p>
          <a:p>
            <a:pPr marL="0" indent="0" algn="ctr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6B7280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(Condition Match) ขั้นต่ำ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3383280" y="2180444"/>
            <a:ext cx="1737360" cy="1737360"/>
          </a:xfrm>
          <a:prstGeom prst="ellipse">
            <a:avLst/>
          </a:prstGeom>
          <a:solidFill>
            <a:srgbClr val="F5F7FA"/>
          </a:solidFill>
          <a:ln w="76200">
            <a:solidFill>
              <a:srgbClr val="F2A93B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3383280" y="2180444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132A4D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90%</a:t>
            </a:r>
            <a:endParaRPr lang="en-US" sz="3200" dirty="0"/>
          </a:p>
        </p:txBody>
      </p:sp>
      <p:sp>
        <p:nvSpPr>
          <p:cNvPr id="9" name="Text 7"/>
          <p:cNvSpPr txBox="1"/>
          <p:nvPr/>
        </p:nvSpPr>
        <p:spPr>
          <a:xfrm>
            <a:off x="2926080" y="4054964"/>
            <a:ext cx="2651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6B7280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ความน่าเชื่อถือของข้อมูล</a:t>
            </a:r>
            <a:endParaRPr lang="en-US" sz="1250" dirty="0"/>
          </a:p>
          <a:p>
            <a:pPr marL="0" indent="0" algn="ctr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6B7280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(Reliability) ขั้นต่ำ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5577840" y="2180444"/>
            <a:ext cx="0" cy="265176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548640" y="4786484"/>
            <a:ext cx="5029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i="1" dirty="0" err="1">
                <a:solidFill>
                  <a:srgbClr val="6B7280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ต้องผ่านเกณฑ์ทั้งสองค่า</a:t>
            </a:r>
            <a:r>
              <a:rPr lang="en-US" sz="1100" i="1" dirty="0">
                <a:solidFill>
                  <a:srgbClr val="6B7280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 </a:t>
            </a:r>
            <a:r>
              <a:rPr lang="en-US" sz="1100" i="1" dirty="0" err="1">
                <a:solidFill>
                  <a:srgbClr val="6B7280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ระบบจึงจะถือว่าข้อมูลชุดนี้</a:t>
            </a:r>
            <a:r>
              <a:rPr lang="en-US" sz="1100" i="1" dirty="0">
                <a:solidFill>
                  <a:srgbClr val="6B7280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 "ผ่าน" และอนุญาตให้นำเข้า Dashboard ได้ — ถ้าค่าใดค่าหนึ่งต่ำกว่าเกณฑ์ </a:t>
            </a:r>
            <a:r>
              <a:rPr lang="en-US" sz="1100" i="1" dirty="0" err="1">
                <a:solidFill>
                  <a:srgbClr val="6B7280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ระบบจะแจ้งเตือนให้ตรวจสอบก่อนตัดสินใจ</a:t>
            </a:r>
            <a:r>
              <a:rPr lang="en-US" sz="1100" i="1" dirty="0">
                <a:solidFill>
                  <a:srgbClr val="6B7280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 Commit </a:t>
            </a:r>
            <a:r>
              <a:rPr lang="th-TH" sz="1100" i="1" dirty="0">
                <a:solidFill>
                  <a:srgbClr val="6B7280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พร้อมบอกสาเหตุเบื้องต้น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5943600" y="2180444"/>
            <a:ext cx="5669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32A4D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วิธีคำนวณคะแนน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5943600" y="2683364"/>
            <a:ext cx="365760" cy="365760"/>
          </a:xfrm>
          <a:prstGeom prst="ellipse">
            <a:avLst/>
          </a:prstGeom>
          <a:solidFill>
            <a:srgbClr val="132A4D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5943600" y="268336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40" b="1" dirty="0">
                <a:solidFill>
                  <a:srgbClr val="FFFFFF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1</a:t>
            </a:r>
            <a:endParaRPr lang="en-US" sz="1040" dirty="0"/>
          </a:p>
        </p:txBody>
      </p:sp>
      <p:sp>
        <p:nvSpPr>
          <p:cNvPr id="15" name="Text 13"/>
          <p:cNvSpPr txBox="1"/>
          <p:nvPr/>
        </p:nvSpPr>
        <p:spPr>
          <a:xfrm>
            <a:off x="6446520" y="2610212"/>
            <a:ext cx="5166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1F2937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ตรวจสอบเชิงโครงสร้าง: จำนวนแถวตรงตามที่ขอหรือไม่ มีคอลัมน์ขาด/เกินหรือไม่ </a:t>
            </a:r>
            <a:r>
              <a:rPr lang="en-US" sz="1100" dirty="0" err="1">
                <a:solidFill>
                  <a:srgbClr val="1F2937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มีค่าว่างหรือไม่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943600" y="3597764"/>
            <a:ext cx="365760" cy="365760"/>
          </a:xfrm>
          <a:prstGeom prst="ellipse">
            <a:avLst/>
          </a:prstGeom>
          <a:solidFill>
            <a:srgbClr val="1F8A93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5943600" y="359776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40" b="1" dirty="0">
                <a:solidFill>
                  <a:srgbClr val="FFFFFF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2</a:t>
            </a:r>
            <a:endParaRPr lang="en-US" sz="1040" dirty="0"/>
          </a:p>
        </p:txBody>
      </p:sp>
      <p:sp>
        <p:nvSpPr>
          <p:cNvPr id="18" name="Text 16"/>
          <p:cNvSpPr txBox="1"/>
          <p:nvPr/>
        </p:nvSpPr>
        <p:spPr>
          <a:xfrm>
            <a:off x="6446520" y="3524612"/>
            <a:ext cx="5166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1F2937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ให้ Gemini ประเมินตัวเองอีกชั้น (Self-check) เทียบข้อมูลที่สร้างกับเงื่อนไขที่ผู้ใช้ตั้งไว้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5943600" y="4512164"/>
            <a:ext cx="365760" cy="365760"/>
          </a:xfrm>
          <a:prstGeom prst="ellipse">
            <a:avLst/>
          </a:prstGeom>
          <a:solidFill>
            <a:srgbClr val="132A4D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5943600" y="451216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40" b="1" dirty="0">
                <a:solidFill>
                  <a:srgbClr val="FFFFFF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3</a:t>
            </a:r>
            <a:endParaRPr lang="en-US" sz="1040" dirty="0"/>
          </a:p>
        </p:txBody>
      </p:sp>
      <p:sp>
        <p:nvSpPr>
          <p:cNvPr id="21" name="Text 19"/>
          <p:cNvSpPr txBox="1"/>
          <p:nvPr/>
        </p:nvSpPr>
        <p:spPr>
          <a:xfrm>
            <a:off x="6446520" y="4439012"/>
            <a:ext cx="5166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th-TH" sz="1100" dirty="0">
                <a:latin typeface="Leelawadee UI" panose="020B0502040204020203" pitchFamily="34" charset="-34"/>
                <a:cs typeface="Leelawadee UI" panose="020B0502040204020203" pitchFamily="34" charset="-34"/>
              </a:rPr>
              <a:t>รวมคะแนนทั้งสองส่วนเข้าด้วยกัน </a:t>
            </a:r>
            <a:r>
              <a:rPr lang="en-US" sz="1100" dirty="0">
                <a:latin typeface="Leelawadee UI" panose="020B0502040204020203" pitchFamily="34" charset="-34"/>
                <a:cs typeface="Leelawadee UI" panose="020B0502040204020203" pitchFamily="34" charset="-34"/>
              </a:rPr>
              <a:t>-</a:t>
            </a:r>
            <a:r>
              <a:rPr lang="th-TH" sz="1100" dirty="0">
                <a:latin typeface="Leelawadee UI" panose="020B0502040204020203" pitchFamily="34" charset="-34"/>
                <a:cs typeface="Leelawadee UI" panose="020B0502040204020203" pitchFamily="34" charset="-34"/>
              </a:rPr>
              <a:t> โดยมีผลตรวจโครงสร้างข้อมูลเป็นตัวคอยควบคุม ถ้าโครงสร้างข้อมูลมีปัญหา คะแนนรวมจะไม่ผ่านทันที เพื่อกันไม่ให้คะแนนออกมาหลอกสูงเกินจริง</a:t>
            </a:r>
            <a:endParaRPr lang="en-US" sz="1100" dirty="0">
              <a:latin typeface="Leelawadee UI" panose="020B0502040204020203" pitchFamily="34" charset="-34"/>
              <a:cs typeface="Leelawadee UI" panose="020B0502040204020203" pitchFamily="34" charset="-34"/>
            </a:endParaRPr>
          </a:p>
        </p:txBody>
      </p:sp>
      <p:sp>
        <p:nvSpPr>
          <p:cNvPr id="22" name="Text 20"/>
          <p:cNvSpPr txBox="1"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กลไกการทำงานเชิงลึก</a:t>
            </a:r>
            <a:endParaRPr lang="en-US" sz="1000" dirty="0"/>
          </a:p>
        </p:txBody>
      </p:sp>
      <p:sp>
        <p:nvSpPr>
          <p:cNvPr id="23" name="Text 21"/>
          <p:cNvSpPr txBox="1"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15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0" name="Text 900"/>
          <p:cNvSpPr txBox="1"/>
          <p:nvPr/>
        </p:nvSpPr>
        <p:spPr>
          <a:xfrm>
            <a:off x="548640" y="320040"/>
            <a:ext cx="685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F8A93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03</a:t>
            </a:r>
            <a:endParaRPr lang="en-US" sz="1000" dirty="0"/>
          </a:p>
        </p:txBody>
      </p:sp>
      <p:sp>
        <p:nvSpPr>
          <p:cNvPr id="901" name="Text 901"/>
          <p:cNvSpPr txBox="1"/>
          <p:nvPr/>
        </p:nvSpPr>
        <p:spPr>
          <a:xfrm>
            <a:off x="1325880" y="384048"/>
            <a:ext cx="8366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spc="200" dirty="0">
                <a:solidFill>
                  <a:srgbClr val="6B7280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DEEP DIVE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0789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32A4D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Rule-Based Mode: Protocol การทำงาน 2 เฟส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669844"/>
            <a:ext cx="7863840" cy="1371600"/>
          </a:xfrm>
          <a:prstGeom prst="roundRect">
            <a:avLst>
              <a:gd name="adj" fmla="val 5333"/>
            </a:avLst>
          </a:prstGeom>
          <a:solidFill>
            <a:srgbClr val="1F8A93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68680" y="1852724"/>
            <a:ext cx="7223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เฟสที่ 1 — Compile Rules 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868680" y="2264204"/>
            <a:ext cx="7223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EAF6F6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เรียก Gemini API เพียงครั้งเดียวต่อการสร้างข้อมูล 1 ชุด </a:t>
            </a:r>
            <a:r>
              <a:rPr lang="en-US" sz="1150" dirty="0" err="1">
                <a:solidFill>
                  <a:srgbClr val="EAF6F6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เพื่อแปลเงื่อนไข</a:t>
            </a:r>
            <a:r>
              <a:rPr lang="th-TH" sz="1150" dirty="0">
                <a:solidFill>
                  <a:srgbClr val="EAF6F6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ที่ได้รับ</a:t>
            </a:r>
            <a:r>
              <a:rPr lang="en-US" sz="1150" dirty="0" err="1">
                <a:solidFill>
                  <a:srgbClr val="EAF6F6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และโครงสร้าง</a:t>
            </a:r>
            <a:r>
              <a:rPr lang="en-US" sz="1150" dirty="0">
                <a:solidFill>
                  <a:srgbClr val="EAF6F6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 DDL ที่ผู้ใช้กำหนด ให้เป็นกฎการสร้างข้อมูล (Generator Rules) รูปแบบ JSON สำหรับแต่ละคอลัมน์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4315968" y="3059732"/>
            <a:ext cx="329184" cy="274320"/>
          </a:xfrm>
          <a:prstGeom prst="downArrow">
            <a:avLst/>
          </a:prstGeom>
          <a:solidFill>
            <a:srgbClr val="6B7280"/>
          </a:solidFill>
          <a:ln/>
        </p:spPr>
      </p:sp>
      <p:sp>
        <p:nvSpPr>
          <p:cNvPr id="8" name="Shape 6"/>
          <p:cNvSpPr/>
          <p:nvPr/>
        </p:nvSpPr>
        <p:spPr>
          <a:xfrm>
            <a:off x="548640" y="3361484"/>
            <a:ext cx="7863840" cy="1371600"/>
          </a:xfrm>
          <a:prstGeom prst="roundRect">
            <a:avLst>
              <a:gd name="adj" fmla="val 5333"/>
            </a:avLst>
          </a:prstGeom>
          <a:solidFill>
            <a:srgbClr val="132A4D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868680" y="3544364"/>
            <a:ext cx="7223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เฟสที่ 2 — Generate Rows 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868680" y="3955844"/>
            <a:ext cx="7223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th-TH" sz="1200" dirty="0">
                <a:solidFill>
                  <a:schemeClr val="bg1"/>
                </a:solidFill>
                <a:latin typeface="Leelawadee UI" panose="020B0502040204020203" pitchFamily="34" charset="-34"/>
                <a:cs typeface="Leelawadee UI" panose="020B0502040204020203" pitchFamily="34" charset="-34"/>
              </a:rPr>
              <a:t>สร้างข้อมูลทุกแถวด้วยโค้ดล้วน ตามกฎที่ได้จาก</a:t>
            </a:r>
            <a:r>
              <a:rPr lang="th-TH" sz="1200" dirty="0" err="1">
                <a:solidFill>
                  <a:schemeClr val="bg1"/>
                </a:solidFill>
                <a:latin typeface="Leelawadee UI" panose="020B0502040204020203" pitchFamily="34" charset="-34"/>
                <a:cs typeface="Leelawadee UI" panose="020B0502040204020203" pitchFamily="34" charset="-34"/>
              </a:rPr>
              <a:t>เฟส</a:t>
            </a:r>
            <a:r>
              <a:rPr lang="th-TH" sz="1200" dirty="0">
                <a:solidFill>
                  <a:schemeClr val="bg1"/>
                </a:solidFill>
                <a:latin typeface="Leelawadee UI" panose="020B0502040204020203" pitchFamily="34" charset="-34"/>
                <a:cs typeface="Leelawadee UI" panose="020B0502040204020203" pitchFamily="34" charset="-34"/>
              </a:rPr>
              <a:t>ที่ 1 — ไม่เรียก AI เพิ่มอีกเลย</a:t>
            </a:r>
            <a:endParaRPr lang="en-US" sz="1200" dirty="0">
              <a:solidFill>
                <a:schemeClr val="bg1"/>
              </a:solidFill>
              <a:latin typeface="Leelawadee UI" panose="020B0502040204020203" pitchFamily="34" charset="-34"/>
              <a:cs typeface="Leelawadee UI" panose="020B0502040204020203" pitchFamily="34" charset="-34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8686800" y="1669844"/>
            <a:ext cx="2926080" cy="3063240"/>
          </a:xfrm>
          <a:prstGeom prst="roundRect">
            <a:avLst>
              <a:gd name="adj" fmla="val 2500"/>
            </a:avLst>
          </a:prstGeom>
          <a:solidFill>
            <a:srgbClr val="E4F3F3"/>
          </a:solidFill>
          <a:ln/>
        </p:spPr>
      </p:sp>
      <p:sp>
        <p:nvSpPr>
          <p:cNvPr id="12" name="Shape 10"/>
          <p:cNvSpPr/>
          <p:nvPr/>
        </p:nvSpPr>
        <p:spPr>
          <a:xfrm>
            <a:off x="8915400" y="1898444"/>
            <a:ext cx="457200" cy="457200"/>
          </a:xfrm>
          <a:prstGeom prst="ellipse">
            <a:avLst/>
          </a:prstGeom>
          <a:solidFill>
            <a:srgbClr val="1F8A93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8915400" y="189844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✓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8915400" y="2492804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32A4D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ทำไมต้องแยก 2 เฟส?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8915400" y="2904284"/>
            <a:ext cx="24688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00" dirty="0" err="1">
                <a:solidFill>
                  <a:srgbClr val="1F2937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เพราะ</a:t>
            </a:r>
            <a:r>
              <a:rPr lang="th-TH" sz="1100" dirty="0">
                <a:solidFill>
                  <a:srgbClr val="1F2937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ถ้า</a:t>
            </a:r>
            <a:r>
              <a:rPr lang="en-US" sz="1100" dirty="0">
                <a:solidFill>
                  <a:srgbClr val="1F2937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 AI </a:t>
            </a:r>
            <a:r>
              <a:rPr lang="en-US" sz="1100" dirty="0" err="1">
                <a:solidFill>
                  <a:srgbClr val="1F2937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ตัดสินใจทุกแถวจะกินโควตา</a:t>
            </a:r>
            <a:r>
              <a:rPr lang="en-US" sz="1100" dirty="0">
                <a:solidFill>
                  <a:srgbClr val="1F2937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 Gemini API </a:t>
            </a:r>
            <a:r>
              <a:rPr lang="th-TH" sz="1100" dirty="0">
                <a:solidFill>
                  <a:srgbClr val="1F2937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จนหมด</a:t>
            </a:r>
            <a:r>
              <a:rPr lang="en-US" sz="1100" dirty="0" err="1">
                <a:solidFill>
                  <a:srgbClr val="1F2937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เมื่อขอข้อมูลจำนวนมาก</a:t>
            </a:r>
            <a:r>
              <a:rPr lang="en-US" sz="1100" dirty="0">
                <a:solidFill>
                  <a:srgbClr val="1F2937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 การแยกให้ AI </a:t>
            </a:r>
            <a:r>
              <a:rPr lang="en-US" sz="1100" dirty="0" err="1">
                <a:solidFill>
                  <a:srgbClr val="1F2937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ทำงานแค่ครั้งเดียว</a:t>
            </a:r>
            <a:r>
              <a:rPr lang="en-US" sz="1100" dirty="0">
                <a:solidFill>
                  <a:srgbClr val="1F2937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 </a:t>
            </a:r>
            <a:r>
              <a:rPr lang="en-US" sz="1100" dirty="0" err="1">
                <a:solidFill>
                  <a:srgbClr val="1F2937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แล้วให้โค้ดที่มี</a:t>
            </a:r>
            <a:r>
              <a:rPr lang="th-TH" sz="1100" dirty="0">
                <a:solidFill>
                  <a:srgbClr val="1F2937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โครงสร้างข้อมูลตามที่กำหนดแน่นอน</a:t>
            </a:r>
            <a:r>
              <a:rPr lang="en-US" sz="1100" dirty="0" err="1">
                <a:solidFill>
                  <a:srgbClr val="1F2937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สร้างข้อมูลทั้งหมด</a:t>
            </a:r>
            <a:r>
              <a:rPr lang="en-US" sz="1100" dirty="0">
                <a:solidFill>
                  <a:srgbClr val="1F2937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 </a:t>
            </a:r>
            <a:r>
              <a:rPr lang="th-TH" sz="1100" dirty="0">
                <a:solidFill>
                  <a:srgbClr val="1F2937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เพื่อ</a:t>
            </a:r>
            <a:r>
              <a:rPr lang="en-US" sz="1100" dirty="0" err="1">
                <a:solidFill>
                  <a:srgbClr val="1F2937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ประหยัด</a:t>
            </a:r>
            <a:r>
              <a:rPr lang="en-US" sz="1100" dirty="0">
                <a:solidFill>
                  <a:srgbClr val="1F2937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 Token </a:t>
            </a:r>
            <a:r>
              <a:rPr lang="en-US" sz="1100" dirty="0" err="1">
                <a:solidFill>
                  <a:srgbClr val="1F2937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โดยยัง</a:t>
            </a:r>
            <a:r>
              <a:rPr lang="th-TH" sz="1100" dirty="0">
                <a:solidFill>
                  <a:srgbClr val="1F2937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ต้อง</a:t>
            </a:r>
            <a:r>
              <a:rPr lang="en-US" sz="1100" dirty="0" err="1">
                <a:solidFill>
                  <a:srgbClr val="1F2937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ควบคุมคุณภาพผลลัพธ์ได้แม่นยำ</a:t>
            </a:r>
            <a:endParaRPr lang="en-US" sz="1100" dirty="0"/>
          </a:p>
        </p:txBody>
      </p:sp>
      <p:sp>
        <p:nvSpPr>
          <p:cNvPr id="16" name="Text 14"/>
          <p:cNvSpPr txBox="1"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กลไกการทำงานเชิงลึก</a:t>
            </a:r>
            <a:endParaRPr lang="en-US" sz="1000" dirty="0"/>
          </a:p>
        </p:txBody>
      </p:sp>
      <p:sp>
        <p:nvSpPr>
          <p:cNvPr id="17" name="Text 15"/>
          <p:cNvSpPr txBox="1"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16</a:t>
            </a:r>
            <a:endParaRPr lang="en-US" sz="1000" dirty="0"/>
          </a:p>
        </p:txBody>
      </p:sp>
      <p:sp>
        <p:nvSpPr>
          <p:cNvPr id="18" name="Shape 18"/>
          <p:cNvSpPr/>
          <p:nvPr/>
        </p:nvSpPr>
        <p:spPr>
          <a:xfrm>
            <a:off x="548640" y="4861484"/>
            <a:ext cx="5280660" cy="1350000"/>
          </a:xfrm>
          <a:prstGeom prst="roundRect">
            <a:avLst>
              <a:gd name="adj" fmla="val 4000"/>
            </a:avLst>
          </a:prstGeom>
          <a:solidFill>
            <a:srgbClr val="F5F7FA"/>
          </a:solidFill>
          <a:ln>
            <a:noFill/>
          </a:ln>
        </p:spPr>
      </p:sp>
      <p:sp>
        <p:nvSpPr>
          <p:cNvPr id="19" name="Text 19"/>
          <p:cNvSpPr txBox="1"/>
          <p:nvPr/>
        </p:nvSpPr>
        <p:spPr>
          <a:xfrm>
            <a:off x="548640" y="4861484"/>
            <a:ext cx="5280660" cy="135000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th-TH" sz="1200" b="1" dirty="0">
                <a:solidFill>
                  <a:srgbClr val="374151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Legacy Mode (โหมดปัจจุบัน)</a:t>
            </a:r>
            <a:endParaRPr lang="en-US" sz="1000" dirty="0"/>
          </a:p>
          <a:p>
            <a:pPr marL="0" indent="0">
              <a:lnSpc>
                <a:spcPct val="118000"/>
              </a:lnSpc>
              <a:buNone/>
            </a:pPr>
            <a:r>
              <a:rPr lang="th-TH" sz="1050" dirty="0">
                <a:solidFill>
                  <a:srgbClr val="4B5563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เรียก Gemini API ให้ AI ตัดสินใจทุกแถว — ตัวอย่าง 100 แถว ต้องพึ่งการตัดสินใจของ AI ทั้งหมด ใช้ Token มาก และผลลัพธ์อาจไม่สม่ำเสมอ</a:t>
            </a:r>
            <a:endParaRPr lang="en-US" sz="1000" dirty="0"/>
          </a:p>
        </p:txBody>
      </p:sp>
      <p:sp>
        <p:nvSpPr>
          <p:cNvPr id="20" name="Shape 20"/>
          <p:cNvSpPr/>
          <p:nvPr/>
        </p:nvSpPr>
        <p:spPr>
          <a:xfrm>
            <a:off x="6057900" y="4861484"/>
            <a:ext cx="5280660" cy="1350000"/>
          </a:xfrm>
          <a:prstGeom prst="roundRect">
            <a:avLst>
              <a:gd name="adj" fmla="val 4000"/>
            </a:avLst>
          </a:prstGeom>
          <a:solidFill>
            <a:srgbClr val="E4F3F3"/>
          </a:solidFill>
          <a:ln>
            <a:noFill/>
          </a:ln>
        </p:spPr>
      </p:sp>
      <p:sp>
        <p:nvSpPr>
          <p:cNvPr id="21" name="Text 21"/>
          <p:cNvSpPr txBox="1"/>
          <p:nvPr/>
        </p:nvSpPr>
        <p:spPr>
          <a:xfrm>
            <a:off x="6057900" y="4861484"/>
            <a:ext cx="5280660" cy="135000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th-TH" sz="1200" b="1" dirty="0">
                <a:solidFill>
                  <a:srgbClr val="0E6B73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Rule-Based </a:t>
            </a:r>
            <a:r>
              <a:rPr lang="th-TH" sz="1200" b="1" dirty="0" err="1">
                <a:solidFill>
                  <a:srgbClr val="0E6B73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Mode</a:t>
            </a:r>
            <a:r>
              <a:rPr lang="th-TH" sz="1200" b="1" dirty="0">
                <a:solidFill>
                  <a:srgbClr val="0E6B73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 </a:t>
            </a:r>
            <a:r>
              <a:rPr lang="en-US" sz="1200" b="1" dirty="0">
                <a:solidFill>
                  <a:srgbClr val="0E6B73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(Beta</a:t>
            </a:r>
            <a:r>
              <a:rPr lang="th-TH" sz="1200" b="1" dirty="0">
                <a:solidFill>
                  <a:srgbClr val="0E6B73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)</a:t>
            </a:r>
            <a:endParaRPr lang="en-US" sz="1000" dirty="0"/>
          </a:p>
          <a:p>
            <a:pPr marL="0" indent="0">
              <a:lnSpc>
                <a:spcPct val="118000"/>
              </a:lnSpc>
              <a:buNone/>
            </a:pPr>
            <a:r>
              <a:rPr lang="th-TH" sz="1050" dirty="0">
                <a:solidFill>
                  <a:srgbClr val="1F8A93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เรียก Gemini API เพียงครั้งเดียวเพื่อ Compile กฎ แล้วสร้างข้อมูลทั้งหมดด้วยโค้ดล้วน — ประหยัด Token ได้มาก และให้ผลลัพธ์ที่สม่ำเสมอกว่า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">
    <p:bg>
      <p:bgPr>
        <a:solidFill>
          <a:srgbClr val="132A4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2"/>
          <p:cNvSpPr/>
          <p:nvPr/>
        </p:nvSpPr>
        <p:spPr>
          <a:xfrm>
            <a:off x="9601200" y="-1188720"/>
            <a:ext cx="3657600" cy="3657600"/>
          </a:xfrm>
          <a:prstGeom prst="ellipse">
            <a:avLst/>
          </a:prstGeom>
          <a:solidFill>
            <a:srgbClr val="0C1D38"/>
          </a:solidFill>
          <a:ln>
            <a:noFill/>
          </a:ln>
        </p:spPr>
      </p:sp>
      <p:sp>
        <p:nvSpPr>
          <p:cNvPr id="3" name="Oval 3"/>
          <p:cNvSpPr/>
          <p:nvPr/>
        </p:nvSpPr>
        <p:spPr>
          <a:xfrm>
            <a:off x="10058400" y="5029200"/>
            <a:ext cx="2743200" cy="2743200"/>
          </a:xfrm>
          <a:prstGeom prst="ellipse">
            <a:avLst/>
          </a:prstGeom>
          <a:solidFill>
            <a:srgbClr val="1F8A93"/>
          </a:solidFill>
          <a:ln>
            <a:noFill/>
          </a:ln>
        </p:spPr>
      </p:sp>
      <p:sp>
        <p:nvSpPr>
          <p:cNvPr id="4" name="Oval 4"/>
          <p:cNvSpPr/>
          <p:nvPr/>
        </p:nvSpPr>
        <p:spPr>
          <a:xfrm>
            <a:off x="5638800" y="2011680"/>
            <a:ext cx="914400" cy="914400"/>
          </a:xfrm>
          <a:prstGeom prst="ellipse">
            <a:avLst/>
          </a:prstGeom>
          <a:solidFill>
            <a:srgbClr val="1F8A93"/>
          </a:solidFill>
          <a:ln>
            <a:noFill/>
          </a:ln>
        </p:spPr>
      </p:sp>
      <p:sp>
        <p:nvSpPr>
          <p:cNvPr id="5" name="Text 5"/>
          <p:cNvSpPr txBox="1"/>
          <p:nvPr/>
        </p:nvSpPr>
        <p:spPr>
          <a:xfrm>
            <a:off x="5638800" y="201168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th-TH" sz="2800" b="1" dirty="0">
                <a:solidFill>
                  <a:srgbClr val="FFFFFF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▶</a:t>
            </a:r>
            <a:endParaRPr lang="en-US" sz="1000" dirty="0"/>
          </a:p>
        </p:txBody>
      </p:sp>
      <p:sp>
        <p:nvSpPr>
          <p:cNvPr id="6" name="Text 6"/>
          <p:cNvSpPr txBox="1"/>
          <p:nvPr/>
        </p:nvSpPr>
        <p:spPr>
          <a:xfrm>
            <a:off x="1371600" y="3200400"/>
            <a:ext cx="944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th-TH" sz="3600" b="1" dirty="0">
                <a:solidFill>
                  <a:srgbClr val="FFFFFF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ตัวอย่างหน้าจอ </a:t>
            </a:r>
            <a:r>
              <a:rPr lang="en-US" sz="3600" b="1" dirty="0">
                <a:solidFill>
                  <a:srgbClr val="FFFFFF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Web App</a:t>
            </a:r>
            <a:endParaRPr lang="en-US" sz="1000" dirty="0"/>
          </a:p>
        </p:txBody>
      </p:sp>
      <p:sp>
        <p:nvSpPr>
          <p:cNvPr id="7" name="Shape 7"/>
          <p:cNvSpPr/>
          <p:nvPr/>
        </p:nvSpPr>
        <p:spPr>
          <a:xfrm>
            <a:off x="5730240" y="4114800"/>
            <a:ext cx="731520" cy="27432"/>
          </a:xfrm>
          <a:prstGeom prst="rect">
            <a:avLst/>
          </a:prstGeom>
          <a:solidFill>
            <a:srgbClr val="F2A93B"/>
          </a:solidFill>
          <a:ln>
            <a:noFill/>
          </a:ln>
        </p:spPr>
      </p:sp>
      <p:sp>
        <p:nvSpPr>
          <p:cNvPr id="8" name="Text 8"/>
          <p:cNvSpPr txBox="1"/>
          <p:nvPr/>
        </p:nvSpPr>
        <p:spPr>
          <a:xfrm>
            <a:off x="1371600" y="4297680"/>
            <a:ext cx="944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th-TH" sz="1300" b="1" spc="300" dirty="0">
                <a:solidFill>
                  <a:srgbClr val="F2A93B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FEATURE WALKTHROUGH — INTELLIGENT TEST DATA SIMULATOR</a:t>
            </a:r>
            <a:endParaRPr lang="en-US" sz="1000" dirty="0"/>
          </a:p>
        </p:txBody>
      </p:sp>
      <p:sp>
        <p:nvSpPr>
          <p:cNvPr id="10" name="Text 10"/>
          <p:cNvSpPr txBox="1"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th-TH" sz="1000" dirty="0">
                <a:solidFill>
                  <a:srgbClr val="8FA3C0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Intelligent Test Data Simulator</a:t>
            </a:r>
            <a:endParaRPr lang="en-US" sz="1000" dirty="0"/>
          </a:p>
        </p:txBody>
      </p:sp>
      <p:sp>
        <p:nvSpPr>
          <p:cNvPr id="11" name="Text 11"/>
          <p:cNvSpPr txBox="1"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th-TH" sz="1000" dirty="0">
                <a:solidFill>
                  <a:srgbClr val="8FA3C0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17</a:t>
            </a:r>
            <a:endParaRPr lang="en-US" sz="1000" dirty="0"/>
          </a:p>
        </p:txBody>
      </p:sp>
      <p:sp>
        <p:nvSpPr>
          <p:cNvPr id="900" name="Text 900"/>
          <p:cNvSpPr txBox="1"/>
          <p:nvPr/>
        </p:nvSpPr>
        <p:spPr>
          <a:xfrm>
            <a:off x="548640" y="320040"/>
            <a:ext cx="685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2A93B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04</a:t>
            </a:r>
            <a:endParaRPr lang="en-US" sz="1000" dirty="0"/>
          </a:p>
        </p:txBody>
      </p:sp>
      <p:sp>
        <p:nvSpPr>
          <p:cNvPr id="901" name="Text 901"/>
          <p:cNvSpPr txBox="1"/>
          <p:nvPr/>
        </p:nvSpPr>
        <p:spPr>
          <a:xfrm>
            <a:off x="1325880" y="384048"/>
            <a:ext cx="8366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spc="200" dirty="0">
                <a:solidFill>
                  <a:srgbClr val="8FA3C0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DEMONSTRATION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0" name="Text 900"/>
          <p:cNvSpPr txBox="1"/>
          <p:nvPr/>
        </p:nvSpPr>
        <p:spPr>
          <a:xfrm>
            <a:off x="548640" y="320040"/>
            <a:ext cx="685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F8A93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04</a:t>
            </a:r>
            <a:endParaRPr lang="en-US" sz="1000" dirty="0"/>
          </a:p>
        </p:txBody>
      </p:sp>
      <p:sp>
        <p:nvSpPr>
          <p:cNvPr id="901" name="Text 901"/>
          <p:cNvSpPr txBox="1"/>
          <p:nvPr/>
        </p:nvSpPr>
        <p:spPr>
          <a:xfrm>
            <a:off x="1325880" y="384048"/>
            <a:ext cx="8366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spc="200" dirty="0">
                <a:solidFill>
                  <a:srgbClr val="6B7280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FEATURE WALKTHROUGH 1/6</a:t>
            </a:r>
            <a:endParaRPr lang="en-US" sz="1000" dirty="0"/>
          </a:p>
        </p:txBody>
      </p:sp>
      <p:sp>
        <p:nvSpPr>
          <p:cNvPr id="3" name="Text 3"/>
          <p:cNvSpPr txBox="1"/>
          <p:nvPr/>
        </p:nvSpPr>
        <p:spPr>
          <a:xfrm>
            <a:off x="548640" y="658368"/>
            <a:ext cx="10789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th-TH" sz="3200" b="1" dirty="0">
                <a:solidFill>
                  <a:srgbClr val="132A4D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เข้าสู่ระบบ และกำหนดเงื่อนไข/แนบ DDL</a:t>
            </a:r>
            <a:endParaRPr lang="en-US" sz="1000" dirty="0"/>
          </a:p>
        </p:txBody>
      </p:sp>
      <p:pic>
        <p:nvPicPr>
          <p:cNvPr id="4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9692" y="1645920"/>
            <a:ext cx="4704255" cy="2560320"/>
          </a:xfrm>
          <a:prstGeom prst="rect">
            <a:avLst/>
          </a:prstGeom>
          <a:ln w="9525">
            <a:solidFill>
              <a:srgbClr val="E2E8F0"/>
            </a:solidFill>
          </a:ln>
        </p:spPr>
      </p:pic>
      <p:cxnSp>
        <p:nvCxnSpPr>
          <p:cNvPr id="5" name="Leader 5"/>
          <p:cNvCxnSpPr/>
          <p:nvPr/>
        </p:nvCxnSpPr>
        <p:spPr>
          <a:xfrm>
            <a:off x="3131820" y="4206240"/>
            <a:ext cx="0" cy="228600"/>
          </a:xfrm>
          <a:prstGeom prst="line">
            <a:avLst/>
          </a:prstGeom>
          <a:ln w="12700">
            <a:solidFill>
              <a:srgbClr val="F2A93B"/>
            </a:solidFill>
          </a:ln>
        </p:spPr>
      </p:cxnSp>
      <p:sp>
        <p:nvSpPr>
          <p:cNvPr id="6" name="Dot 6"/>
          <p:cNvSpPr/>
          <p:nvPr/>
        </p:nvSpPr>
        <p:spPr>
          <a:xfrm>
            <a:off x="3086100" y="4160520"/>
            <a:ext cx="91440" cy="91440"/>
          </a:xfrm>
          <a:prstGeom prst="ellipse">
            <a:avLst/>
          </a:prstGeom>
          <a:solidFill>
            <a:srgbClr val="F2A93B"/>
          </a:solidFill>
          <a:ln>
            <a:noFill/>
          </a:ln>
        </p:spPr>
      </p:sp>
      <p:sp>
        <p:nvSpPr>
          <p:cNvPr id="7" name="Callout 7"/>
          <p:cNvSpPr/>
          <p:nvPr/>
        </p:nvSpPr>
        <p:spPr>
          <a:xfrm>
            <a:off x="548640" y="4434840"/>
            <a:ext cx="5166360" cy="16916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132A4D"/>
            </a:solidFill>
          </a:ln>
        </p:spPr>
      </p:sp>
      <p:sp>
        <p:nvSpPr>
          <p:cNvPr id="8" name="Text 8"/>
          <p:cNvSpPr txBox="1"/>
          <p:nvPr/>
        </p:nvSpPr>
        <p:spPr>
          <a:xfrm>
            <a:off x="777240" y="4663440"/>
            <a:ext cx="47091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th-TH" sz="1200" b="1" dirty="0">
                <a:solidFill>
                  <a:srgbClr val="132A4D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เข้าสู่ระบบตามสิทธิ์การใช้งาน</a:t>
            </a:r>
            <a:endParaRPr lang="en-US" sz="1000" dirty="0"/>
          </a:p>
          <a:p>
            <a:pPr marL="0" indent="0">
              <a:lnSpc>
                <a:spcPct val="120000"/>
              </a:lnSpc>
              <a:buNone/>
            </a:pPr>
            <a:r>
              <a:rPr lang="th-TH" sz="1000" dirty="0">
                <a:solidFill>
                  <a:srgbClr val="6B7280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รหัสผ่านจัดเก็บแบบ SHA-256 + Salt ล็อกบัญชีชั่วคราวเมื่อกรอกผิดติดต่อกัน 3 ครั้ง และกำหนดสิทธิ์ตามบทบาท QA Tester, Developer, Business Analyst, System Analyst และ Super Admin</a:t>
            </a:r>
            <a:endParaRPr lang="en-US" sz="1000" dirty="0"/>
          </a:p>
        </p:txBody>
      </p:sp>
      <p:pic>
        <p:nvPicPr>
          <p:cNvPr id="9" name="Picture 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69592" y="1645920"/>
            <a:ext cx="3771576" cy="2560320"/>
          </a:xfrm>
          <a:prstGeom prst="rect">
            <a:avLst/>
          </a:prstGeom>
          <a:ln w="9525">
            <a:solidFill>
              <a:srgbClr val="E2E8F0"/>
            </a:solidFill>
          </a:ln>
        </p:spPr>
      </p:pic>
      <p:cxnSp>
        <p:nvCxnSpPr>
          <p:cNvPr id="10" name="Leader 10"/>
          <p:cNvCxnSpPr/>
          <p:nvPr/>
        </p:nvCxnSpPr>
        <p:spPr>
          <a:xfrm>
            <a:off x="8755380" y="4206240"/>
            <a:ext cx="0" cy="228600"/>
          </a:xfrm>
          <a:prstGeom prst="line">
            <a:avLst/>
          </a:prstGeom>
          <a:ln w="12700">
            <a:solidFill>
              <a:srgbClr val="F2A93B"/>
            </a:solidFill>
          </a:ln>
        </p:spPr>
      </p:cxnSp>
      <p:sp>
        <p:nvSpPr>
          <p:cNvPr id="11" name="Dot 11"/>
          <p:cNvSpPr/>
          <p:nvPr/>
        </p:nvSpPr>
        <p:spPr>
          <a:xfrm>
            <a:off x="8709660" y="4160520"/>
            <a:ext cx="91440" cy="91440"/>
          </a:xfrm>
          <a:prstGeom prst="ellipse">
            <a:avLst/>
          </a:prstGeom>
          <a:solidFill>
            <a:srgbClr val="F2A93B"/>
          </a:solidFill>
          <a:ln>
            <a:noFill/>
          </a:ln>
        </p:spPr>
      </p:sp>
      <p:sp>
        <p:nvSpPr>
          <p:cNvPr id="12" name="Callout 12"/>
          <p:cNvSpPr/>
          <p:nvPr/>
        </p:nvSpPr>
        <p:spPr>
          <a:xfrm>
            <a:off x="6172200" y="4434840"/>
            <a:ext cx="5166360" cy="16916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132A4D"/>
            </a:solidFill>
          </a:ln>
        </p:spPr>
      </p:sp>
      <p:sp>
        <p:nvSpPr>
          <p:cNvPr id="13" name="Text 13"/>
          <p:cNvSpPr txBox="1"/>
          <p:nvPr/>
        </p:nvSpPr>
        <p:spPr>
          <a:xfrm>
            <a:off x="6400800" y="4663440"/>
            <a:ext cx="47091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th-TH" sz="1200" b="1" dirty="0">
                <a:solidFill>
                  <a:srgbClr val="132A4D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ระบุเงื่อนไขและแนบโครงสร้างตาราง</a:t>
            </a:r>
            <a:endParaRPr lang="en-US" sz="1000" dirty="0"/>
          </a:p>
          <a:p>
            <a:pPr marL="0" indent="0">
              <a:lnSpc>
                <a:spcPct val="120000"/>
              </a:lnSpc>
              <a:buNone/>
            </a:pPr>
            <a:r>
              <a:rPr lang="th-TH" sz="1000" dirty="0">
                <a:solidFill>
                  <a:srgbClr val="6B7280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เลือกประเภทข้อมูล จำนวนแถวที่ต้องการ (สูงสุด 300 แถวต่อครั้ง) แนบ DDL Script และเปิด Reference Column Lock เมื่อต้องการอ้างอิงค่าจริงจากชุดข้อมูลเดิม</a:t>
            </a:r>
            <a:endParaRPr lang="en-US" sz="1000" dirty="0"/>
          </a:p>
        </p:txBody>
      </p:sp>
      <p:sp>
        <p:nvSpPr>
          <p:cNvPr id="14" name="Text 14"/>
          <p:cNvSpPr txBox="1"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th-TH" sz="1000" dirty="0">
                <a:solidFill>
                  <a:srgbClr val="6B7280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สาธิตการใช้งานจริง — Feature Walkthrough</a:t>
            </a:r>
            <a:endParaRPr lang="en-US" sz="1000" dirty="0"/>
          </a:p>
        </p:txBody>
      </p:sp>
      <p:sp>
        <p:nvSpPr>
          <p:cNvPr id="15" name="Text 15"/>
          <p:cNvSpPr txBox="1"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th-TH" sz="1000" dirty="0">
                <a:solidFill>
                  <a:srgbClr val="6B7280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18</a:t>
            </a:r>
            <a:endParaRPr lang="en-US" sz="1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0" name="Text 900"/>
          <p:cNvSpPr txBox="1"/>
          <p:nvPr/>
        </p:nvSpPr>
        <p:spPr>
          <a:xfrm>
            <a:off x="548640" y="320040"/>
            <a:ext cx="685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F8A93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04</a:t>
            </a:r>
            <a:endParaRPr lang="en-US" sz="1000" dirty="0"/>
          </a:p>
        </p:txBody>
      </p:sp>
      <p:sp>
        <p:nvSpPr>
          <p:cNvPr id="901" name="Text 901"/>
          <p:cNvSpPr txBox="1"/>
          <p:nvPr/>
        </p:nvSpPr>
        <p:spPr>
          <a:xfrm>
            <a:off x="1325880" y="384048"/>
            <a:ext cx="8366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spc="200" dirty="0">
                <a:solidFill>
                  <a:srgbClr val="6B7280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FEATURE WALKTHROUGH 2/6</a:t>
            </a:r>
            <a:endParaRPr lang="en-US" sz="1000" dirty="0"/>
          </a:p>
        </p:txBody>
      </p:sp>
      <p:sp>
        <p:nvSpPr>
          <p:cNvPr id="3" name="Text 3"/>
          <p:cNvSpPr txBox="1"/>
          <p:nvPr/>
        </p:nvSpPr>
        <p:spPr>
          <a:xfrm>
            <a:off x="548640" y="658368"/>
            <a:ext cx="10789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th-TH" sz="3200" b="1" dirty="0">
                <a:solidFill>
                  <a:srgbClr val="132A4D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ผลลัพธ์ข้อมูลและคำสั่ง SQL</a:t>
            </a:r>
            <a:endParaRPr lang="en-US" sz="1000" dirty="0"/>
          </a:p>
        </p:txBody>
      </p:sp>
      <p:pic>
        <p:nvPicPr>
          <p:cNvPr id="4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4198" y="1645920"/>
            <a:ext cx="4775243" cy="2560320"/>
          </a:xfrm>
          <a:prstGeom prst="rect">
            <a:avLst/>
          </a:prstGeom>
          <a:ln w="9525">
            <a:solidFill>
              <a:srgbClr val="E2E8F0"/>
            </a:solidFill>
          </a:ln>
        </p:spPr>
      </p:pic>
      <p:cxnSp>
        <p:nvCxnSpPr>
          <p:cNvPr id="5" name="Leader 5"/>
          <p:cNvCxnSpPr/>
          <p:nvPr/>
        </p:nvCxnSpPr>
        <p:spPr>
          <a:xfrm>
            <a:off x="3131820" y="4206240"/>
            <a:ext cx="0" cy="228600"/>
          </a:xfrm>
          <a:prstGeom prst="line">
            <a:avLst/>
          </a:prstGeom>
          <a:ln w="12700">
            <a:solidFill>
              <a:srgbClr val="F2A93B"/>
            </a:solidFill>
          </a:ln>
        </p:spPr>
      </p:cxnSp>
      <p:sp>
        <p:nvSpPr>
          <p:cNvPr id="6" name="Dot 6"/>
          <p:cNvSpPr/>
          <p:nvPr/>
        </p:nvSpPr>
        <p:spPr>
          <a:xfrm>
            <a:off x="3086100" y="4160520"/>
            <a:ext cx="91440" cy="91440"/>
          </a:xfrm>
          <a:prstGeom prst="ellipse">
            <a:avLst/>
          </a:prstGeom>
          <a:solidFill>
            <a:srgbClr val="F2A93B"/>
          </a:solidFill>
          <a:ln>
            <a:noFill/>
          </a:ln>
        </p:spPr>
      </p:sp>
      <p:sp>
        <p:nvSpPr>
          <p:cNvPr id="7" name="Callout 7"/>
          <p:cNvSpPr/>
          <p:nvPr/>
        </p:nvSpPr>
        <p:spPr>
          <a:xfrm>
            <a:off x="548640" y="4434840"/>
            <a:ext cx="5166360" cy="16916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132A4D"/>
            </a:solidFill>
          </a:ln>
        </p:spPr>
      </p:sp>
      <p:sp>
        <p:nvSpPr>
          <p:cNvPr id="8" name="Text 8"/>
          <p:cNvSpPr txBox="1"/>
          <p:nvPr/>
        </p:nvSpPr>
        <p:spPr>
          <a:xfrm>
            <a:off x="777240" y="4663440"/>
            <a:ext cx="47091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th-TH" sz="1200" b="1" dirty="0">
                <a:solidFill>
                  <a:srgbClr val="132A4D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ตารางแสดงข้อมูลที่ระบบสร้าง</a:t>
            </a:r>
            <a:endParaRPr lang="en-US" sz="1000" dirty="0"/>
          </a:p>
          <a:p>
            <a:pPr marL="0" indent="0">
              <a:lnSpc>
                <a:spcPct val="120000"/>
              </a:lnSpc>
              <a:buNone/>
            </a:pPr>
            <a:r>
              <a:rPr lang="th-TH" sz="1000" dirty="0">
                <a:solidFill>
                  <a:srgbClr val="6B7280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แสดงโครงสร้างและลำดับคอลัมน์ตรงตาม DDL ที่แนบไว้ทุกคอลัมน์ และผู้ใช้งานแก้ไขค่าในตารางได้ก่อนบันทึกจริง</a:t>
            </a:r>
            <a:endParaRPr lang="en-US" sz="1000" dirty="0"/>
          </a:p>
        </p:txBody>
      </p:sp>
      <p:pic>
        <p:nvPicPr>
          <p:cNvPr id="9" name="Picture 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58910" y="1645920"/>
            <a:ext cx="4592940" cy="2560320"/>
          </a:xfrm>
          <a:prstGeom prst="rect">
            <a:avLst/>
          </a:prstGeom>
          <a:ln w="9525">
            <a:solidFill>
              <a:srgbClr val="E2E8F0"/>
            </a:solidFill>
          </a:ln>
        </p:spPr>
      </p:pic>
      <p:cxnSp>
        <p:nvCxnSpPr>
          <p:cNvPr id="10" name="Leader 10"/>
          <p:cNvCxnSpPr/>
          <p:nvPr/>
        </p:nvCxnSpPr>
        <p:spPr>
          <a:xfrm>
            <a:off x="8755380" y="4206240"/>
            <a:ext cx="0" cy="228600"/>
          </a:xfrm>
          <a:prstGeom prst="line">
            <a:avLst/>
          </a:prstGeom>
          <a:ln w="12700">
            <a:solidFill>
              <a:srgbClr val="F2A93B"/>
            </a:solidFill>
          </a:ln>
        </p:spPr>
      </p:cxnSp>
      <p:sp>
        <p:nvSpPr>
          <p:cNvPr id="11" name="Dot 11"/>
          <p:cNvSpPr/>
          <p:nvPr/>
        </p:nvSpPr>
        <p:spPr>
          <a:xfrm>
            <a:off x="8709660" y="4160520"/>
            <a:ext cx="91440" cy="91440"/>
          </a:xfrm>
          <a:prstGeom prst="ellipse">
            <a:avLst/>
          </a:prstGeom>
          <a:solidFill>
            <a:srgbClr val="F2A93B"/>
          </a:solidFill>
          <a:ln>
            <a:noFill/>
          </a:ln>
        </p:spPr>
      </p:sp>
      <p:sp>
        <p:nvSpPr>
          <p:cNvPr id="12" name="Callout 12"/>
          <p:cNvSpPr/>
          <p:nvPr/>
        </p:nvSpPr>
        <p:spPr>
          <a:xfrm>
            <a:off x="6172200" y="4434840"/>
            <a:ext cx="5166360" cy="16916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132A4D"/>
            </a:solidFill>
          </a:ln>
        </p:spPr>
      </p:sp>
      <p:sp>
        <p:nvSpPr>
          <p:cNvPr id="13" name="Text 13"/>
          <p:cNvSpPr txBox="1"/>
          <p:nvPr/>
        </p:nvSpPr>
        <p:spPr>
          <a:xfrm>
            <a:off x="6400800" y="4663440"/>
            <a:ext cx="47091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th-TH" sz="1200" b="1" dirty="0">
                <a:solidFill>
                  <a:srgbClr val="132A4D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คำสั่ง SQL ที่พร้อมใช้งาน</a:t>
            </a:r>
            <a:endParaRPr lang="en-US" sz="1000" dirty="0"/>
          </a:p>
          <a:p>
            <a:pPr marL="0" indent="0">
              <a:lnSpc>
                <a:spcPct val="120000"/>
              </a:lnSpc>
              <a:buNone/>
            </a:pPr>
            <a:r>
              <a:rPr lang="th-TH" sz="1000" dirty="0">
                <a:solidFill>
                  <a:srgbClr val="6B7280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ระบบสร้างคำสั่ง INSERT ให้อัตโนมัติจากข้อมูลชุดเดียวกัน คัดลอกไปใช้กับฐานข้อมูลจริงได้ทันที</a:t>
            </a:r>
            <a:endParaRPr lang="en-US" sz="1000" dirty="0"/>
          </a:p>
        </p:txBody>
      </p:sp>
      <p:sp>
        <p:nvSpPr>
          <p:cNvPr id="14" name="Text 14"/>
          <p:cNvSpPr txBox="1"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th-TH" sz="1000" dirty="0">
                <a:solidFill>
                  <a:srgbClr val="6B7280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สาธิตการใช้งานจริง — Feature Walkthrough</a:t>
            </a:r>
            <a:endParaRPr lang="en-US" sz="1000" dirty="0"/>
          </a:p>
        </p:txBody>
      </p:sp>
      <p:sp>
        <p:nvSpPr>
          <p:cNvPr id="15" name="Text 15"/>
          <p:cNvSpPr txBox="1"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th-TH" sz="1000" dirty="0">
                <a:solidFill>
                  <a:srgbClr val="6B7280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19</a:t>
            </a:r>
            <a:endParaRPr lang="en-US" sz="10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0" name="Text 900"/>
          <p:cNvSpPr txBox="1"/>
          <p:nvPr/>
        </p:nvSpPr>
        <p:spPr>
          <a:xfrm>
            <a:off x="548640" y="320040"/>
            <a:ext cx="685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F8A93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04</a:t>
            </a:r>
            <a:endParaRPr lang="en-US" sz="1000" dirty="0"/>
          </a:p>
        </p:txBody>
      </p:sp>
      <p:sp>
        <p:nvSpPr>
          <p:cNvPr id="901" name="Text 901"/>
          <p:cNvSpPr txBox="1"/>
          <p:nvPr/>
        </p:nvSpPr>
        <p:spPr>
          <a:xfrm>
            <a:off x="1325880" y="384048"/>
            <a:ext cx="8366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spc="200" dirty="0">
                <a:solidFill>
                  <a:srgbClr val="6B7280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FEATURE WALKTHROUGH 3/6</a:t>
            </a:r>
            <a:endParaRPr lang="en-US" sz="1000" dirty="0"/>
          </a:p>
        </p:txBody>
      </p:sp>
      <p:sp>
        <p:nvSpPr>
          <p:cNvPr id="3" name="Text 3"/>
          <p:cNvSpPr txBox="1"/>
          <p:nvPr/>
        </p:nvSpPr>
        <p:spPr>
          <a:xfrm>
            <a:off x="548640" y="658368"/>
            <a:ext cx="10789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th-TH" sz="3200" b="1" dirty="0">
                <a:solidFill>
                  <a:srgbClr val="132A4D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ตรวจคะแนนคุณภาพก่อน Commit</a:t>
            </a:r>
            <a:endParaRPr lang="en-US" sz="1000" dirty="0"/>
          </a:p>
        </p:txBody>
      </p:sp>
      <p:pic>
        <p:nvPicPr>
          <p:cNvPr id="4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03390" y="1737360"/>
            <a:ext cx="4108420" cy="4206240"/>
          </a:xfrm>
          <a:prstGeom prst="rect">
            <a:avLst/>
          </a:prstGeom>
          <a:ln w="9525">
            <a:solidFill>
              <a:srgbClr val="E2E8F0"/>
            </a:solidFill>
          </a:ln>
        </p:spPr>
      </p:pic>
      <p:cxnSp>
        <p:nvCxnSpPr>
          <p:cNvPr id="5" name="Leader 5"/>
          <p:cNvCxnSpPr/>
          <p:nvPr/>
        </p:nvCxnSpPr>
        <p:spPr>
          <a:xfrm>
            <a:off x="5437490" y="2880360"/>
            <a:ext cx="1603390" cy="0"/>
          </a:xfrm>
          <a:prstGeom prst="line">
            <a:avLst/>
          </a:prstGeom>
          <a:ln w="12700">
            <a:solidFill>
              <a:srgbClr val="F2A93B"/>
            </a:solidFill>
          </a:ln>
        </p:spPr>
      </p:cxnSp>
      <p:sp>
        <p:nvSpPr>
          <p:cNvPr id="6" name="Dot 6"/>
          <p:cNvSpPr/>
          <p:nvPr/>
        </p:nvSpPr>
        <p:spPr>
          <a:xfrm>
            <a:off x="5391770" y="2834640"/>
            <a:ext cx="91440" cy="91440"/>
          </a:xfrm>
          <a:prstGeom prst="ellipse">
            <a:avLst/>
          </a:prstGeom>
          <a:solidFill>
            <a:srgbClr val="F2A93B"/>
          </a:solidFill>
          <a:ln>
            <a:noFill/>
          </a:ln>
        </p:spPr>
      </p:sp>
      <p:sp>
        <p:nvSpPr>
          <p:cNvPr id="7" name="Callout 7"/>
          <p:cNvSpPr/>
          <p:nvPr/>
        </p:nvSpPr>
        <p:spPr>
          <a:xfrm>
            <a:off x="7040880" y="1920240"/>
            <a:ext cx="4297680" cy="19202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132A4D"/>
            </a:solidFill>
          </a:ln>
        </p:spPr>
      </p:sp>
      <p:sp>
        <p:nvSpPr>
          <p:cNvPr id="8" name="Text 8"/>
          <p:cNvSpPr txBox="1"/>
          <p:nvPr/>
        </p:nvSpPr>
        <p:spPr>
          <a:xfrm>
            <a:off x="7269480" y="2148840"/>
            <a:ext cx="38404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th-TH" sz="1200" b="1" dirty="0">
                <a:solidFill>
                  <a:srgbClr val="132A4D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ตรวจสอบสองชั้น</a:t>
            </a:r>
            <a:endParaRPr lang="en-US" sz="1000" dirty="0"/>
          </a:p>
          <a:p>
            <a:pPr marL="0" indent="0">
              <a:lnSpc>
                <a:spcPct val="120000"/>
              </a:lnSpc>
              <a:buNone/>
            </a:pPr>
            <a:r>
              <a:rPr lang="th-TH" sz="1000" dirty="0">
                <a:solidFill>
                  <a:srgbClr val="6B7280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ระบบตรวจเชิงโครงสร้างก่อน (จำนวนแถว คอลัมน์ขาด/เกิน ค่าว่าง) แล้วให้ Gemini ประเมินความตรงตามเงื่อนไขอีกชั้นหนึ่ง</a:t>
            </a:r>
            <a:endParaRPr lang="en-US" sz="1000" dirty="0"/>
          </a:p>
        </p:txBody>
      </p:sp>
      <p:cxnSp>
        <p:nvCxnSpPr>
          <p:cNvPr id="9" name="Leader 9"/>
          <p:cNvCxnSpPr/>
          <p:nvPr/>
        </p:nvCxnSpPr>
        <p:spPr>
          <a:xfrm>
            <a:off x="5437490" y="5074920"/>
            <a:ext cx="1603390" cy="0"/>
          </a:xfrm>
          <a:prstGeom prst="line">
            <a:avLst/>
          </a:prstGeom>
          <a:ln w="12700">
            <a:solidFill>
              <a:srgbClr val="F2A93B"/>
            </a:solidFill>
          </a:ln>
        </p:spPr>
      </p:cxnSp>
      <p:sp>
        <p:nvSpPr>
          <p:cNvPr id="10" name="Dot 10"/>
          <p:cNvSpPr/>
          <p:nvPr/>
        </p:nvSpPr>
        <p:spPr>
          <a:xfrm>
            <a:off x="5391770" y="5029200"/>
            <a:ext cx="91440" cy="91440"/>
          </a:xfrm>
          <a:prstGeom prst="ellipse">
            <a:avLst/>
          </a:prstGeom>
          <a:solidFill>
            <a:srgbClr val="F2A93B"/>
          </a:solidFill>
          <a:ln>
            <a:noFill/>
          </a:ln>
        </p:spPr>
      </p:sp>
      <p:sp>
        <p:nvSpPr>
          <p:cNvPr id="11" name="Callout 11"/>
          <p:cNvSpPr/>
          <p:nvPr/>
        </p:nvSpPr>
        <p:spPr>
          <a:xfrm>
            <a:off x="7040880" y="4114800"/>
            <a:ext cx="4297680" cy="19202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132A4D"/>
            </a:solidFill>
          </a:ln>
        </p:spPr>
      </p:sp>
      <p:sp>
        <p:nvSpPr>
          <p:cNvPr id="12" name="Text 12"/>
          <p:cNvSpPr txBox="1"/>
          <p:nvPr/>
        </p:nvSpPr>
        <p:spPr>
          <a:xfrm>
            <a:off x="7269480" y="4343400"/>
            <a:ext cx="38404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th-TH" sz="1200" b="1" dirty="0">
                <a:solidFill>
                  <a:srgbClr val="132A4D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เกณฑ์ผ่านขั้นต่ำ</a:t>
            </a:r>
            <a:endParaRPr lang="en-US" sz="1000" dirty="0"/>
          </a:p>
          <a:p>
            <a:pPr marL="0" indent="0">
              <a:lnSpc>
                <a:spcPct val="120000"/>
              </a:lnSpc>
              <a:buNone/>
            </a:pPr>
            <a:r>
              <a:rPr lang="th-TH" sz="1000" dirty="0">
                <a:solidFill>
                  <a:srgbClr val="6B7280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Condition Match ≥ 70% และ Reliability ≥ 90% ต้องผ่านทั้งสองเงื่อนไข ระบบจึงอนุญาตให้บันทึกข้อมูลเข้าสู่ระบบ</a:t>
            </a:r>
            <a:endParaRPr lang="en-US" sz="1000" dirty="0"/>
          </a:p>
        </p:txBody>
      </p:sp>
      <p:sp>
        <p:nvSpPr>
          <p:cNvPr id="13" name="Text 13"/>
          <p:cNvSpPr txBox="1"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th-TH" sz="1000" dirty="0">
                <a:solidFill>
                  <a:srgbClr val="6B7280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สาธิตการใช้งานจริง — Feature Walkthrough</a:t>
            </a:r>
            <a:endParaRPr lang="en-US" sz="1000" dirty="0"/>
          </a:p>
        </p:txBody>
      </p:sp>
      <p:sp>
        <p:nvSpPr>
          <p:cNvPr id="14" name="Text 14"/>
          <p:cNvSpPr txBox="1"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th-TH" sz="1000" dirty="0">
                <a:solidFill>
                  <a:srgbClr val="6B7280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20</a:t>
            </a:r>
            <a:endParaRPr lang="en-US" sz="10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0" name="Text 900"/>
          <p:cNvSpPr txBox="1"/>
          <p:nvPr/>
        </p:nvSpPr>
        <p:spPr>
          <a:xfrm>
            <a:off x="548640" y="320040"/>
            <a:ext cx="685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F8A93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04</a:t>
            </a:r>
            <a:endParaRPr lang="en-US" sz="1000" dirty="0"/>
          </a:p>
        </p:txBody>
      </p:sp>
      <p:sp>
        <p:nvSpPr>
          <p:cNvPr id="901" name="Text 901"/>
          <p:cNvSpPr txBox="1"/>
          <p:nvPr/>
        </p:nvSpPr>
        <p:spPr>
          <a:xfrm>
            <a:off x="1325880" y="384048"/>
            <a:ext cx="8366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spc="200" dirty="0">
                <a:solidFill>
                  <a:srgbClr val="6B7280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FEATURE WALKTHROUGH 4/6</a:t>
            </a:r>
            <a:endParaRPr lang="en-US" sz="1000" dirty="0"/>
          </a:p>
        </p:txBody>
      </p:sp>
      <p:sp>
        <p:nvSpPr>
          <p:cNvPr id="3" name="Text 3"/>
          <p:cNvSpPr txBox="1"/>
          <p:nvPr/>
        </p:nvSpPr>
        <p:spPr>
          <a:xfrm>
            <a:off x="548640" y="658368"/>
            <a:ext cx="10789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th-TH" sz="3200" b="1" dirty="0">
                <a:solidFill>
                  <a:srgbClr val="132A4D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บันทึกข้อมูล (Commit) และ Activity Log</a:t>
            </a:r>
            <a:endParaRPr lang="en-US" sz="1000" dirty="0"/>
          </a:p>
        </p:txBody>
      </p:sp>
      <p:pic>
        <p:nvPicPr>
          <p:cNvPr id="4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6717" y="1645920"/>
            <a:ext cx="4550206" cy="2560320"/>
          </a:xfrm>
          <a:prstGeom prst="rect">
            <a:avLst/>
          </a:prstGeom>
          <a:ln w="9525">
            <a:solidFill>
              <a:srgbClr val="E2E8F0"/>
            </a:solidFill>
          </a:ln>
        </p:spPr>
      </p:pic>
      <p:cxnSp>
        <p:nvCxnSpPr>
          <p:cNvPr id="5" name="Leader 5"/>
          <p:cNvCxnSpPr/>
          <p:nvPr/>
        </p:nvCxnSpPr>
        <p:spPr>
          <a:xfrm>
            <a:off x="3131820" y="4206240"/>
            <a:ext cx="0" cy="228600"/>
          </a:xfrm>
          <a:prstGeom prst="line">
            <a:avLst/>
          </a:prstGeom>
          <a:ln w="12700">
            <a:solidFill>
              <a:srgbClr val="F2A93B"/>
            </a:solidFill>
          </a:ln>
        </p:spPr>
      </p:cxnSp>
      <p:sp>
        <p:nvSpPr>
          <p:cNvPr id="6" name="Dot 6"/>
          <p:cNvSpPr/>
          <p:nvPr/>
        </p:nvSpPr>
        <p:spPr>
          <a:xfrm>
            <a:off x="3086100" y="4160520"/>
            <a:ext cx="91440" cy="91440"/>
          </a:xfrm>
          <a:prstGeom prst="ellipse">
            <a:avLst/>
          </a:prstGeom>
          <a:solidFill>
            <a:srgbClr val="F2A93B"/>
          </a:solidFill>
          <a:ln>
            <a:noFill/>
          </a:ln>
        </p:spPr>
      </p:sp>
      <p:sp>
        <p:nvSpPr>
          <p:cNvPr id="7" name="Callout 7"/>
          <p:cNvSpPr/>
          <p:nvPr/>
        </p:nvSpPr>
        <p:spPr>
          <a:xfrm>
            <a:off x="548640" y="4434840"/>
            <a:ext cx="5166360" cy="16916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132A4D"/>
            </a:solidFill>
          </a:ln>
        </p:spPr>
      </p:sp>
      <p:sp>
        <p:nvSpPr>
          <p:cNvPr id="8" name="Text 8"/>
          <p:cNvSpPr txBox="1"/>
          <p:nvPr/>
        </p:nvSpPr>
        <p:spPr>
          <a:xfrm>
            <a:off x="777240" y="4663440"/>
            <a:ext cx="47091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th-TH" sz="1200" b="1" dirty="0">
                <a:solidFill>
                  <a:srgbClr val="132A4D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บันทึกและส่งออกข้อมูล</a:t>
            </a:r>
            <a:endParaRPr lang="en-US" sz="1000" dirty="0"/>
          </a:p>
          <a:p>
            <a:pPr marL="0" indent="0">
              <a:lnSpc>
                <a:spcPct val="120000"/>
              </a:lnSpc>
              <a:buNone/>
            </a:pPr>
            <a:r>
              <a:rPr lang="th-TH" sz="1000" dirty="0">
                <a:solidFill>
                  <a:srgbClr val="6B7280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ยืนยัน Commit ชุดข้อมูลที่ผ่านเกณฑ์คุณภาพเข้าสู่ฐานข้อมูล (</a:t>
            </a:r>
            <a:r>
              <a:rPr lang="en-US" sz="1000" dirty="0">
                <a:solidFill>
                  <a:srgbClr val="6B7280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Google Sheet</a:t>
            </a:r>
            <a:r>
              <a:rPr lang="th-TH" sz="1000" dirty="0">
                <a:solidFill>
                  <a:srgbClr val="6B7280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) พร้อมส่งออกเป็นไฟล์ .sql, .csv หรือ .json ได้ทันที</a:t>
            </a:r>
            <a:endParaRPr lang="en-US" sz="1000" dirty="0"/>
          </a:p>
        </p:txBody>
      </p:sp>
      <p:pic>
        <p:nvPicPr>
          <p:cNvPr id="9" name="Picture 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91555" y="1645920"/>
            <a:ext cx="4527650" cy="2560320"/>
          </a:xfrm>
          <a:prstGeom prst="rect">
            <a:avLst/>
          </a:prstGeom>
          <a:ln w="9525">
            <a:solidFill>
              <a:srgbClr val="E2E8F0"/>
            </a:solidFill>
          </a:ln>
        </p:spPr>
      </p:pic>
      <p:cxnSp>
        <p:nvCxnSpPr>
          <p:cNvPr id="10" name="Leader 10"/>
          <p:cNvCxnSpPr/>
          <p:nvPr/>
        </p:nvCxnSpPr>
        <p:spPr>
          <a:xfrm>
            <a:off x="8755380" y="4206240"/>
            <a:ext cx="0" cy="228600"/>
          </a:xfrm>
          <a:prstGeom prst="line">
            <a:avLst/>
          </a:prstGeom>
          <a:ln w="12700">
            <a:solidFill>
              <a:srgbClr val="F2A93B"/>
            </a:solidFill>
          </a:ln>
        </p:spPr>
      </p:cxnSp>
      <p:sp>
        <p:nvSpPr>
          <p:cNvPr id="11" name="Dot 11"/>
          <p:cNvSpPr/>
          <p:nvPr/>
        </p:nvSpPr>
        <p:spPr>
          <a:xfrm>
            <a:off x="8709660" y="4160520"/>
            <a:ext cx="91440" cy="91440"/>
          </a:xfrm>
          <a:prstGeom prst="ellipse">
            <a:avLst/>
          </a:prstGeom>
          <a:solidFill>
            <a:srgbClr val="F2A93B"/>
          </a:solidFill>
          <a:ln>
            <a:noFill/>
          </a:ln>
        </p:spPr>
      </p:sp>
      <p:sp>
        <p:nvSpPr>
          <p:cNvPr id="12" name="Callout 12"/>
          <p:cNvSpPr/>
          <p:nvPr/>
        </p:nvSpPr>
        <p:spPr>
          <a:xfrm>
            <a:off x="6172200" y="4434840"/>
            <a:ext cx="5166360" cy="16916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132A4D"/>
            </a:solidFill>
          </a:ln>
        </p:spPr>
      </p:sp>
      <p:sp>
        <p:nvSpPr>
          <p:cNvPr id="13" name="Text 13"/>
          <p:cNvSpPr txBox="1"/>
          <p:nvPr/>
        </p:nvSpPr>
        <p:spPr>
          <a:xfrm>
            <a:off x="6400800" y="4663440"/>
            <a:ext cx="47091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th-TH" sz="1200" b="1" dirty="0">
                <a:solidFill>
                  <a:srgbClr val="132A4D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บันทึกการทำงานของระบบ</a:t>
            </a:r>
            <a:endParaRPr lang="en-US" sz="1000" dirty="0"/>
          </a:p>
          <a:p>
            <a:pPr marL="0" indent="0">
              <a:lnSpc>
                <a:spcPct val="120000"/>
              </a:lnSpc>
              <a:buNone/>
            </a:pPr>
            <a:r>
              <a:rPr lang="th-TH" sz="1000" dirty="0">
                <a:solidFill>
                  <a:srgbClr val="6B7280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ทุกการสร้างและบันทึกข้อมูลถูกบันทึกลง Activity Log พร้อมเวลาและผู้ใช้งาน ตรวจสอบย้อนหลังได้จริง</a:t>
            </a:r>
            <a:endParaRPr lang="en-US" sz="1000" dirty="0"/>
          </a:p>
        </p:txBody>
      </p:sp>
      <p:sp>
        <p:nvSpPr>
          <p:cNvPr id="14" name="Text 14"/>
          <p:cNvSpPr txBox="1"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th-TH" sz="1000" dirty="0">
                <a:solidFill>
                  <a:srgbClr val="6B7280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สาธิตการใช้งานจริง — Feature Walkthrough</a:t>
            </a:r>
            <a:endParaRPr lang="en-US" sz="1000" dirty="0"/>
          </a:p>
        </p:txBody>
      </p:sp>
      <p:sp>
        <p:nvSpPr>
          <p:cNvPr id="15" name="Text 15"/>
          <p:cNvSpPr txBox="1"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th-TH" sz="1000" dirty="0">
                <a:solidFill>
                  <a:srgbClr val="6B7280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21</a:t>
            </a:r>
            <a:endParaRPr lang="en-US" sz="10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0" name="Text 900"/>
          <p:cNvSpPr txBox="1"/>
          <p:nvPr/>
        </p:nvSpPr>
        <p:spPr>
          <a:xfrm>
            <a:off x="548640" y="320040"/>
            <a:ext cx="685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F8A93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04</a:t>
            </a:r>
            <a:endParaRPr lang="en-US" sz="1000" dirty="0"/>
          </a:p>
        </p:txBody>
      </p:sp>
      <p:sp>
        <p:nvSpPr>
          <p:cNvPr id="901" name="Text 901"/>
          <p:cNvSpPr txBox="1"/>
          <p:nvPr/>
        </p:nvSpPr>
        <p:spPr>
          <a:xfrm>
            <a:off x="1325880" y="384048"/>
            <a:ext cx="8366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spc="200" dirty="0">
                <a:solidFill>
                  <a:srgbClr val="6B7280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FEATURE WALKTHROUGH 5/6</a:t>
            </a:r>
            <a:endParaRPr lang="en-US" sz="1000" dirty="0"/>
          </a:p>
        </p:txBody>
      </p:sp>
      <p:sp>
        <p:nvSpPr>
          <p:cNvPr id="3" name="Text 3"/>
          <p:cNvSpPr txBox="1"/>
          <p:nvPr/>
        </p:nvSpPr>
        <p:spPr>
          <a:xfrm>
            <a:off x="548640" y="658368"/>
            <a:ext cx="10789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th-TH" sz="3200" b="1" dirty="0">
                <a:solidFill>
                  <a:srgbClr val="132A4D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Dashboard สรุปสถิติการใช้งาน</a:t>
            </a:r>
            <a:endParaRPr lang="en-US" sz="1000" dirty="0"/>
          </a:p>
        </p:txBody>
      </p:sp>
      <p:pic>
        <p:nvPicPr>
          <p:cNvPr id="4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2142710"/>
            <a:ext cx="6217919" cy="3395540"/>
          </a:xfrm>
          <a:prstGeom prst="rect">
            <a:avLst/>
          </a:prstGeom>
          <a:ln w="9525">
            <a:solidFill>
              <a:srgbClr val="E2E8F0"/>
            </a:solidFill>
          </a:ln>
        </p:spPr>
      </p:pic>
      <p:cxnSp>
        <p:nvCxnSpPr>
          <p:cNvPr id="5" name="Leader 5"/>
          <p:cNvCxnSpPr/>
          <p:nvPr/>
        </p:nvCxnSpPr>
        <p:spPr>
          <a:xfrm>
            <a:off x="6492239" y="2880360"/>
            <a:ext cx="548641" cy="0"/>
          </a:xfrm>
          <a:prstGeom prst="line">
            <a:avLst/>
          </a:prstGeom>
          <a:ln w="12700">
            <a:solidFill>
              <a:srgbClr val="F2A93B"/>
            </a:solidFill>
          </a:ln>
        </p:spPr>
      </p:cxnSp>
      <p:sp>
        <p:nvSpPr>
          <p:cNvPr id="6" name="Dot 6"/>
          <p:cNvSpPr/>
          <p:nvPr/>
        </p:nvSpPr>
        <p:spPr>
          <a:xfrm>
            <a:off x="6446519" y="2834640"/>
            <a:ext cx="91440" cy="91440"/>
          </a:xfrm>
          <a:prstGeom prst="ellipse">
            <a:avLst/>
          </a:prstGeom>
          <a:solidFill>
            <a:srgbClr val="F2A93B"/>
          </a:solidFill>
          <a:ln>
            <a:noFill/>
          </a:ln>
        </p:spPr>
      </p:sp>
      <p:sp>
        <p:nvSpPr>
          <p:cNvPr id="7" name="Callout 7"/>
          <p:cNvSpPr/>
          <p:nvPr/>
        </p:nvSpPr>
        <p:spPr>
          <a:xfrm>
            <a:off x="7040880" y="1920240"/>
            <a:ext cx="4297680" cy="19202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132A4D"/>
            </a:solidFill>
          </a:ln>
        </p:spPr>
      </p:sp>
      <p:sp>
        <p:nvSpPr>
          <p:cNvPr id="8" name="Text 8"/>
          <p:cNvSpPr txBox="1"/>
          <p:nvPr/>
        </p:nvSpPr>
        <p:spPr>
          <a:xfrm>
            <a:off x="7269480" y="2148840"/>
            <a:ext cx="38404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th-TH" sz="1200" b="1" dirty="0">
                <a:solidFill>
                  <a:srgbClr val="132A4D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ใช้งานได้จากหน้าหลัก</a:t>
            </a:r>
            <a:endParaRPr lang="en-US" sz="1000" dirty="0"/>
          </a:p>
          <a:p>
            <a:pPr marL="0" indent="0">
              <a:lnSpc>
                <a:spcPct val="120000"/>
              </a:lnSpc>
              <a:buNone/>
            </a:pPr>
            <a:r>
              <a:rPr lang="th-TH" sz="1000" dirty="0">
                <a:solidFill>
                  <a:srgbClr val="6B7280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ผู้ใช้งานเริ่มสร้างข้อมูลได้ทันทีจากหน้าแรก โดยไม่ต้องเข้าเมนูย่อย</a:t>
            </a:r>
            <a:endParaRPr lang="en-US" sz="1000" dirty="0"/>
          </a:p>
        </p:txBody>
      </p:sp>
      <p:cxnSp>
        <p:nvCxnSpPr>
          <p:cNvPr id="9" name="Leader 9"/>
          <p:cNvCxnSpPr/>
          <p:nvPr/>
        </p:nvCxnSpPr>
        <p:spPr>
          <a:xfrm>
            <a:off x="6492239" y="5074920"/>
            <a:ext cx="548641" cy="0"/>
          </a:xfrm>
          <a:prstGeom prst="line">
            <a:avLst/>
          </a:prstGeom>
          <a:ln w="12700">
            <a:solidFill>
              <a:srgbClr val="F2A93B"/>
            </a:solidFill>
          </a:ln>
        </p:spPr>
      </p:cxnSp>
      <p:sp>
        <p:nvSpPr>
          <p:cNvPr id="10" name="Dot 10"/>
          <p:cNvSpPr/>
          <p:nvPr/>
        </p:nvSpPr>
        <p:spPr>
          <a:xfrm>
            <a:off x="6446519" y="5029200"/>
            <a:ext cx="91440" cy="91440"/>
          </a:xfrm>
          <a:prstGeom prst="ellipse">
            <a:avLst/>
          </a:prstGeom>
          <a:solidFill>
            <a:srgbClr val="F2A93B"/>
          </a:solidFill>
          <a:ln>
            <a:noFill/>
          </a:ln>
        </p:spPr>
      </p:sp>
      <p:sp>
        <p:nvSpPr>
          <p:cNvPr id="11" name="Callout 11"/>
          <p:cNvSpPr/>
          <p:nvPr/>
        </p:nvSpPr>
        <p:spPr>
          <a:xfrm>
            <a:off x="7040880" y="4114800"/>
            <a:ext cx="4297680" cy="19202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132A4D"/>
            </a:solidFill>
          </a:ln>
        </p:spPr>
      </p:sp>
      <p:sp>
        <p:nvSpPr>
          <p:cNvPr id="12" name="Text 12"/>
          <p:cNvSpPr txBox="1"/>
          <p:nvPr/>
        </p:nvSpPr>
        <p:spPr>
          <a:xfrm>
            <a:off x="7269480" y="4343400"/>
            <a:ext cx="38404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th-TH" sz="1200" b="1" dirty="0">
                <a:solidFill>
                  <a:srgbClr val="132A4D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สถิติภาพรวมการใช้งาน</a:t>
            </a:r>
            <a:endParaRPr lang="en-US" sz="1000" dirty="0"/>
          </a:p>
          <a:p>
            <a:pPr marL="0" indent="0">
              <a:lnSpc>
                <a:spcPct val="120000"/>
              </a:lnSpc>
              <a:buNone/>
            </a:pPr>
            <a:r>
              <a:rPr lang="th-TH" sz="1000" dirty="0">
                <a:solidFill>
                  <a:srgbClr val="6B7280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แสดงจำนวนชุดข้อมูลที่สร้างและคะแนนคุณภาพเฉลี่ย ช่วยให้ติดตามผลการใช้งานโดยรวมได้ในหน้าเดียว</a:t>
            </a:r>
            <a:endParaRPr lang="en-US" sz="1000" dirty="0"/>
          </a:p>
        </p:txBody>
      </p:sp>
      <p:sp>
        <p:nvSpPr>
          <p:cNvPr id="13" name="Text 13"/>
          <p:cNvSpPr txBox="1"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th-TH" sz="1000" dirty="0">
                <a:solidFill>
                  <a:srgbClr val="6B7280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สาธิตการใช้งานจริง — Feature Walkthrough</a:t>
            </a:r>
            <a:endParaRPr lang="en-US" sz="1000" dirty="0"/>
          </a:p>
        </p:txBody>
      </p:sp>
      <p:sp>
        <p:nvSpPr>
          <p:cNvPr id="14" name="Text 14"/>
          <p:cNvSpPr txBox="1"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th-TH" sz="1000" dirty="0">
                <a:solidFill>
                  <a:srgbClr val="6B7280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22</a:t>
            </a:r>
            <a:endParaRPr lang="en-US" sz="10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0" name="Text 900"/>
          <p:cNvSpPr txBox="1"/>
          <p:nvPr/>
        </p:nvSpPr>
        <p:spPr>
          <a:xfrm>
            <a:off x="548640" y="320040"/>
            <a:ext cx="685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F8A93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04</a:t>
            </a:r>
            <a:endParaRPr lang="en-US" sz="1000" dirty="0"/>
          </a:p>
        </p:txBody>
      </p:sp>
      <p:sp>
        <p:nvSpPr>
          <p:cNvPr id="901" name="Text 901"/>
          <p:cNvSpPr txBox="1"/>
          <p:nvPr/>
        </p:nvSpPr>
        <p:spPr>
          <a:xfrm>
            <a:off x="1325880" y="384048"/>
            <a:ext cx="8366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spc="200" dirty="0">
                <a:solidFill>
                  <a:srgbClr val="6B7280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FEATURE WALKTHROUGH 6/6</a:t>
            </a:r>
            <a:endParaRPr lang="en-US" sz="1000" dirty="0"/>
          </a:p>
        </p:txBody>
      </p:sp>
      <p:sp>
        <p:nvSpPr>
          <p:cNvPr id="3" name="Text 3"/>
          <p:cNvSpPr txBox="1"/>
          <p:nvPr/>
        </p:nvSpPr>
        <p:spPr>
          <a:xfrm>
            <a:off x="548640" y="658368"/>
            <a:ext cx="10789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th-TH" sz="3200" b="1" dirty="0">
                <a:solidFill>
                  <a:srgbClr val="132A4D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ประวัติการบันทึกและเงื่อนไขที่ใช้ซ้ำ</a:t>
            </a:r>
            <a:endParaRPr lang="en-US" sz="1000" dirty="0"/>
          </a:p>
        </p:txBody>
      </p:sp>
      <p:pic>
        <p:nvPicPr>
          <p:cNvPr id="4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9420" y="1645920"/>
            <a:ext cx="4004799" cy="2560320"/>
          </a:xfrm>
          <a:prstGeom prst="rect">
            <a:avLst/>
          </a:prstGeom>
          <a:ln w="9525">
            <a:solidFill>
              <a:srgbClr val="E2E8F0"/>
            </a:solidFill>
          </a:ln>
        </p:spPr>
      </p:pic>
      <p:cxnSp>
        <p:nvCxnSpPr>
          <p:cNvPr id="5" name="Leader 5"/>
          <p:cNvCxnSpPr/>
          <p:nvPr/>
        </p:nvCxnSpPr>
        <p:spPr>
          <a:xfrm>
            <a:off x="3131820" y="4206240"/>
            <a:ext cx="0" cy="228600"/>
          </a:xfrm>
          <a:prstGeom prst="line">
            <a:avLst/>
          </a:prstGeom>
          <a:ln w="12700">
            <a:solidFill>
              <a:srgbClr val="F2A93B"/>
            </a:solidFill>
          </a:ln>
        </p:spPr>
      </p:cxnSp>
      <p:sp>
        <p:nvSpPr>
          <p:cNvPr id="6" name="Dot 6"/>
          <p:cNvSpPr/>
          <p:nvPr/>
        </p:nvSpPr>
        <p:spPr>
          <a:xfrm>
            <a:off x="3086100" y="4160520"/>
            <a:ext cx="91440" cy="91440"/>
          </a:xfrm>
          <a:prstGeom prst="ellipse">
            <a:avLst/>
          </a:prstGeom>
          <a:solidFill>
            <a:srgbClr val="F2A93B"/>
          </a:solidFill>
          <a:ln>
            <a:noFill/>
          </a:ln>
        </p:spPr>
      </p:sp>
      <p:sp>
        <p:nvSpPr>
          <p:cNvPr id="7" name="Callout 7"/>
          <p:cNvSpPr/>
          <p:nvPr/>
        </p:nvSpPr>
        <p:spPr>
          <a:xfrm>
            <a:off x="548640" y="4434840"/>
            <a:ext cx="5166360" cy="16916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132A4D"/>
            </a:solidFill>
          </a:ln>
        </p:spPr>
      </p:sp>
      <p:sp>
        <p:nvSpPr>
          <p:cNvPr id="8" name="Text 8"/>
          <p:cNvSpPr txBox="1"/>
          <p:nvPr/>
        </p:nvSpPr>
        <p:spPr>
          <a:xfrm>
            <a:off x="822960" y="4663440"/>
            <a:ext cx="47091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th-TH" sz="1200" b="1" dirty="0">
                <a:solidFill>
                  <a:srgbClr val="132A4D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เรียกใช้เงื่อนไขที่บันทึกไว้ซ้ำ</a:t>
            </a:r>
            <a:endParaRPr lang="en-US" sz="1000" dirty="0"/>
          </a:p>
          <a:p>
            <a:pPr marL="0" indent="0">
              <a:lnSpc>
                <a:spcPct val="120000"/>
              </a:lnSpc>
              <a:buNone/>
            </a:pPr>
            <a:r>
              <a:rPr lang="th-TH" sz="1000" dirty="0">
                <a:solidFill>
                  <a:srgbClr val="6B7280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เลือกเงื่อนไขที่เคยตั้งค่าไว้มาใช้สร้างข้อมูลชุดใหม่ได้ทันที ไม่ต้องกรอกรายละเอียดเดิมซ้ำทุกครั้ง</a:t>
            </a:r>
            <a:endParaRPr lang="en-US" sz="1000" dirty="0"/>
          </a:p>
        </p:txBody>
      </p:sp>
      <p:pic>
        <p:nvPicPr>
          <p:cNvPr id="9" name="Picture 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30835" y="1645920"/>
            <a:ext cx="4849090" cy="2560320"/>
          </a:xfrm>
          <a:prstGeom prst="rect">
            <a:avLst/>
          </a:prstGeom>
          <a:ln w="9525">
            <a:solidFill>
              <a:srgbClr val="E2E8F0"/>
            </a:solidFill>
          </a:ln>
        </p:spPr>
      </p:pic>
      <p:cxnSp>
        <p:nvCxnSpPr>
          <p:cNvPr id="10" name="Leader 10"/>
          <p:cNvCxnSpPr/>
          <p:nvPr/>
        </p:nvCxnSpPr>
        <p:spPr>
          <a:xfrm>
            <a:off x="8755380" y="4206240"/>
            <a:ext cx="0" cy="228600"/>
          </a:xfrm>
          <a:prstGeom prst="line">
            <a:avLst/>
          </a:prstGeom>
          <a:ln w="12700">
            <a:solidFill>
              <a:srgbClr val="F2A93B"/>
            </a:solidFill>
          </a:ln>
        </p:spPr>
      </p:cxnSp>
      <p:sp>
        <p:nvSpPr>
          <p:cNvPr id="11" name="Dot 11"/>
          <p:cNvSpPr/>
          <p:nvPr/>
        </p:nvSpPr>
        <p:spPr>
          <a:xfrm>
            <a:off x="8709660" y="4160520"/>
            <a:ext cx="91440" cy="91440"/>
          </a:xfrm>
          <a:prstGeom prst="ellipse">
            <a:avLst/>
          </a:prstGeom>
          <a:solidFill>
            <a:srgbClr val="F2A93B"/>
          </a:solidFill>
          <a:ln>
            <a:noFill/>
          </a:ln>
        </p:spPr>
      </p:sp>
      <p:sp>
        <p:nvSpPr>
          <p:cNvPr id="12" name="Callout 12"/>
          <p:cNvSpPr/>
          <p:nvPr/>
        </p:nvSpPr>
        <p:spPr>
          <a:xfrm>
            <a:off x="6172200" y="4434840"/>
            <a:ext cx="5166360" cy="16916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132A4D"/>
            </a:solidFill>
          </a:ln>
        </p:spPr>
      </p:sp>
      <p:sp>
        <p:nvSpPr>
          <p:cNvPr id="13" name="Text 13"/>
          <p:cNvSpPr txBox="1"/>
          <p:nvPr/>
        </p:nvSpPr>
        <p:spPr>
          <a:xfrm>
            <a:off x="6400800" y="4663440"/>
            <a:ext cx="47091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th-TH" sz="1200" b="1" dirty="0">
                <a:solidFill>
                  <a:srgbClr val="132A4D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จัดเก็บใน Google Sheets</a:t>
            </a:r>
            <a:endParaRPr lang="en-US" sz="1000" dirty="0"/>
          </a:p>
          <a:p>
            <a:pPr marL="0" indent="0">
              <a:lnSpc>
                <a:spcPct val="120000"/>
              </a:lnSpc>
              <a:buNone/>
            </a:pPr>
            <a:r>
              <a:rPr lang="th-TH" sz="1000" dirty="0">
                <a:solidFill>
                  <a:srgbClr val="6B7280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ชุดข้อมูล เงื่อนไข และประวัติการทำงานถูกบันทึกแยกแผ่นงานใน Google Sheets ตรวจสอบย้อนหลังได้จริง</a:t>
            </a:r>
            <a:endParaRPr lang="en-US" sz="1000" dirty="0"/>
          </a:p>
        </p:txBody>
      </p:sp>
      <p:sp>
        <p:nvSpPr>
          <p:cNvPr id="14" name="Text 14"/>
          <p:cNvSpPr txBox="1"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th-TH" sz="1000" dirty="0">
                <a:solidFill>
                  <a:srgbClr val="6B7280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สาธิตการใช้งานจริง — Feature Walkthrough</a:t>
            </a:r>
            <a:endParaRPr lang="en-US" sz="1000" dirty="0"/>
          </a:p>
        </p:txBody>
      </p:sp>
      <p:sp>
        <p:nvSpPr>
          <p:cNvPr id="15" name="Text 15"/>
          <p:cNvSpPr txBox="1"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th-TH" sz="1000" dirty="0">
                <a:solidFill>
                  <a:srgbClr val="6B7280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23</a:t>
            </a:r>
            <a:endParaRPr lang="en-US" sz="10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0" name="Text 900"/>
          <p:cNvSpPr txBox="1"/>
          <p:nvPr/>
        </p:nvSpPr>
        <p:spPr>
          <a:xfrm>
            <a:off x="548640" y="320040"/>
            <a:ext cx="685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F8A93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04</a:t>
            </a:r>
            <a:endParaRPr lang="en-US" sz="1000" dirty="0"/>
          </a:p>
        </p:txBody>
      </p:sp>
      <p:sp>
        <p:nvSpPr>
          <p:cNvPr id="901" name="Text 901"/>
          <p:cNvSpPr txBox="1"/>
          <p:nvPr/>
        </p:nvSpPr>
        <p:spPr>
          <a:xfrm>
            <a:off x="1325880" y="384048"/>
            <a:ext cx="8366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spc="200" dirty="0">
                <a:solidFill>
                  <a:srgbClr val="6B7280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VALIDATION EXAMPLE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0789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32A4D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ตัวอย่างผลการตรวจสอบ — คาดหวัง เทียบกับ ผลลัพธ์จริง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956416"/>
            <a:ext cx="5212080" cy="2834640"/>
          </a:xfrm>
          <a:prstGeom prst="roundRect">
            <a:avLst>
              <a:gd name="adj" fmla="val 2581"/>
            </a:avLst>
          </a:prstGeom>
          <a:solidFill>
            <a:srgbClr val="FFFFFF"/>
          </a:solidFill>
          <a:ln w="19050">
            <a:solidFill>
              <a:srgbClr val="E2E8F0"/>
            </a:solidFill>
            <a:prstDash val="dash"/>
          </a:ln>
        </p:spPr>
      </p:sp>
      <p:sp>
        <p:nvSpPr>
          <p:cNvPr id="5" name="Shape 3"/>
          <p:cNvSpPr/>
          <p:nvPr/>
        </p:nvSpPr>
        <p:spPr>
          <a:xfrm>
            <a:off x="2834640" y="2870816"/>
            <a:ext cx="640080" cy="640080"/>
          </a:xfrm>
          <a:prstGeom prst="roundRect">
            <a:avLst>
              <a:gd name="adj" fmla="val 14286"/>
            </a:avLst>
          </a:prstGeom>
          <a:solidFill>
            <a:srgbClr val="F5F7FA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85800" y="4379576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32A4D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สิ่งที่กำหนด (DDL Script + เงื่อนไข)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126480" y="1956416"/>
            <a:ext cx="5212080" cy="2834640"/>
          </a:xfrm>
          <a:prstGeom prst="roundRect">
            <a:avLst>
              <a:gd name="adj" fmla="val 2581"/>
            </a:avLst>
          </a:prstGeom>
          <a:solidFill>
            <a:srgbClr val="FFFFFF"/>
          </a:solidFill>
          <a:ln w="19050">
            <a:solidFill>
              <a:srgbClr val="E2E8F0"/>
            </a:solidFill>
            <a:prstDash val="dash"/>
          </a:ln>
        </p:spPr>
      </p:sp>
      <p:sp>
        <p:nvSpPr>
          <p:cNvPr id="10" name="Shape 8"/>
          <p:cNvSpPr/>
          <p:nvPr/>
        </p:nvSpPr>
        <p:spPr>
          <a:xfrm>
            <a:off x="8412480" y="2870816"/>
            <a:ext cx="640080" cy="640080"/>
          </a:xfrm>
          <a:prstGeom prst="roundRect">
            <a:avLst>
              <a:gd name="adj" fmla="val 14286"/>
            </a:avLst>
          </a:prstGeom>
          <a:solidFill>
            <a:srgbClr val="F5F7FA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6263640" y="4379576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32A4D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ข้อมูลที่ระบบสร้างจริง (ผลลัพธ์)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815584" y="3245720"/>
            <a:ext cx="256032" cy="256032"/>
          </a:xfrm>
          <a:prstGeom prst="rightArrow">
            <a:avLst/>
          </a:prstGeom>
          <a:solidFill>
            <a:srgbClr val="1F8A93"/>
          </a:solidFill>
          <a:ln/>
        </p:spPr>
      </p:sp>
      <p:sp>
        <p:nvSpPr>
          <p:cNvPr id="15" name="Shape 13"/>
          <p:cNvSpPr/>
          <p:nvPr/>
        </p:nvSpPr>
        <p:spPr>
          <a:xfrm>
            <a:off x="548640" y="5065376"/>
            <a:ext cx="292608" cy="292608"/>
          </a:xfrm>
          <a:prstGeom prst="ellipse">
            <a:avLst/>
          </a:prstGeom>
          <a:solidFill>
            <a:srgbClr val="1F8A93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548640" y="506537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32" b="1" dirty="0">
                <a:solidFill>
                  <a:srgbClr val="FFFFFF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✓</a:t>
            </a:r>
            <a:endParaRPr lang="en-US" sz="832" dirty="0"/>
          </a:p>
        </p:txBody>
      </p:sp>
      <p:sp>
        <p:nvSpPr>
          <p:cNvPr id="17" name="Text 15"/>
          <p:cNvSpPr txBox="1"/>
          <p:nvPr/>
        </p:nvSpPr>
        <p:spPr>
          <a:xfrm>
            <a:off x="960120" y="5010512"/>
            <a:ext cx="4800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1F2937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จำนวนคอลัมน์และชื่อคอลัมน์ตรงตาม DDL ครบทุกรายการ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548640" y="5568296"/>
            <a:ext cx="292608" cy="292608"/>
          </a:xfrm>
          <a:prstGeom prst="ellipse">
            <a:avLst/>
          </a:prstGeom>
          <a:solidFill>
            <a:srgbClr val="1F8A93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548640" y="556829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32" b="1" dirty="0">
                <a:solidFill>
                  <a:srgbClr val="FFFFFF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✓</a:t>
            </a:r>
            <a:endParaRPr lang="en-US" sz="832" dirty="0"/>
          </a:p>
        </p:txBody>
      </p:sp>
      <p:sp>
        <p:nvSpPr>
          <p:cNvPr id="20" name="Text 18"/>
          <p:cNvSpPr txBox="1"/>
          <p:nvPr/>
        </p:nvSpPr>
        <p:spPr>
          <a:xfrm>
            <a:off x="960120" y="5513432"/>
            <a:ext cx="4800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1F2937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ลำดับคอลัมน์ในผลลัพธ์ตรงตามที่ระบุ ไม่สลับตำแหน่ง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6126480" y="5065376"/>
            <a:ext cx="292608" cy="292608"/>
          </a:xfrm>
          <a:prstGeom prst="ellipse">
            <a:avLst/>
          </a:prstGeom>
          <a:solidFill>
            <a:srgbClr val="1F8A93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6126480" y="506537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32" b="1" dirty="0">
                <a:solidFill>
                  <a:srgbClr val="FFFFFF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✓</a:t>
            </a:r>
            <a:endParaRPr lang="en-US" sz="832" dirty="0"/>
          </a:p>
        </p:txBody>
      </p:sp>
      <p:sp>
        <p:nvSpPr>
          <p:cNvPr id="23" name="Text 21"/>
          <p:cNvSpPr txBox="1"/>
          <p:nvPr/>
        </p:nvSpPr>
        <p:spPr>
          <a:xfrm>
            <a:off x="6537960" y="5010512"/>
            <a:ext cx="4800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1F2937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ค่าข้อมูลตรงตามเงื่อนไข/บริบทที่ผู้ใช้กำหนด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6126480" y="5568296"/>
            <a:ext cx="292608" cy="292608"/>
          </a:xfrm>
          <a:prstGeom prst="ellipse">
            <a:avLst/>
          </a:prstGeom>
          <a:solidFill>
            <a:srgbClr val="1F8A93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6126480" y="556829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32" b="1" dirty="0">
                <a:solidFill>
                  <a:srgbClr val="FFFFFF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✓</a:t>
            </a:r>
            <a:endParaRPr lang="en-US" sz="832" dirty="0"/>
          </a:p>
        </p:txBody>
      </p:sp>
      <p:sp>
        <p:nvSpPr>
          <p:cNvPr id="26" name="Text 24"/>
          <p:cNvSpPr txBox="1"/>
          <p:nvPr/>
        </p:nvSpPr>
        <p:spPr>
          <a:xfrm>
            <a:off x="6537960" y="5513432"/>
            <a:ext cx="4800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1F2937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ค่าที่อ้างอิงจากชุดข้อมูลเดิม (Reference Lock) ถูกต้องและครบถ้วน</a:t>
            </a:r>
            <a:endParaRPr lang="en-US" sz="1100" dirty="0"/>
          </a:p>
        </p:txBody>
      </p:sp>
      <p:sp>
        <p:nvSpPr>
          <p:cNvPr id="27" name="Text 25"/>
          <p:cNvSpPr txBox="1"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ตัวอย่างผลการตรวจสอบ</a:t>
            </a:r>
            <a:endParaRPr lang="en-US" sz="1000" dirty="0"/>
          </a:p>
        </p:txBody>
      </p:sp>
      <p:sp>
        <p:nvSpPr>
          <p:cNvPr id="28" name="Text 26"/>
          <p:cNvSpPr txBox="1"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24</a:t>
            </a:r>
            <a:endParaRPr lang="en-US" sz="1000" dirty="0"/>
          </a:p>
        </p:txBody>
      </p:sp>
      <p:pic>
        <p:nvPicPr>
          <p:cNvPr id="30" name="รูปภาพ 29">
            <a:extLst>
              <a:ext uri="{FF2B5EF4-FFF2-40B4-BE49-F238E27FC236}">
                <a16:creationId xmlns:a16="http://schemas.microsoft.com/office/drawing/2014/main" id="{18567991-CCB4-9373-5F5F-05E86333CBC9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438338" y="2093576"/>
            <a:ext cx="3432684" cy="2194560"/>
          </a:xfrm>
          <a:prstGeom prst="rect">
            <a:avLst/>
          </a:prstGeom>
        </p:spPr>
      </p:pic>
      <p:pic>
        <p:nvPicPr>
          <p:cNvPr id="32" name="รูปภาพ 31">
            <a:extLst>
              <a:ext uri="{FF2B5EF4-FFF2-40B4-BE49-F238E27FC236}">
                <a16:creationId xmlns:a16="http://schemas.microsoft.com/office/drawing/2014/main" id="{B4E44923-ABA2-5BFA-2F66-F26A80A2B495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683488" y="2093576"/>
            <a:ext cx="4098064" cy="2194560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0" name="Text 900"/>
          <p:cNvSpPr txBox="1"/>
          <p:nvPr/>
        </p:nvSpPr>
        <p:spPr>
          <a:xfrm>
            <a:off x="548640" y="320040"/>
            <a:ext cx="685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F8A93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05</a:t>
            </a:r>
            <a:endParaRPr lang="en-US" sz="1000" dirty="0"/>
          </a:p>
        </p:txBody>
      </p:sp>
      <p:sp>
        <p:nvSpPr>
          <p:cNvPr id="901" name="Text 901"/>
          <p:cNvSpPr txBox="1"/>
          <p:nvPr/>
        </p:nvSpPr>
        <p:spPr>
          <a:xfrm>
            <a:off x="1325880" y="384048"/>
            <a:ext cx="8366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spc="200" dirty="0">
                <a:solidFill>
                  <a:srgbClr val="6B7280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METHODOLOGY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0789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 err="1">
                <a:solidFill>
                  <a:srgbClr val="132A4D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การพัฒนาและทดสอบระบบ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73736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1F2937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ใช้แนวทาง Iterative Development — พัฒนาทีละฟีเจอร์ แล้วทดสอบบนระบบจริงทันทีก่อนขึ้นเวอร์ชันถัดไป แทนการออกแบบทั้งหมดล่วงหน้าแล้วทดสอบทีเดียวตอนท้ายแบบ Waterfall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2377440"/>
            <a:ext cx="5212080" cy="1005840"/>
          </a:xfrm>
          <a:prstGeom prst="roundRect">
            <a:avLst>
              <a:gd name="adj" fmla="val 7273"/>
            </a:avLst>
          </a:prstGeom>
          <a:solidFill>
            <a:srgbClr val="F5F7FA"/>
          </a:solidFill>
          <a:ln/>
        </p:spPr>
      </p:sp>
      <p:sp>
        <p:nvSpPr>
          <p:cNvPr id="6" name="Shape 4"/>
          <p:cNvSpPr/>
          <p:nvPr/>
        </p:nvSpPr>
        <p:spPr>
          <a:xfrm>
            <a:off x="777240" y="2560320"/>
            <a:ext cx="457200" cy="457200"/>
          </a:xfrm>
          <a:prstGeom prst="ellipse">
            <a:avLst/>
          </a:prstGeom>
          <a:solidFill>
            <a:srgbClr val="132A4D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777240" y="25603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1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1417320" y="2478024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32A4D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ทดสอบการสร้างข้อมูล</a:t>
            </a:r>
            <a:endParaRPr lang="en-US" sz="1250" dirty="0"/>
          </a:p>
        </p:txBody>
      </p:sp>
      <p:sp>
        <p:nvSpPr>
          <p:cNvPr id="9" name="Text 7"/>
          <p:cNvSpPr txBox="1"/>
          <p:nvPr/>
        </p:nvSpPr>
        <p:spPr>
          <a:xfrm>
            <a:off x="1417320" y="2834640"/>
            <a:ext cx="4114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ครอบคลุมประเภทข้อมูล </a:t>
            </a:r>
            <a:r>
              <a:rPr lang="en-US" sz="1050" dirty="0" err="1">
                <a:solidFill>
                  <a:srgbClr val="6B7280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จำนวนแถว</a:t>
            </a:r>
            <a:r>
              <a:rPr lang="en-US" sz="1050" dirty="0">
                <a:solidFill>
                  <a:srgbClr val="6B7280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 </a:t>
            </a:r>
            <a:r>
              <a:rPr lang="th-TH" sz="1050" dirty="0">
                <a:solidFill>
                  <a:srgbClr val="6B7280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และประเภทข้อมูล</a:t>
            </a:r>
            <a:r>
              <a:rPr lang="en-US" sz="1050" dirty="0" err="1">
                <a:solidFill>
                  <a:srgbClr val="6B7280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ที่หลากหลาย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6126480" y="2377440"/>
            <a:ext cx="5212080" cy="1005840"/>
          </a:xfrm>
          <a:prstGeom prst="roundRect">
            <a:avLst>
              <a:gd name="adj" fmla="val 7273"/>
            </a:avLst>
          </a:prstGeom>
          <a:solidFill>
            <a:srgbClr val="F5F7FA"/>
          </a:solidFill>
          <a:ln/>
        </p:spPr>
      </p:sp>
      <p:sp>
        <p:nvSpPr>
          <p:cNvPr id="11" name="Shape 9"/>
          <p:cNvSpPr/>
          <p:nvPr/>
        </p:nvSpPr>
        <p:spPr>
          <a:xfrm>
            <a:off x="6355080" y="2560320"/>
            <a:ext cx="457200" cy="457200"/>
          </a:xfrm>
          <a:prstGeom prst="ellipse">
            <a:avLst/>
          </a:prstGeom>
          <a:solidFill>
            <a:srgbClr val="1F8A93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6355080" y="25603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2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6995160" y="2478024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32A4D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ทดสอบ Reference Column Lock</a:t>
            </a:r>
            <a:endParaRPr lang="en-US" sz="1250" dirty="0"/>
          </a:p>
        </p:txBody>
      </p:sp>
      <p:sp>
        <p:nvSpPr>
          <p:cNvPr id="14" name="Text 12"/>
          <p:cNvSpPr txBox="1"/>
          <p:nvPr/>
        </p:nvSpPr>
        <p:spPr>
          <a:xfrm>
            <a:off x="6995160" y="2834640"/>
            <a:ext cx="4114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ตรวจสอบว่าข้อมูลอ้างอิงถูกใช้งานครบทุกรายการ ไม่มีตกหล่น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548640" y="3511296"/>
            <a:ext cx="5212080" cy="1005840"/>
          </a:xfrm>
          <a:prstGeom prst="roundRect">
            <a:avLst>
              <a:gd name="adj" fmla="val 7273"/>
            </a:avLst>
          </a:prstGeom>
          <a:solidFill>
            <a:srgbClr val="F5F7FA"/>
          </a:solidFill>
          <a:ln/>
        </p:spPr>
      </p:sp>
      <p:sp>
        <p:nvSpPr>
          <p:cNvPr id="16" name="Shape 14"/>
          <p:cNvSpPr/>
          <p:nvPr/>
        </p:nvSpPr>
        <p:spPr>
          <a:xfrm>
            <a:off x="777240" y="3694176"/>
            <a:ext cx="457200" cy="457200"/>
          </a:xfrm>
          <a:prstGeom prst="ellipse">
            <a:avLst/>
          </a:prstGeom>
          <a:solidFill>
            <a:srgbClr val="132A4D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777240" y="369417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3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1417320" y="361188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32A4D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ทดสอบการใช้งานพร้อมกันหลายคน</a:t>
            </a:r>
            <a:endParaRPr lang="en-US" sz="1250" dirty="0"/>
          </a:p>
        </p:txBody>
      </p:sp>
      <p:sp>
        <p:nvSpPr>
          <p:cNvPr id="19" name="Text 17"/>
          <p:cNvSpPr txBox="1"/>
          <p:nvPr/>
        </p:nvSpPr>
        <p:spPr>
          <a:xfrm>
            <a:off x="1417320" y="3968496"/>
            <a:ext cx="4114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050" dirty="0" err="1">
                <a:solidFill>
                  <a:srgbClr val="6B7280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ตรวจสอบ</a:t>
            </a:r>
            <a:r>
              <a:rPr lang="th-TH" sz="1050" dirty="0">
                <a:solidFill>
                  <a:srgbClr val="6B7280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ระบบ</a:t>
            </a:r>
            <a:r>
              <a:rPr lang="en-US" sz="1050" dirty="0">
                <a:solidFill>
                  <a:srgbClr val="6B7280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 Lock Service กันข้อมูลชนกันเมื่อมีผู้ใช้งานพร้อมกัน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6126480" y="3511296"/>
            <a:ext cx="5212080" cy="1005840"/>
          </a:xfrm>
          <a:prstGeom prst="roundRect">
            <a:avLst>
              <a:gd name="adj" fmla="val 7273"/>
            </a:avLst>
          </a:prstGeom>
          <a:solidFill>
            <a:srgbClr val="F5F7FA"/>
          </a:solidFill>
          <a:ln/>
        </p:spPr>
      </p:sp>
      <p:sp>
        <p:nvSpPr>
          <p:cNvPr id="26" name="Shape 24"/>
          <p:cNvSpPr/>
          <p:nvPr/>
        </p:nvSpPr>
        <p:spPr>
          <a:xfrm>
            <a:off x="6355080" y="3694176"/>
            <a:ext cx="457200" cy="457200"/>
          </a:xfrm>
          <a:prstGeom prst="ellipse">
            <a:avLst/>
          </a:prstGeom>
          <a:solidFill>
            <a:srgbClr val="132A4D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6355080" y="369417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4</a:t>
            </a:r>
            <a:endParaRPr lang="en-US" sz="1300" dirty="0"/>
          </a:p>
        </p:txBody>
      </p:sp>
      <p:sp>
        <p:nvSpPr>
          <p:cNvPr id="28" name="Text 26"/>
          <p:cNvSpPr txBox="1"/>
          <p:nvPr/>
        </p:nvSpPr>
        <p:spPr>
          <a:xfrm>
            <a:off x="6995160" y="361188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32A4D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ทดสอบเส้นทางข้อผิดพลาด</a:t>
            </a:r>
            <a:endParaRPr lang="en-US" sz="1250" dirty="0"/>
          </a:p>
        </p:txBody>
      </p:sp>
      <p:sp>
        <p:nvSpPr>
          <p:cNvPr id="29" name="Text 27"/>
          <p:cNvSpPr txBox="1"/>
          <p:nvPr/>
        </p:nvSpPr>
        <p:spPr>
          <a:xfrm>
            <a:off x="6995160" y="3968496"/>
            <a:ext cx="4114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จำลองกรณี Gemini API ไม่ตอบสนองหรือเชื่อมต่อขัดข้อง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3474720" y="4645152"/>
            <a:ext cx="5212080" cy="1005840"/>
          </a:xfrm>
          <a:prstGeom prst="roundRect">
            <a:avLst>
              <a:gd name="adj" fmla="val 7273"/>
            </a:avLst>
          </a:prstGeom>
          <a:solidFill>
            <a:srgbClr val="F5F7FA"/>
          </a:solidFill>
          <a:ln/>
        </p:spPr>
      </p:sp>
      <p:sp>
        <p:nvSpPr>
          <p:cNvPr id="31" name="Shape 29"/>
          <p:cNvSpPr/>
          <p:nvPr/>
        </p:nvSpPr>
        <p:spPr>
          <a:xfrm>
            <a:off x="3703320" y="4828032"/>
            <a:ext cx="457200" cy="457200"/>
          </a:xfrm>
          <a:prstGeom prst="ellipse">
            <a:avLst/>
          </a:prstGeom>
          <a:solidFill>
            <a:srgbClr val="1F8A93"/>
          </a:solidFill>
          <a:ln/>
        </p:spPr>
      </p:sp>
      <p:sp>
        <p:nvSpPr>
          <p:cNvPr id="32" name="Text 30"/>
          <p:cNvSpPr txBox="1"/>
          <p:nvPr/>
        </p:nvSpPr>
        <p:spPr>
          <a:xfrm>
            <a:off x="3703320" y="482803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5</a:t>
            </a:r>
            <a:endParaRPr lang="en-US" sz="1300" dirty="0"/>
          </a:p>
        </p:txBody>
      </p:sp>
      <p:sp>
        <p:nvSpPr>
          <p:cNvPr id="33" name="Text 31"/>
          <p:cNvSpPr txBox="1"/>
          <p:nvPr/>
        </p:nvSpPr>
        <p:spPr>
          <a:xfrm>
            <a:off x="4343400" y="4745736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32A4D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ทดสอบความปลอดภัย</a:t>
            </a:r>
            <a:endParaRPr lang="en-US" sz="1250" dirty="0"/>
          </a:p>
        </p:txBody>
      </p:sp>
      <p:sp>
        <p:nvSpPr>
          <p:cNvPr id="34" name="Text 32"/>
          <p:cNvSpPr txBox="1"/>
          <p:nvPr/>
        </p:nvSpPr>
        <p:spPr>
          <a:xfrm>
            <a:off x="4343400" y="5102352"/>
            <a:ext cx="4114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ตรวจสอบการยืนยันตัวตน การล็อกบัญชี และสิทธิ์การเข้าถึงตามบทบาท</a:t>
            </a:r>
            <a:endParaRPr lang="en-US" sz="1050" dirty="0"/>
          </a:p>
        </p:txBody>
      </p:sp>
      <p:sp>
        <p:nvSpPr>
          <p:cNvPr id="35" name="Text 33"/>
          <p:cNvSpPr txBox="1"/>
          <p:nvPr/>
        </p:nvSpPr>
        <p:spPr>
          <a:xfrm>
            <a:off x="548640" y="598932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B7280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เกณฑ์ก่อนขึ้นเวอร์ชันจริง: ตรวจ Syntax → เทียบผลก่อน-หลังแก้ (Diff) → ทดสอบระบบจริง → ยืนยันผลจากการใช้งานจริงก่อนปิดงาน</a:t>
            </a:r>
            <a:endParaRPr lang="en-US" sz="1000" dirty="0"/>
          </a:p>
        </p:txBody>
      </p:sp>
      <p:sp>
        <p:nvSpPr>
          <p:cNvPr id="36" name="Text 34"/>
          <p:cNvSpPr txBox="1"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ระเบียบวิธีการพัฒนาและทดสอบระบบ</a:t>
            </a:r>
            <a:endParaRPr lang="en-US" sz="1000" dirty="0"/>
          </a:p>
        </p:txBody>
      </p:sp>
      <p:sp>
        <p:nvSpPr>
          <p:cNvPr id="37" name="Text 35"/>
          <p:cNvSpPr txBox="1"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26</a:t>
            </a:r>
            <a:endParaRPr lang="en-US" sz="10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0" name="Text 900"/>
          <p:cNvSpPr txBox="1"/>
          <p:nvPr/>
        </p:nvSpPr>
        <p:spPr>
          <a:xfrm>
            <a:off x="548640" y="320040"/>
            <a:ext cx="685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F8A93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05</a:t>
            </a:r>
            <a:endParaRPr lang="en-US" sz="1000" dirty="0"/>
          </a:p>
        </p:txBody>
      </p:sp>
      <p:sp>
        <p:nvSpPr>
          <p:cNvPr id="901" name="Text 901"/>
          <p:cNvSpPr txBox="1"/>
          <p:nvPr/>
        </p:nvSpPr>
        <p:spPr>
          <a:xfrm>
            <a:off x="1325880" y="384048"/>
            <a:ext cx="8366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spc="200" dirty="0">
                <a:solidFill>
                  <a:srgbClr val="6B7280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DEVELOPMENT PROCESS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0789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32A4D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กระบวนการพัฒนาและแก้ไขปัญหา — </a:t>
            </a:r>
            <a:r>
              <a:rPr lang="th-TH" sz="3200" b="1" dirty="0">
                <a:solidFill>
                  <a:srgbClr val="132A4D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ที่พบ</a:t>
            </a:r>
            <a:r>
              <a:rPr lang="en-US" sz="3200" b="1" dirty="0" err="1">
                <a:solidFill>
                  <a:srgbClr val="132A4D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จากการใช้</a:t>
            </a:r>
            <a:r>
              <a:rPr lang="th-TH" sz="3200" b="1" dirty="0">
                <a:solidFill>
                  <a:srgbClr val="132A4D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งาน</a:t>
            </a:r>
            <a:r>
              <a:rPr lang="en-US" sz="3200" b="1" dirty="0" err="1">
                <a:solidFill>
                  <a:srgbClr val="132A4D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จริง</a:t>
            </a:r>
            <a:endParaRPr lang="en-US" sz="3200" dirty="0"/>
          </a:p>
        </p:txBody>
      </p:sp>
      <p:graphicFrame>
        <p:nvGraphicFramePr>
          <p:cNvPr id="3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24107696"/>
              </p:ext>
            </p:extLst>
          </p:nvPr>
        </p:nvGraphicFramePr>
        <p:xfrm>
          <a:off x="548640" y="2431904"/>
          <a:ext cx="11064240" cy="3017520"/>
        </p:xfrm>
        <a:graphic>
          <a:graphicData uri="http://schemas.openxmlformats.org/drawingml/2006/table">
            <a:tbl>
              <a:tblPr/>
              <a:tblGrid>
                <a:gridCol w="31089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9319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0233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Leelawadee UI" pitchFamily="34" charset="0"/>
                          <a:ea typeface="Leelawadee UI" pitchFamily="34" charset="-122"/>
                          <a:cs typeface="Leelawadee UI" pitchFamily="34" charset="-120"/>
                        </a:rPr>
                        <a:t>ปัญหาที่พบ</a:t>
                      </a:r>
                      <a:endParaRPr lang="en-US" sz="1100" dirty="0">
                        <a:latin typeface="Leelawadee UI" charset="0"/>
                        <a:ea typeface="Leelawadee UI" charset="0"/>
                        <a:cs typeface="Leelawadee U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Leelawadee UI" pitchFamily="34" charset="0"/>
                          <a:ea typeface="Leelawadee UI" pitchFamily="34" charset="-122"/>
                          <a:cs typeface="Leelawadee UI" pitchFamily="34" charset="-120"/>
                        </a:rPr>
                        <a:t>สาเหตุ</a:t>
                      </a:r>
                      <a:endParaRPr lang="en-US" sz="1100" dirty="0">
                        <a:latin typeface="Leelawadee UI" charset="0"/>
                        <a:ea typeface="Leelawadee UI" charset="0"/>
                        <a:cs typeface="Leelawadee U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Leelawadee UI" pitchFamily="34" charset="0"/>
                          <a:ea typeface="Leelawadee UI" pitchFamily="34" charset="-122"/>
                          <a:cs typeface="Leelawadee UI" pitchFamily="34" charset="-120"/>
                        </a:rPr>
                        <a:t>แนวทางแก้ไข</a:t>
                      </a:r>
                      <a:endParaRPr lang="en-US" sz="1100" dirty="0">
                        <a:latin typeface="Leelawadee UI" charset="0"/>
                        <a:ea typeface="Leelawadee UI" charset="0"/>
                        <a:cs typeface="Leelawadee U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2801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Leelawadee UI" pitchFamily="34" charset="0"/>
                          <a:ea typeface="Leelawadee UI" pitchFamily="34" charset="-122"/>
                          <a:cs typeface="Leelawadee UI" pitchFamily="34" charset="-120"/>
                        </a:rPr>
                        <a:t>Gemini API ไม่ตอบสนอง</a:t>
                      </a:r>
                      <a:endParaRPr lang="en-US" sz="1100" dirty="0">
                        <a:latin typeface="Leelawadee UI" charset="0"/>
                        <a:ea typeface="Leelawadee UI" charset="0"/>
                        <a:cs typeface="Leelawadee UI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Leelawadee UI" pitchFamily="34" charset="0"/>
                          <a:ea typeface="Leelawadee UI" pitchFamily="34" charset="-122"/>
                          <a:cs typeface="Leelawadee UI" pitchFamily="34" charset="-120"/>
                        </a:rPr>
                        <a:t>(HTTP 503)</a:t>
                      </a:r>
                      <a:endParaRPr lang="en-US" sz="1100" dirty="0">
                        <a:latin typeface="Leelawadee UI" charset="0"/>
                        <a:ea typeface="Leelawadee UI" charset="0"/>
                        <a:cs typeface="Leelawadee U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Leelawadee UI" pitchFamily="34" charset="0"/>
                          <a:ea typeface="Leelawadee UI" pitchFamily="34" charset="-122"/>
                          <a:cs typeface="Leelawadee UI" pitchFamily="34" charset="-120"/>
                        </a:rPr>
                        <a:t>เรียกใช้โมเดล AI เวอร์ชันที่ยังไม่เสถียรและมีผู้ใช้งานหนาแน่น</a:t>
                      </a:r>
                      <a:endParaRPr lang="en-US" sz="1100" dirty="0">
                        <a:latin typeface="Leelawadee UI" charset="0"/>
                        <a:ea typeface="Leelawadee UI" charset="0"/>
                        <a:cs typeface="Leelawadee U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Leelawadee UI" pitchFamily="34" charset="0"/>
                          <a:ea typeface="Leelawadee UI" pitchFamily="34" charset="-122"/>
                          <a:cs typeface="Leelawadee UI" pitchFamily="34" charset="-120"/>
                        </a:rPr>
                        <a:t>ปรับกลไก Retry และกำหนดเวอร์ชันโมเดลที่เสถียรแทน</a:t>
                      </a:r>
                      <a:endParaRPr lang="en-US" sz="1100" dirty="0">
                        <a:latin typeface="Leelawadee UI" charset="0"/>
                        <a:ea typeface="Leelawadee UI" charset="0"/>
                        <a:cs typeface="Leelawadee U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2801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Leelawadee UI" pitchFamily="34" charset="0"/>
                          <a:ea typeface="Leelawadee UI" pitchFamily="34" charset="-122"/>
                          <a:cs typeface="Leelawadee UI" pitchFamily="34" charset="-120"/>
                        </a:rPr>
                        <a:t>ข้อมูลอ้างอิงบางรายการ</a:t>
                      </a:r>
                      <a:endParaRPr lang="en-US" sz="1100" dirty="0">
                        <a:latin typeface="Leelawadee UI" charset="0"/>
                        <a:ea typeface="Leelawadee UI" charset="0"/>
                        <a:cs typeface="Leelawadee UI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Leelawadee UI" pitchFamily="34" charset="0"/>
                          <a:ea typeface="Leelawadee UI" pitchFamily="34" charset="-122"/>
                          <a:cs typeface="Leelawadee UI" pitchFamily="34" charset="-120"/>
                        </a:rPr>
                        <a:t>ไม่ถูกใช้งานครบ</a:t>
                      </a:r>
                      <a:endParaRPr lang="en-US" sz="1100" dirty="0">
                        <a:latin typeface="Leelawadee UI" charset="0"/>
                        <a:ea typeface="Leelawadee UI" charset="0"/>
                        <a:cs typeface="Leelawadee U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Leelawadee UI" pitchFamily="34" charset="0"/>
                          <a:ea typeface="Leelawadee UI" pitchFamily="34" charset="-122"/>
                          <a:cs typeface="Leelawadee UI" pitchFamily="34" charset="-120"/>
                        </a:rPr>
                        <a:t>วิธีสุ่มเลือกข้อมูลแบบมีโอกาสข้ามบางรายการไปได้</a:t>
                      </a:r>
                      <a:endParaRPr lang="en-US" sz="1100" dirty="0">
                        <a:latin typeface="Leelawadee UI" charset="0"/>
                        <a:ea typeface="Leelawadee UI" charset="0"/>
                        <a:cs typeface="Leelawadee U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Leelawadee UI" pitchFamily="34" charset="0"/>
                          <a:ea typeface="Leelawadee UI" pitchFamily="34" charset="-122"/>
                          <a:cs typeface="Leelawadee UI" pitchFamily="34" charset="-120"/>
                        </a:rPr>
                        <a:t>ปรับอัลกอริทึมเป็นการวนลำดับ (Round-robin) </a:t>
                      </a:r>
                      <a:r>
                        <a:rPr lang="th-TH" sz="1100" dirty="0">
                          <a:solidFill>
                            <a:srgbClr val="1F2937"/>
                          </a:solidFill>
                          <a:latin typeface="Leelawadee UI" pitchFamily="34" charset="0"/>
                          <a:ea typeface="Leelawadee UI" pitchFamily="34" charset="-122"/>
                          <a:cs typeface="Leelawadee UI" pitchFamily="34" charset="-120"/>
                        </a:rPr>
                        <a:t>เพื่อใช้การวนแบบสุ่มจากข้อมูลที่มี</a:t>
                      </a:r>
                      <a:r>
                        <a:rPr lang="th-TH" sz="1100" dirty="0" err="1">
                          <a:solidFill>
                            <a:srgbClr val="1F2937"/>
                          </a:solidFill>
                          <a:latin typeface="Leelawadee UI" pitchFamily="34" charset="0"/>
                          <a:ea typeface="Leelawadee UI" pitchFamily="34" charset="-122"/>
                          <a:cs typeface="Leelawadee UI" pitchFamily="34" charset="-120"/>
                        </a:rPr>
                        <a:t>อยู๋แ</a:t>
                      </a:r>
                      <a:r>
                        <a:rPr lang="th-TH" sz="1100" dirty="0">
                          <a:solidFill>
                            <a:srgbClr val="1F2937"/>
                          </a:solidFill>
                          <a:latin typeface="Leelawadee UI" pitchFamily="34" charset="0"/>
                          <a:ea typeface="Leelawadee UI" pitchFamily="34" charset="-122"/>
                          <a:cs typeface="Leelawadee UI" pitchFamily="34" charset="-120"/>
                        </a:rPr>
                        <a:t>ทนการสุ่มขึ้นมาใหม่ของ </a:t>
                      </a:r>
                      <a:r>
                        <a:rPr lang="en-US" sz="1100" dirty="0">
                          <a:solidFill>
                            <a:srgbClr val="1F2937"/>
                          </a:solidFill>
                          <a:latin typeface="Leelawadee UI" pitchFamily="34" charset="0"/>
                          <a:ea typeface="Leelawadee UI" pitchFamily="34" charset="-122"/>
                          <a:cs typeface="Leelawadee UI" pitchFamily="34" charset="-120"/>
                        </a:rPr>
                        <a:t>AI </a:t>
                      </a:r>
                      <a:endParaRPr lang="en-US" sz="1100" dirty="0">
                        <a:latin typeface="Leelawadee UI" charset="0"/>
                        <a:ea typeface="Leelawadee UI" charset="0"/>
                        <a:cs typeface="Leelawadee U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กระบวนการพัฒนาและแก้ไขปัญหา</a:t>
            </a:r>
            <a:endParaRPr lang="en-US" sz="1000" dirty="0"/>
          </a:p>
        </p:txBody>
      </p:sp>
      <p:sp>
        <p:nvSpPr>
          <p:cNvPr id="6" name="Text 3"/>
          <p:cNvSpPr txBox="1"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27</a:t>
            </a:r>
            <a:endParaRPr lang="en-US" sz="10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0" name="Text 900"/>
          <p:cNvSpPr txBox="1"/>
          <p:nvPr/>
        </p:nvSpPr>
        <p:spPr>
          <a:xfrm>
            <a:off x="548640" y="320040"/>
            <a:ext cx="685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F8A93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05</a:t>
            </a:r>
            <a:endParaRPr lang="en-US" sz="1000" dirty="0"/>
          </a:p>
        </p:txBody>
      </p:sp>
      <p:sp>
        <p:nvSpPr>
          <p:cNvPr id="901" name="Text 901"/>
          <p:cNvSpPr txBox="1"/>
          <p:nvPr/>
        </p:nvSpPr>
        <p:spPr>
          <a:xfrm>
            <a:off x="1325880" y="384048"/>
            <a:ext cx="8366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spc="200" dirty="0">
                <a:solidFill>
                  <a:srgbClr val="6B7280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LESSONS LEARNED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0789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32A4D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สิ่งที่ได้เรียนรู้จากโครงงาน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2089004"/>
            <a:ext cx="5349240" cy="1737360"/>
          </a:xfrm>
          <a:prstGeom prst="roundRect">
            <a:avLst>
              <a:gd name="adj" fmla="val 4211"/>
            </a:avLst>
          </a:prstGeom>
          <a:solidFill>
            <a:srgbClr val="F5F7FA"/>
          </a:solidFill>
          <a:ln/>
          <a:effectLst>
            <a:outerShdw blurRad="76200" dist="25400" dir="5400000" algn="bl" rotWithShape="0">
              <a:srgbClr val="1F2937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22960" y="2363324"/>
            <a:ext cx="502920" cy="502920"/>
          </a:xfrm>
          <a:prstGeom prst="ellipse">
            <a:avLst/>
          </a:prstGeom>
          <a:solidFill>
            <a:srgbClr val="F2A93B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22960" y="2363324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30" b="1" dirty="0">
                <a:solidFill>
                  <a:srgbClr val="FFFFFF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💡</a:t>
            </a:r>
            <a:endParaRPr lang="en-US" sz="1430" dirty="0"/>
          </a:p>
        </p:txBody>
      </p:sp>
      <p:sp>
        <p:nvSpPr>
          <p:cNvPr id="7" name="Text 5"/>
          <p:cNvSpPr txBox="1"/>
          <p:nvPr/>
        </p:nvSpPr>
        <p:spPr>
          <a:xfrm>
            <a:off x="1508760" y="2271884"/>
            <a:ext cx="4160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350" b="1" dirty="0">
                <a:solidFill>
                  <a:srgbClr val="132A4D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ระบบที่พึ่งพา AI </a:t>
            </a:r>
            <a:r>
              <a:rPr lang="en-US" sz="1350" b="1" dirty="0" err="1">
                <a:solidFill>
                  <a:srgbClr val="132A4D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ต้องมี</a:t>
            </a:r>
            <a:r>
              <a:rPr lang="th-TH" sz="1350" b="1" dirty="0">
                <a:solidFill>
                  <a:srgbClr val="132A4D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การ</a:t>
            </a:r>
            <a:r>
              <a:rPr lang="en-US" sz="1350" b="1" dirty="0" err="1">
                <a:solidFill>
                  <a:srgbClr val="132A4D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ควบคุมเสมอ</a:t>
            </a:r>
            <a:endParaRPr lang="en-US" sz="135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2957684"/>
            <a:ext cx="4800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ไม่ควรเชื่อผลลัพธ์จาก AI ทั้งหมดโดยไม่มีชั้นตรวจสอบด้วยโค้ด </a:t>
            </a:r>
            <a:r>
              <a:rPr lang="en-US" sz="1100" dirty="0" err="1">
                <a:solidFill>
                  <a:srgbClr val="6B7280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เพราะความแม่นยำของโครงสร้างข้อมูล</a:t>
            </a:r>
            <a:r>
              <a:rPr lang="th-TH" sz="1100" dirty="0">
                <a:solidFill>
                  <a:srgbClr val="6B7280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มีความ</a:t>
            </a:r>
            <a:r>
              <a:rPr lang="en-US" sz="1100" dirty="0" err="1">
                <a:solidFill>
                  <a:srgbClr val="6B7280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สำคัญ</a:t>
            </a:r>
            <a:r>
              <a:rPr lang="th-TH" sz="1100" dirty="0">
                <a:solidFill>
                  <a:srgbClr val="6B7280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ต่อการนำไปใช้จริง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263640" y="2089004"/>
            <a:ext cx="5349240" cy="1737360"/>
          </a:xfrm>
          <a:prstGeom prst="roundRect">
            <a:avLst>
              <a:gd name="adj" fmla="val 4211"/>
            </a:avLst>
          </a:prstGeom>
          <a:solidFill>
            <a:srgbClr val="F5F7FA"/>
          </a:solidFill>
          <a:ln/>
          <a:effectLst>
            <a:outerShdw blurRad="76200" dist="25400" dir="5400000" algn="bl" rotWithShape="0">
              <a:srgbClr val="1F2937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537960" y="2363324"/>
            <a:ext cx="502920" cy="502920"/>
          </a:xfrm>
          <a:prstGeom prst="ellipse">
            <a:avLst/>
          </a:prstGeom>
          <a:solidFill>
            <a:srgbClr val="F2A93B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537960" y="2363324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30" b="1" dirty="0">
                <a:solidFill>
                  <a:srgbClr val="FFFFFF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💡</a:t>
            </a:r>
            <a:endParaRPr lang="en-US" sz="1430" dirty="0"/>
          </a:p>
        </p:txBody>
      </p:sp>
      <p:sp>
        <p:nvSpPr>
          <p:cNvPr id="12" name="Text 10"/>
          <p:cNvSpPr txBox="1"/>
          <p:nvPr/>
        </p:nvSpPr>
        <p:spPr>
          <a:xfrm>
            <a:off x="7223760" y="2271884"/>
            <a:ext cx="4160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350" b="1" dirty="0">
                <a:solidFill>
                  <a:srgbClr val="132A4D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ความสอดคล้องของคีย์ข้อมูลระหว่าง Frontend-Backend สำคัญมาก</a:t>
            </a:r>
            <a:endParaRPr lang="en-US" sz="1350" dirty="0"/>
          </a:p>
        </p:txBody>
      </p:sp>
      <p:sp>
        <p:nvSpPr>
          <p:cNvPr id="13" name="Text 11"/>
          <p:cNvSpPr txBox="1"/>
          <p:nvPr/>
        </p:nvSpPr>
        <p:spPr>
          <a:xfrm>
            <a:off x="6537960" y="2957684"/>
            <a:ext cx="4800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บั๊กสำคัญหลายจุดเกิดจากชื่อคีย์ไม่ตรงกัน (เช่น structureScript กับ ddlScript) </a:t>
            </a:r>
            <a:r>
              <a:rPr lang="en-US" sz="1100" dirty="0" err="1">
                <a:solidFill>
                  <a:srgbClr val="6B7280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แม้ตรรกะการทำงานจะถูกต้อง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48640" y="4054964"/>
            <a:ext cx="5349240" cy="1737360"/>
          </a:xfrm>
          <a:prstGeom prst="roundRect">
            <a:avLst>
              <a:gd name="adj" fmla="val 4211"/>
            </a:avLst>
          </a:prstGeom>
          <a:solidFill>
            <a:srgbClr val="F5F7FA"/>
          </a:solidFill>
          <a:ln/>
          <a:effectLst>
            <a:outerShdw blurRad="76200" dist="25400" dir="5400000" algn="bl" rotWithShape="0">
              <a:srgbClr val="1F2937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22960" y="4329284"/>
            <a:ext cx="502920" cy="502920"/>
          </a:xfrm>
          <a:prstGeom prst="ellipse">
            <a:avLst/>
          </a:prstGeom>
          <a:solidFill>
            <a:srgbClr val="F2A93B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822960" y="4329284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30" b="1" dirty="0">
                <a:solidFill>
                  <a:srgbClr val="FFFFFF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💡</a:t>
            </a:r>
            <a:endParaRPr lang="en-US" sz="1430" dirty="0"/>
          </a:p>
        </p:txBody>
      </p:sp>
      <p:sp>
        <p:nvSpPr>
          <p:cNvPr id="17" name="Text 15"/>
          <p:cNvSpPr txBox="1"/>
          <p:nvPr/>
        </p:nvSpPr>
        <p:spPr>
          <a:xfrm>
            <a:off x="1508760" y="4237844"/>
            <a:ext cx="4160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350" b="1" dirty="0">
                <a:solidFill>
                  <a:srgbClr val="132A4D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การตรวจสอบ Log การทำงานจริงช่วยระบุจุดบกพร่องได้แม่นยำกว่า</a:t>
            </a:r>
            <a:endParaRPr lang="en-US" sz="1350" dirty="0"/>
          </a:p>
        </p:txBody>
      </p:sp>
      <p:sp>
        <p:nvSpPr>
          <p:cNvPr id="18" name="Text 16"/>
          <p:cNvSpPr txBox="1"/>
          <p:nvPr/>
        </p:nvSpPr>
        <p:spPr>
          <a:xfrm>
            <a:off x="822960" y="4923644"/>
            <a:ext cx="4800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การไล่อ่านโค้ดเพียงอย่างเดียวอาจมองข้ามจุดที่เกิดปัญหาจริงในการใช้งาน ควรใช้ Log ประกอบการวิเคราะห์เสมอ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263640" y="4054964"/>
            <a:ext cx="5349240" cy="1737360"/>
          </a:xfrm>
          <a:prstGeom prst="roundRect">
            <a:avLst>
              <a:gd name="adj" fmla="val 4211"/>
            </a:avLst>
          </a:prstGeom>
          <a:solidFill>
            <a:srgbClr val="F5F7FA"/>
          </a:solidFill>
          <a:ln/>
          <a:effectLst>
            <a:outerShdw blurRad="76200" dist="25400" dir="5400000" algn="bl" rotWithShape="0">
              <a:srgbClr val="1F2937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537960" y="4329284"/>
            <a:ext cx="502920" cy="502920"/>
          </a:xfrm>
          <a:prstGeom prst="ellipse">
            <a:avLst/>
          </a:prstGeom>
          <a:solidFill>
            <a:srgbClr val="F2A93B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6537960" y="4329284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30" b="1" dirty="0">
                <a:solidFill>
                  <a:srgbClr val="FFFFFF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💡</a:t>
            </a:r>
            <a:endParaRPr lang="en-US" sz="1430" dirty="0"/>
          </a:p>
        </p:txBody>
      </p:sp>
      <p:sp>
        <p:nvSpPr>
          <p:cNvPr id="22" name="Text 20"/>
          <p:cNvSpPr txBox="1"/>
          <p:nvPr/>
        </p:nvSpPr>
        <p:spPr>
          <a:xfrm>
            <a:off x="7223760" y="4237844"/>
            <a:ext cx="4160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350" b="1" dirty="0">
                <a:solidFill>
                  <a:srgbClr val="132A4D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การจัดการ Edge Case ต้องคิดล่วงหน้าตั้งแต่ขั้นออกแบบ</a:t>
            </a:r>
            <a:endParaRPr lang="en-US" sz="1350" dirty="0"/>
          </a:p>
        </p:txBody>
      </p:sp>
      <p:sp>
        <p:nvSpPr>
          <p:cNvPr id="23" name="Text 21"/>
          <p:cNvSpPr txBox="1"/>
          <p:nvPr/>
        </p:nvSpPr>
        <p:spPr>
          <a:xfrm>
            <a:off x="6537960" y="4923644"/>
            <a:ext cx="4800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เช่น การสุ่มเลือกข้อมูลอ้างอิงต้องออกแบบให้ไม่ลำเอียงและไม่ซ้ำเกินตั้งแต่แรก ไม่ใช่แก้ไขภายหลัง</a:t>
            </a:r>
            <a:endParaRPr lang="en-US" sz="1100" dirty="0"/>
          </a:p>
        </p:txBody>
      </p:sp>
      <p:sp>
        <p:nvSpPr>
          <p:cNvPr id="24" name="Text 22"/>
          <p:cNvSpPr txBox="1"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สิ่งที่ได้เรียนรู้จากโครงงาน</a:t>
            </a:r>
            <a:endParaRPr lang="en-US" sz="1000" dirty="0"/>
          </a:p>
        </p:txBody>
      </p:sp>
      <p:sp>
        <p:nvSpPr>
          <p:cNvPr id="25" name="Text 23"/>
          <p:cNvSpPr txBox="1"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28</a:t>
            </a:r>
            <a:endParaRPr lang="en-US" sz="10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0" name="Text 900"/>
          <p:cNvSpPr txBox="1"/>
          <p:nvPr/>
        </p:nvSpPr>
        <p:spPr>
          <a:xfrm>
            <a:off x="548640" y="320040"/>
            <a:ext cx="685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F8A93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06</a:t>
            </a:r>
            <a:endParaRPr lang="en-US" sz="1000" dirty="0"/>
          </a:p>
        </p:txBody>
      </p:sp>
      <p:sp>
        <p:nvSpPr>
          <p:cNvPr id="901" name="Text 901"/>
          <p:cNvSpPr txBox="1"/>
          <p:nvPr/>
        </p:nvSpPr>
        <p:spPr>
          <a:xfrm>
            <a:off x="1325880" y="384048"/>
            <a:ext cx="8366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spc="200" dirty="0">
                <a:solidFill>
                  <a:srgbClr val="6B7280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RESULTS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0789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32A4D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ผลลัพธ์และการประเมินระบบ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2431904"/>
            <a:ext cx="11064240" cy="914400"/>
          </a:xfrm>
          <a:prstGeom prst="roundRect">
            <a:avLst>
              <a:gd name="adj" fmla="val 8000"/>
            </a:avLst>
          </a:prstGeom>
          <a:solidFill>
            <a:srgbClr val="E4F3F3"/>
          </a:solidFill>
          <a:ln/>
        </p:spPr>
      </p:sp>
      <p:sp>
        <p:nvSpPr>
          <p:cNvPr id="5" name="Shape 3"/>
          <p:cNvSpPr/>
          <p:nvPr/>
        </p:nvSpPr>
        <p:spPr>
          <a:xfrm>
            <a:off x="777240" y="2614784"/>
            <a:ext cx="548640" cy="548640"/>
          </a:xfrm>
          <a:prstGeom prst="ellipse">
            <a:avLst/>
          </a:prstGeom>
          <a:solidFill>
            <a:srgbClr val="1F8A93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77240" y="2614784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60" b="1" dirty="0">
                <a:solidFill>
                  <a:srgbClr val="FFFFFF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✓</a:t>
            </a:r>
            <a:endParaRPr lang="en-US" sz="1560" dirty="0"/>
          </a:p>
        </p:txBody>
      </p:sp>
      <p:sp>
        <p:nvSpPr>
          <p:cNvPr id="7" name="Text 5"/>
          <p:cNvSpPr txBox="1"/>
          <p:nvPr/>
        </p:nvSpPr>
        <p:spPr>
          <a:xfrm>
            <a:off x="1554480" y="2431904"/>
            <a:ext cx="9921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1F2937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ระบบสามารถสร้างข้อมูลที่มีโครงสร้างตรงตาม DDL Script ที่ผู้ใช้กำหนดได้อย่างแม่นยำ ครบทุกคอลัมน์และเรียงลำดับถูกต้องตามที่ระบุ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548640" y="3483464"/>
            <a:ext cx="11064240" cy="914400"/>
          </a:xfrm>
          <a:prstGeom prst="roundRect">
            <a:avLst>
              <a:gd name="adj" fmla="val 8000"/>
            </a:avLst>
          </a:prstGeom>
          <a:solidFill>
            <a:srgbClr val="E4F3F3"/>
          </a:solidFill>
          <a:ln/>
        </p:spPr>
      </p:sp>
      <p:sp>
        <p:nvSpPr>
          <p:cNvPr id="9" name="Shape 7"/>
          <p:cNvSpPr/>
          <p:nvPr/>
        </p:nvSpPr>
        <p:spPr>
          <a:xfrm>
            <a:off x="777240" y="3666344"/>
            <a:ext cx="548640" cy="548640"/>
          </a:xfrm>
          <a:prstGeom prst="ellipse">
            <a:avLst/>
          </a:prstGeom>
          <a:solidFill>
            <a:srgbClr val="1F8A93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777240" y="3666344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60" b="1" dirty="0">
                <a:solidFill>
                  <a:srgbClr val="FFFFFF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✓</a:t>
            </a:r>
            <a:endParaRPr lang="en-US" sz="1560" dirty="0"/>
          </a:p>
        </p:txBody>
      </p:sp>
      <p:sp>
        <p:nvSpPr>
          <p:cNvPr id="11" name="Text 9"/>
          <p:cNvSpPr txBox="1"/>
          <p:nvPr/>
        </p:nvSpPr>
        <p:spPr>
          <a:xfrm>
            <a:off x="1554480" y="3483464"/>
            <a:ext cx="9921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1F2937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ระบบสามารถอ้างอิงข้อมูลจริงจากชุดข้อมูลเดิมได้ครบถ้วนทุกรายการ ไม่มีข้อมูลตกหล่นจากการสุ่มเลือก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548640" y="4535024"/>
            <a:ext cx="11064240" cy="914400"/>
          </a:xfrm>
          <a:prstGeom prst="roundRect">
            <a:avLst>
              <a:gd name="adj" fmla="val 8000"/>
            </a:avLst>
          </a:prstGeom>
          <a:solidFill>
            <a:srgbClr val="E4F3F3"/>
          </a:solidFill>
          <a:ln/>
        </p:spPr>
      </p:sp>
      <p:sp>
        <p:nvSpPr>
          <p:cNvPr id="13" name="Shape 11"/>
          <p:cNvSpPr/>
          <p:nvPr/>
        </p:nvSpPr>
        <p:spPr>
          <a:xfrm>
            <a:off x="777240" y="4717904"/>
            <a:ext cx="548640" cy="548640"/>
          </a:xfrm>
          <a:prstGeom prst="ellipse">
            <a:avLst/>
          </a:prstGeom>
          <a:solidFill>
            <a:srgbClr val="1F8A93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777240" y="4717904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60" b="1" dirty="0">
                <a:solidFill>
                  <a:srgbClr val="FFFFFF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✓</a:t>
            </a:r>
            <a:endParaRPr lang="en-US" sz="1560" dirty="0"/>
          </a:p>
        </p:txBody>
      </p:sp>
      <p:sp>
        <p:nvSpPr>
          <p:cNvPr id="15" name="Text 13"/>
          <p:cNvSpPr txBox="1"/>
          <p:nvPr/>
        </p:nvSpPr>
        <p:spPr>
          <a:xfrm>
            <a:off x="1554480" y="4535024"/>
            <a:ext cx="9921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350" dirty="0" err="1">
                <a:solidFill>
                  <a:srgbClr val="1F2937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มี</a:t>
            </a:r>
            <a:r>
              <a:rPr lang="th-TH" sz="1350" dirty="0">
                <a:solidFill>
                  <a:srgbClr val="1F2937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ระบบต</a:t>
            </a:r>
            <a:r>
              <a:rPr lang="en-US" sz="1350" dirty="0" err="1">
                <a:solidFill>
                  <a:srgbClr val="1F2937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รวจสอบคุณภาพข้อมูลอัตโนมัติ</a:t>
            </a:r>
            <a:r>
              <a:rPr lang="en-US" sz="1350" dirty="0">
                <a:solidFill>
                  <a:srgbClr val="1F2937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 ช่วยลดความเสี่ยงจากข้อมูลที่ไม่สมเหตุสมผลก่อนนำไปใช้งานจริง รวมถึง Rule-Based Mode </a:t>
            </a:r>
            <a:r>
              <a:rPr lang="en-US" sz="1350" dirty="0" err="1">
                <a:solidFill>
                  <a:srgbClr val="1F2937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ที่</a:t>
            </a:r>
            <a:r>
              <a:rPr lang="th-TH" sz="1350" dirty="0">
                <a:solidFill>
                  <a:srgbClr val="1F2937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ช่วย</a:t>
            </a:r>
            <a:r>
              <a:rPr lang="en-US" sz="1350" dirty="0" err="1">
                <a:solidFill>
                  <a:srgbClr val="1F2937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ประหยัด</a:t>
            </a:r>
            <a:r>
              <a:rPr lang="en-US" sz="1350" dirty="0">
                <a:solidFill>
                  <a:srgbClr val="1F2937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 Token AI </a:t>
            </a:r>
            <a:r>
              <a:rPr lang="th-TH" sz="1350" dirty="0">
                <a:solidFill>
                  <a:srgbClr val="1F2937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แต่ต้องคง</a:t>
            </a:r>
            <a:r>
              <a:rPr lang="en-US" sz="1350" dirty="0" err="1">
                <a:solidFill>
                  <a:srgbClr val="1F2937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คุณภาพข้อมูลได้ตามเกณฑ์เดิม</a:t>
            </a:r>
            <a:endParaRPr lang="en-US" sz="1350" dirty="0"/>
          </a:p>
        </p:txBody>
      </p:sp>
      <p:sp>
        <p:nvSpPr>
          <p:cNvPr id="20" name="Text 18"/>
          <p:cNvSpPr txBox="1"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ผลลัพธ์และการประเมินระบบ</a:t>
            </a:r>
            <a:endParaRPr lang="en-US" sz="1000" dirty="0"/>
          </a:p>
        </p:txBody>
      </p:sp>
      <p:sp>
        <p:nvSpPr>
          <p:cNvPr id="21" name="Text 19"/>
          <p:cNvSpPr txBox="1"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29</a:t>
            </a:r>
            <a:endParaRPr lang="en-US" sz="10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0" name="Text 900"/>
          <p:cNvSpPr txBox="1"/>
          <p:nvPr/>
        </p:nvSpPr>
        <p:spPr>
          <a:xfrm>
            <a:off x="548640" y="320040"/>
            <a:ext cx="685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F8A93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06</a:t>
            </a:r>
            <a:endParaRPr lang="en-US" sz="1000" dirty="0"/>
          </a:p>
        </p:txBody>
      </p:sp>
      <p:sp>
        <p:nvSpPr>
          <p:cNvPr id="901" name="Text 901"/>
          <p:cNvSpPr txBox="1"/>
          <p:nvPr/>
        </p:nvSpPr>
        <p:spPr>
          <a:xfrm>
            <a:off x="1325880" y="384048"/>
            <a:ext cx="8366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spc="200" dirty="0">
                <a:solidFill>
                  <a:srgbClr val="6B7280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LIMITATIONS &amp; FUTURE WORK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0789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32A4D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ข้อจำกัดและแนวทางพัฒนาต่อ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5349240" cy="4251960"/>
          </a:xfrm>
          <a:prstGeom prst="roundRect">
            <a:avLst>
              <a:gd name="adj" fmla="val 1720"/>
            </a:avLst>
          </a:prstGeom>
          <a:solidFill>
            <a:srgbClr val="F5F7FA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22960" y="201168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32A4D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ข้อจำกัดปัจจุบัน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868680" y="2542032"/>
            <a:ext cx="91440" cy="91440"/>
          </a:xfrm>
          <a:prstGeom prst="ellipse">
            <a:avLst/>
          </a:prstGeom>
          <a:solidFill>
            <a:srgbClr val="6B7280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1143000" y="2377440"/>
            <a:ext cx="4617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F2937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ใช้ Google Sheets เป็นฐานข้อมูล ซึ่งมีข้อจำกัดด้านขนาดและความเร็วเมื่อข้อมูลมีปริมาณมาก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868680" y="3429000"/>
            <a:ext cx="91440" cy="91440"/>
          </a:xfrm>
          <a:prstGeom prst="ellipse">
            <a:avLst/>
          </a:prstGeom>
          <a:solidFill>
            <a:srgbClr val="6B7280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1143000" y="3264408"/>
            <a:ext cx="4617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F2937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การทำงานขึ้นอยู่กับ Gemini API ซึ่งมีข้อจำกัดด้านโควตา (Retry สูงสุด 6 ครั้ง) — Rule-Based Mode ช่วยลดผลกระทบนี้ได้บางส่วน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868680" y="4315968"/>
            <a:ext cx="91440" cy="91440"/>
          </a:xfrm>
          <a:prstGeom prst="ellipse">
            <a:avLst/>
          </a:prstGeom>
          <a:solidFill>
            <a:srgbClr val="6B7280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1143000" y="4151376"/>
            <a:ext cx="4617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F2937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จำกัดจำนวนแถวสูงสุดต่อคำขอไว้ที่ 300 แถว เพื่อป้องกันคำตอบ AI </a:t>
            </a:r>
            <a:r>
              <a:rPr lang="en-US" sz="1150" dirty="0" err="1">
                <a:solidFill>
                  <a:srgbClr val="1F2937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ถูกตัดก่อนครบ</a:t>
            </a:r>
            <a:r>
              <a:rPr lang="en-US" sz="1150" dirty="0">
                <a:solidFill>
                  <a:srgbClr val="1F2937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 Token </a:t>
            </a:r>
            <a:r>
              <a:rPr lang="th-TH" sz="1150" dirty="0">
                <a:solidFill>
                  <a:srgbClr val="1F2937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ของ </a:t>
            </a:r>
            <a:r>
              <a:rPr lang="en-US" sz="1150" dirty="0">
                <a:solidFill>
                  <a:srgbClr val="1F2937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Gemini API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868680" y="5202936"/>
            <a:ext cx="91440" cy="91440"/>
          </a:xfrm>
          <a:prstGeom prst="ellipse">
            <a:avLst/>
          </a:prstGeom>
          <a:solidFill>
            <a:srgbClr val="6B7280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1143000" y="5038344"/>
            <a:ext cx="4617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F2937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ยังไม่มีชุดทดสอบอัตโนมัติ (Automated Test Suite) ครอบคลุมทั้งระบบ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6263640" y="1783080"/>
            <a:ext cx="5349240" cy="4251960"/>
          </a:xfrm>
          <a:prstGeom prst="roundRect">
            <a:avLst>
              <a:gd name="adj" fmla="val 1720"/>
            </a:avLst>
          </a:prstGeom>
          <a:solidFill>
            <a:srgbClr val="132A4D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6537960" y="201168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2A93B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แนวทางพัฒนาต่อ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6583680" y="2542032"/>
            <a:ext cx="91440" cy="91440"/>
          </a:xfrm>
          <a:prstGeom prst="ellipse">
            <a:avLst/>
          </a:prstGeom>
          <a:solidFill>
            <a:srgbClr val="F2A93B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6858000" y="2377440"/>
            <a:ext cx="4617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เชื่อมต่อกับฐานข้อมูลเชิงสัมพันธ์จริง เช่น MySQL หรือ PostgreSQL เพื่อรองรับข้อมูลปริมาณมาก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6583680" y="3429000"/>
            <a:ext cx="91440" cy="91440"/>
          </a:xfrm>
          <a:prstGeom prst="ellipse">
            <a:avLst/>
          </a:prstGeom>
          <a:solidFill>
            <a:srgbClr val="F2A93B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6858000" y="3264408"/>
            <a:ext cx="4617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เพิ่มการรองรับ AI Model อื่นเป็นทางเลือกสำรอง กรณี Gemini API ไม่พร้อมใช้งาน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6583680" y="4315968"/>
            <a:ext cx="91440" cy="91440"/>
          </a:xfrm>
          <a:prstGeom prst="ellipse">
            <a:avLst/>
          </a:prstGeom>
          <a:solidFill>
            <a:srgbClr val="F2A93B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6858000" y="4151376"/>
            <a:ext cx="4617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เพิ่มความยืดหยุ่นของจำนวนแถวต่อคำขอ ด้วยการแบ่งคำขอเป็นชุดย่อยอัตโนมัติ (Batching)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6583680" y="5202936"/>
            <a:ext cx="91440" cy="91440"/>
          </a:xfrm>
          <a:prstGeom prst="ellipse">
            <a:avLst/>
          </a:prstGeom>
          <a:solidFill>
            <a:srgbClr val="F2A93B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6858000" y="5038344"/>
            <a:ext cx="4617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พัฒนาชุดทดสอบอัตโนมัติ เพื่อความมั่นใจในคุณภาพของระบบในระยะยาว</a:t>
            </a:r>
            <a:endParaRPr lang="en-US" sz="1150" dirty="0"/>
          </a:p>
        </p:txBody>
      </p:sp>
      <p:sp>
        <p:nvSpPr>
          <p:cNvPr id="24" name="Text 22"/>
          <p:cNvSpPr txBox="1"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ข้อจำกัดและแนวทางพัฒนาต่อ</a:t>
            </a:r>
            <a:endParaRPr lang="en-US" sz="1000" dirty="0"/>
          </a:p>
        </p:txBody>
      </p:sp>
      <p:sp>
        <p:nvSpPr>
          <p:cNvPr id="25" name="Text 23"/>
          <p:cNvSpPr txBox="1"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30</a:t>
            </a:r>
            <a:endParaRPr lang="en-US" sz="10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0" name="Text 900"/>
          <p:cNvSpPr txBox="1"/>
          <p:nvPr/>
        </p:nvSpPr>
        <p:spPr>
          <a:xfrm>
            <a:off x="548640" y="320040"/>
            <a:ext cx="685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F8A93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06</a:t>
            </a:r>
            <a:endParaRPr lang="en-US" sz="1000" dirty="0"/>
          </a:p>
        </p:txBody>
      </p:sp>
      <p:sp>
        <p:nvSpPr>
          <p:cNvPr id="901" name="Text 901"/>
          <p:cNvSpPr txBox="1"/>
          <p:nvPr/>
        </p:nvSpPr>
        <p:spPr>
          <a:xfrm>
            <a:off x="1325880" y="384048"/>
            <a:ext cx="8366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spc="200" dirty="0">
                <a:solidFill>
                  <a:srgbClr val="6B7280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SUMMARY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0789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32A4D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สรุปโครงงาน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828800"/>
            <a:ext cx="110642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500" dirty="0">
                <a:solidFill>
                  <a:srgbClr val="1F2937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Intelligent Test Data Simulator </a:t>
            </a:r>
            <a:r>
              <a:rPr lang="en-US" sz="1500" dirty="0" err="1">
                <a:solidFill>
                  <a:srgbClr val="1F2937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เป็นเว็บแอปพลิเคชันที่นำปัญญาประดิษฐ์</a:t>
            </a:r>
            <a:r>
              <a:rPr lang="en-US" sz="1500" dirty="0">
                <a:solidFill>
                  <a:srgbClr val="1F2937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 (AI) </a:t>
            </a:r>
            <a:r>
              <a:rPr lang="en-US" sz="1500" dirty="0" err="1">
                <a:solidFill>
                  <a:srgbClr val="1F2937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มาช่วยแก้ปัญหาการเตรียมข้อมูลทดสอบ</a:t>
            </a:r>
            <a:r>
              <a:rPr lang="en-US" sz="1500" dirty="0">
                <a:solidFill>
                  <a:srgbClr val="1F2937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 ซึ่งเดิมต้องใช้เวลาและแรงงานมากหากทำด้วยมือ โดยระบบสามารถสร้างข้อมูลตามโครงสร้างและเงื่อนไขที่ผู้ใช้กำหนดได้อย่างแม่นยำ พร้อมตรวจสอบคุณภาพข้อมูลและรักษาความสัมพันธ์ของข้อมูลระหว่างตารางโดยอัตโนมัติ รวมถึง Rule-Based Mode ที่ช่วยประหยัดการใช้ Token AI (Gemini API)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3383280"/>
            <a:ext cx="3383280" cy="502920"/>
          </a:xfrm>
          <a:prstGeom prst="roundRect">
            <a:avLst>
              <a:gd name="adj" fmla="val 50909"/>
            </a:avLst>
          </a:prstGeom>
          <a:solidFill>
            <a:srgbClr val="1F8A93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548640" y="3383280"/>
            <a:ext cx="3383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สร้างข้อมูลด้วย AI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4160520" y="3383280"/>
            <a:ext cx="4023360" cy="502920"/>
          </a:xfrm>
          <a:prstGeom prst="roundRect">
            <a:avLst>
              <a:gd name="adj" fmla="val 50909"/>
            </a:avLst>
          </a:prstGeom>
          <a:solidFill>
            <a:srgbClr val="1F8A93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4160520" y="3383280"/>
            <a:ext cx="4023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บังคับโครงสร้างตาม DDL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8281980" y="3383280"/>
            <a:ext cx="3330900" cy="502920"/>
          </a:xfrm>
          <a:prstGeom prst="roundRect">
            <a:avLst>
              <a:gd name="adj" fmla="val 50909"/>
            </a:avLst>
          </a:prstGeom>
          <a:solidFill>
            <a:srgbClr val="1F8A93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8281980" y="3383280"/>
            <a:ext cx="33309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ประหยัด Token (Rule-Based)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2644140" y="4069080"/>
            <a:ext cx="3223260" cy="502920"/>
          </a:xfrm>
          <a:prstGeom prst="roundRect">
            <a:avLst>
              <a:gd name="adj" fmla="val 50909"/>
            </a:avLst>
          </a:prstGeom>
          <a:solidFill>
            <a:srgbClr val="1F8A93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2644140" y="4069080"/>
            <a:ext cx="32232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อ้างอิงข้อมูลจริง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6096000" y="4069080"/>
            <a:ext cx="3543300" cy="502920"/>
          </a:xfrm>
          <a:prstGeom prst="roundRect">
            <a:avLst>
              <a:gd name="adj" fmla="val 50909"/>
            </a:avLst>
          </a:prstGeom>
          <a:solidFill>
            <a:srgbClr val="1F8A93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6096000" y="4069080"/>
            <a:ext cx="35433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ตรวจคุณภาพอัตโนมัติ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548640" y="4754880"/>
            <a:ext cx="11064240" cy="1371600"/>
          </a:xfrm>
          <a:prstGeom prst="roundRect">
            <a:avLst>
              <a:gd name="adj" fmla="val 5333"/>
            </a:avLst>
          </a:prstGeom>
          <a:solidFill>
            <a:srgbClr val="F5F7FA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822960" y="4892040"/>
            <a:ext cx="10515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300" i="1" dirty="0">
                <a:solidFill>
                  <a:srgbClr val="132A4D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โครงงานนี้สะท้อนกระบวนการพัฒนาซอฟต์แวร์แบบครบวงจร ตั้งแต่การออกแบบ พัฒนา ทดสอบ จนถึงการตรวจสอบและแก้ไขปัญหา</a:t>
            </a:r>
            <a:endParaRPr lang="en-US" sz="13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300" i="1" dirty="0">
                <a:solidFill>
                  <a:srgbClr val="132A4D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อย่างเป็นระบบ ด้วยหลักฐานการทำงานจริงตลอดกระบวนการพัฒนา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สรุปโครงงาน</a:t>
            </a:r>
            <a:endParaRPr lang="en-US" sz="1000" dirty="0"/>
          </a:p>
        </p:txBody>
      </p:sp>
      <p:sp>
        <p:nvSpPr>
          <p:cNvPr id="18" name="Text 16"/>
          <p:cNvSpPr txBox="1"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31</a:t>
            </a:r>
            <a:endParaRPr lang="en-US" sz="10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132A4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-2286000"/>
            <a:ext cx="5486400" cy="5486400"/>
          </a:xfrm>
          <a:prstGeom prst="ellipse">
            <a:avLst/>
          </a:prstGeom>
          <a:solidFill>
            <a:srgbClr val="0C1D38"/>
          </a:solidFill>
          <a:ln/>
        </p:spPr>
      </p:sp>
      <p:sp>
        <p:nvSpPr>
          <p:cNvPr id="3" name="Shape 1"/>
          <p:cNvSpPr/>
          <p:nvPr/>
        </p:nvSpPr>
        <p:spPr>
          <a:xfrm>
            <a:off x="9601200" y="3657600"/>
            <a:ext cx="3657600" cy="3657600"/>
          </a:xfrm>
          <a:prstGeom prst="ellipse">
            <a:avLst/>
          </a:prstGeom>
          <a:solidFill>
            <a:srgbClr val="1F8A93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0" y="2286000"/>
            <a:ext cx="12191695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600" b="1" dirty="0">
                <a:solidFill>
                  <a:srgbClr val="FFFFFF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ขอบคุณครับ</a:t>
            </a:r>
            <a:endParaRPr lang="en-US" sz="4600" dirty="0"/>
          </a:p>
        </p:txBody>
      </p:sp>
      <p:sp>
        <p:nvSpPr>
          <p:cNvPr id="5" name="Text 3"/>
          <p:cNvSpPr txBox="1"/>
          <p:nvPr/>
        </p:nvSpPr>
        <p:spPr>
          <a:xfrm>
            <a:off x="0" y="3246120"/>
            <a:ext cx="1219169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F2A93B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คำถามและข้อเสนอแนะ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5090008" y="3977640"/>
            <a:ext cx="2011680" cy="0"/>
          </a:xfrm>
          <a:prstGeom prst="line">
            <a:avLst/>
          </a:prstGeom>
          <a:noFill/>
          <a:ln w="31750">
            <a:solidFill>
              <a:srgbClr val="1F8A93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0" y="4206240"/>
            <a:ext cx="121916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200" dirty="0">
                <a:solidFill>
                  <a:srgbClr val="8FA3C0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|  Intelligent Test Data Simulator  | 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ธีมของ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2000</TotalTime>
  <Words>3262</Words>
  <Application>Microsoft Office PowerPoint</Application>
  <PresentationFormat>แบบจอกว้าง</PresentationFormat>
  <Paragraphs>469</Paragraphs>
  <Slides>30</Slides>
  <Notes>26</Notes>
  <HiddenSlides>0</HiddenSlides>
  <MMClips>0</MMClips>
  <ScaleCrop>false</ScaleCrop>
  <HeadingPairs>
    <vt:vector size="6" baseType="variant">
      <vt:variant>
        <vt:lpstr>ฟอนต์ที่ถูกใช้</vt:lpstr>
      </vt:variant>
      <vt:variant>
        <vt:i4>3</vt:i4>
      </vt:variant>
      <vt:variant>
        <vt:lpstr>ธีม</vt:lpstr>
      </vt:variant>
      <vt:variant>
        <vt:i4>1</vt:i4>
      </vt:variant>
      <vt:variant>
        <vt:lpstr>ชื่อเรื่องสไลด์</vt:lpstr>
      </vt:variant>
      <vt:variant>
        <vt:i4>30</vt:i4>
      </vt:variant>
    </vt:vector>
  </HeadingPairs>
  <TitlesOfParts>
    <vt:vector size="34" baseType="lpstr">
      <vt:lpstr>Arial</vt:lpstr>
      <vt:lpstr>Leelawadee</vt:lpstr>
      <vt:lpstr>Leelawadee UI</vt:lpstr>
      <vt:lpstr>Office Theme</vt:lpstr>
      <vt:lpstr>งานนำเสนอ PowerPoint</vt:lpstr>
      <vt:lpstr>งานนำเสนอ PowerPoint</vt:lpstr>
      <vt:lpstr>งานนำเสนอ PowerPoint</vt:lpstr>
      <vt:lpstr>งานนำเสนอ PowerPoint</vt:lpstr>
      <vt:lpstr>งานนำเสนอ PowerPoint</vt:lpstr>
      <vt:lpstr>งานนำเสนอ PowerPoint</vt:lpstr>
      <vt:lpstr>งานนำเสนอ PowerPoint</vt:lpstr>
      <vt:lpstr>งานนำเสนอ PowerPoint</vt:lpstr>
      <vt:lpstr>งานนำเสนอ PowerPoint</vt:lpstr>
      <vt:lpstr>งานนำเสนอ PowerPoint</vt:lpstr>
      <vt:lpstr>งานนำเสนอ PowerPoint</vt:lpstr>
      <vt:lpstr>งานนำเสนอ PowerPoint</vt:lpstr>
      <vt:lpstr>งานนำเสนอ PowerPoint</vt:lpstr>
      <vt:lpstr>งานนำเสนอ PowerPoint</vt:lpstr>
      <vt:lpstr>งานนำเสนอ PowerPoint</vt:lpstr>
      <vt:lpstr>งานนำเสนอ PowerPoint</vt:lpstr>
      <vt:lpstr>งานนำเสนอ PowerPoint</vt:lpstr>
      <vt:lpstr>งานนำเสนอ PowerPoint</vt:lpstr>
      <vt:lpstr>งานนำเสนอ PowerPoint</vt:lpstr>
      <vt:lpstr>งานนำเสนอ PowerPoint</vt:lpstr>
      <vt:lpstr>งานนำเสนอ PowerPoint</vt:lpstr>
      <vt:lpstr>งานนำเสนอ PowerPoint</vt:lpstr>
      <vt:lpstr>งานนำเสนอ PowerPoint</vt:lpstr>
      <vt:lpstr>งานนำเสนอ PowerPoint</vt:lpstr>
      <vt:lpstr>งานนำเสนอ PowerPoint</vt:lpstr>
      <vt:lpstr>งานนำเสนอ PowerPoint</vt:lpstr>
      <vt:lpstr>งานนำเสนอ PowerPoint</vt:lpstr>
      <vt:lpstr>งานนำเสนอ PowerPoint</vt:lpstr>
      <vt:lpstr>งานนำเสนอ PowerPoint</vt:lpstr>
      <vt:lpstr>งานนำเสนอ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Jirapat Jiramonthon</cp:lastModifiedBy>
  <cp:revision>7</cp:revision>
  <dcterms:created xsi:type="dcterms:W3CDTF">2026-08-31T13:54:53Z</dcterms:created>
  <dcterms:modified xsi:type="dcterms:W3CDTF">2026-09-15T16:49:29Z</dcterms:modified>
</cp:coreProperties>
</file>